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is a hands-on session: about twenty minutes of me talking, then five short tasks you do on your own board, with breaks in between where I explain what just happened.</a:t>
            </a:r>
          </a:p>
          <a:p/>
          <a:p>
            <a:r>
              <a:t>You do not need any electronics background. If you can install a program and edit a line of text, you can do everything today. Helpers are the people with [stickers / name tags]; if you are stuck for more than two minutes, wave.</a:t>
            </a:r>
          </a:p>
          <a:p/>
          <a:p>
            <a:r>
              <a:t>While I go through the first slides, keep installing the software from the setup guide if you have not finished. The link on the slide has the setup guide, all the code, and a troubleshooting page.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plan. The first twenty minutes are background: what is actually on the board, how the code gets onto it, and what is running underneath your program. I am going deeper than a typical intro because these are the things that explain the errors you will hit later.</a:t>
            </a:r>
          </a:p>
          <a:p/>
          <a:p>
            <a:r>
              <a:t>Then five tasks of about fifteen minutes each. Every task has one thing you can see that tells you it worked: an LED, a line of text, a Wi-Fi network on your phone. When you see it, you are done and can try the extras.</a:t>
            </a:r>
          </a:p>
          <a:p/>
          <a:p>
            <a:r>
              <a:t>Every task is a complete sketch that works as-is. If you fall behind, open the next one; you will not miss anything that later tasks depend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anything else, we need the toolchain working on your laptop. Arduino IDE 2, then the ESP32 board package from Espressif. The URL goes into Preferences under Additional boards manager URLs; after that, Boards Manager lets you install "esp32 by Espressif Systems". It downloads about three hundred megabytes of compilers and libraries, so it takes a few minutes. That is normal.</a:t>
            </a:r>
          </a:p>
          <a:p/>
          <a:p>
            <a:r>
              <a:t>Then select the board: ESP32S3 Dev Module. Your board has two USB-C connectors, labelled UART and USB on the silkscreen. Use UART. That one goes through a USB-to-serial chip, shows up as a normal port, and everything in the IDE just works. The USB one is the chip's own USB port: uploads work through it too, but the Serial Monitor stays empty unless you change a setting, and that confuses everyone. Under Tools, Port, you should see a new entry, usbserial or SLAB on a Mac, COM-something on Windows.</a:t>
            </a:r>
          </a:p>
          <a:p/>
          <a:p>
            <a:r>
              <a:t>The number one problem at this point is the cable. A lot of USB cables are charge-only and have no data wires. The board lights up but nothing appears under Port. Second most common is a missing driver for the serial chip. Both are five-minute fixes if you raise your hand now, and a twenty-minute delay if you wait until Task 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microcontroller is a full computer on one chip: processor, memory, storage, all the peripherals. The numbers look tiny next to a laptop, but the difference in kind matters more than the difference in size.</a:t>
            </a:r>
          </a:p>
          <a:p/>
          <a:p>
            <a:r>
              <a:t>There is no operating system in the sense you are used to. There is a small real-time scheduler underneath, which we will get to, but you do not log in, there are no apps, nothing else is running. Your program starts about three hundred milliseconds after power arrives and runs until power is removed. Unplug it, plug it back in, same program starts again.</a:t>
            </a:r>
          </a:p>
          <a:p/>
          <a:p>
            <a:r>
              <a:t>And instead of a screen and keyboard, it talks to pins. A pin is a wire you control from code: put three point three volts on it, or read the voltage that is on it. LEDs, buttons, sensors, motors all reduce to that. The ESP32 adds a Wi-Fi and Bluetooth radio on the same chip, which is the reason it is so popular.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block list for the chip on your board, the ESP32-S3. Two 32-bit Xtensa LX7 cores at up to 240 megahertz, with vector instructions that make it usable for small neural networks, which is why it shows up in camera and voice products. Half a megabyte of SRAM on the chip, of which your program gets roughly 300 kilobytes once the Wi-Fi stack has taken its share, plus eight megabytes of PSRAM in the module on the R8 variant for big buffers. The program itself lives in an eight or sixteen megabyte flash chip inside the module and is executed straight from there through a cache.</a:t>
            </a:r>
          </a:p>
          <a:p/>
          <a:p>
            <a:r>
              <a:t>Then the reason people buy it: a 2.4 gigahertz Wi-Fi radio and Bluetooth Low Energy on the same die. Note it is LE only; the original ESP32 also did Bluetooth Classic, the S3 does not. And a native USB port, which the original did not have: it can be a serial device, a debugger, or pretend to be a keyboard.</a:t>
            </a:r>
          </a:p>
          <a:p/>
          <a:p>
            <a:r>
              <a:t>Peripherals: 45 general purpose pins, two analog to digital converters, fourteen touch pads, PWM on eight channels, all the usual serial buses, plus interfaces for cameras and displays. We will use the touch pads and the internal temperature sensor today because they need no extra parts.</a:t>
            </a:r>
          </a:p>
          <a:p/>
          <a:p>
            <a:r>
              <a:t>Two notes. The original ESP32 is what most tutorials online use; the code today runs on it with three lines changed. And Arduino on ESP32 is not a separate world: it is a thin layer on Espressif's own framework, ESP-IDF version 5.5. When you outgrow Arduino you keep everything you learned.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words that get used interchangeably. The chip is the silicon. On its own it is useless to us: it needs a crystal, flash memory, an antenna, and radio certification. Espressif sells all that soldered together under a metal shield as a module; on your board it is the ESP32-S3-WROOM-1, the rectangular can. The suffix, N8R8 or N16R8, means eight or sixteen megabytes of flash and eight of PSRAM. If you ever design your own circuit board, you buy the module, not the chip.</a:t>
            </a:r>
          </a:p>
          <a:p/>
          <a:p>
            <a:r>
              <a:t>A development board wraps the module with everything you need to program it from a laptop: USB connectors, a USB-to-serial converter chip, a voltage regulator that turns USB's five volts into the three point three the chip needs, a reset button, a button on GPIO 0, an LED, and pin headers so you can plug wires in.</a:t>
            </a:r>
          </a:p>
          <a:p/>
          <a:p>
            <a:r>
              <a:t>Hold your board and find the module and the small USB-to-serial chip between the two USB-C connectors. That chip is what shows up as the port on your laptop when you use the UART connector. The other connector goes straight into the chip's own USB port.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ESP32-S3-DevKitC-1, Espressif's own board for this chip. Forty-four pins, two USB-C connectors, two buttons, one LED.</a:t>
            </a:r>
          </a:p>
          <a:p/>
          <a:p>
            <a:r>
              <a:t>The module is in the middle, with the antenna at the top edge. Keep your fingers off the antenna when testing Wi-Fi range. At the bottom, two USB-C connectors, labelled on the board. The one labelled UART goes through a CP2102N serial chip, and that is the one we use all day. The one labelled USB goes straight into the chip; it is great for debugging later, but with the default IDE settings the Serial Monitor stays empty on it, and people spend twenty minutes wondering why. If your board shows up as usbmodem on a Mac, you are on the wrong one.</a:t>
            </a:r>
          </a:p>
          <a:p/>
          <a:p>
            <a:r>
              <a:t>Two buttons: RST resets the chip, BOOT connects GPIO 0 to ground. We use BOOT as an ordinary input in Task 2 and to force programming mode when uploads fail.</a:t>
            </a:r>
          </a:p>
          <a:p/>
          <a:p>
            <a:r>
              <a:t>The LED is not a plain LED. It is an addressable RGB LED, the same kind as in LED strips, driven by a single data pin. On the original board that pin is 48, on the v1.1 revision it is 38, and you cannot tell which you have by looking. Our config.h says 48; if nothing lights up in Task 1, change it to 38. The red LED near the connectors is just power.</a:t>
            </a:r>
          </a:p>
          <a:p/>
          <a:p>
            <a:r>
              <a:t>Voltages: everything is 3.3 volts. 3V3 is a regulated output you can power sensors from; 5V is the USB input. Never put five volts on a GPIO pin. A pin drives about twelve milliamps, which is an LED, not a motor.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will save you the most time later, so it is worth two minutes. Not every pin with a number on it is free.</a:t>
            </a:r>
          </a:p>
          <a:p/>
          <a:p>
            <a:r>
              <a:t>Twenty-six to thirty-two are the flash bus inside the module; they are not on your headers, but you will see the numbers in code and error messages. Thirty-five, thirty-six and thirty-seven are on the header, but on boards with eight megabytes of PSRAM, which is what most DevKitC-1s are, they are the PSRAM bus. Drive them and memory gets corrupted in interesting ways. Avoid them.</a:t>
            </a:r>
          </a:p>
          <a:p/>
          <a:p>
            <a:r>
              <a:t>Zero, three, forty-five and forty-six are strapping pins. The chip reads them at the instant of reset to decide how to boot; once running they are ordinary pins, which is why the BOOT button can sit on GPIO 0. But wire something that holds forty-five high at reset and the chip configures its flash for one point eight volts and never boots. People lose afternoons to that.</a:t>
            </a:r>
          </a:p>
          <a:p/>
          <a:p>
            <a:r>
              <a:t>Nineteen and twenty are the USB data lines for the second connector. Forty-three and forty-four are your serial console. Thirty-eight or forty-eight is the LED.</a:t>
            </a:r>
          </a:p>
          <a:p/>
          <a:p>
            <a:r>
              <a:t>The ADC2 note: the second analog converter is shared with the Wi-Fi driver, so analog reads on pins eleven to twenty are unreliable once Wi-Fi is on. Use one to ten for analog.</a:t>
            </a:r>
          </a:p>
          <a:p/>
          <a:p>
            <a:r>
              <a:t>The last row is the list to reach for. It is on the cheat sheet. One nice thing about this chip compared with the original ESP32: there are no input-only pins, every pin can do both and has pull-up resistors.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are behind schedule, this slide can be skipped; the same content is in docs/CHEATSHEET.md.</a:t>
            </a:r>
          </a:p>
          <a:p/>
          <a:p>
            <a:r>
              <a:t>A quick word about power, because it explains one of the most confusing errors you can hit. The chip runs at three point three volts, and the board makes that from USB's five volts with a simple linear regulator.</a:t>
            </a:r>
          </a:p>
          <a:p/>
          <a:p>
            <a:r>
              <a:t>When Wi-Fi transmits, the current draw spikes past three hundred milliamps for a few milliseconds. A weak USB port, an unpowered hub, or one of those very thin cables cannot deliver that, the voltage sags, and the chip's brownout detector resets it. In the Serial Monitor you see "Brownout detector was triggered" and the board reboots in a loop. It looks like a software bug. It is a power problem: plug straight into the laptop with a short cable.</a:t>
            </a:r>
          </a:p>
          <a:p/>
          <a:p>
            <a:r>
              <a:t>The rest of the table is why people use this chip for battery projects. Active it draws tens of milliamps. In deep sleep, with only the real-time clock running, seven or eight microamps. Sixteen kilobytes of RTC memory survive that sleep, so a sensor can wake every ten minutes, take a reading, send it, and go back to sleep for months on a couple of AA cells. We will not do that today, but it is in the challenges.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actually happens when you press Upload. First, compile: the IDE runs a GCC cross-compiler for the Xtensa architecture over your sketch, the Arduino core, and the parts of ESP-IDF you use, and links it into one binary of roughly one megabyte. That is the checkmark button, and it happens entirely on your laptop.</a:t>
            </a:r>
          </a:p>
          <a:p/>
          <a:p>
            <a:r>
              <a:t>Second, flash: a Python tool called esptool talks to the chip over the serial link and writes that binary into the flash memory on the module, at nine hundred and twenty one thousand baud, so about ten seconds. Third, esptool resets the chip. The ROM bootloader inside the chip runs, hands over to a second-stage bootloader in flash, which reads the partition table and starts your app.</a:t>
            </a:r>
          </a:p>
          <a:p/>
          <a:p>
            <a:r>
              <a:t>The bar at the bottom is the partition table the IDE uses by default. It lays out four megabytes; your board has eight, and you can choose a bigger scheme under Tools when a project needs it. Two slots for the app, so an over-the-air update can install into the spare slot while the current one runs. A small NVS area, a key-value store you can use from Arduino with Preferences.h to remember settings across power cycles. And a filesystem region.</a:t>
            </a:r>
          </a:p>
          <a:p/>
          <a:p>
            <a:r>
              <a:t>Practical note: the first compile of the evening builds the entire core and takes a minute or three. After that it only rebuilds what changed.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mechanism behind the single most common upload failure. At the moment of reset the chip looks at GPIO 0. If it is high, the normal case because of an internal pull-up, the chip boots your program from flash. If it is low, the chip instead sits and waits for esptool to talk to it over the serial port. That is download mode.</a:t>
            </a:r>
          </a:p>
          <a:p/>
          <a:p>
            <a:r>
              <a:t>On a dev board, two of the serial chip's control lines, DTR and RTS, are wired through a pair of transistors to GPIO 0 and to the reset pin, which the button calls RST and the chip calls EN or CHIP_PU. esptool toggles them in a specific order, shown on the right: pull EN low to reset, pull GPIO 0 low, release EN so the chip boots and sees GPIO 0 low, then release GPIO 0. A small capacitor on EN slows its rise so the timing works out.</a:t>
            </a:r>
          </a:p>
          <a:p/>
          <a:p>
            <a:r>
              <a:t>On some boards, with some serial drivers, the timing is off and the chip boots normally instead. esptool prints Connecting with dots and underscores, and eventually "Wrong boot mode detected". The fix is to be the transistor yourself: hold the BOOT button, which shorts GPIO 0 to ground, while esptool is connecting, and let go when you see "Writing at". Some boards need this every single time. It is a quirk of that board's reset circuit, not a fault in your code or your laptop.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are behind schedule, this slide can be skipped; the same content is in docs/CHEATSHEET.md.</a:t>
            </a:r>
          </a:p>
          <a:p/>
          <a:p>
            <a:r>
              <a:t>People say Arduino has no operating system. On the ESP32 that is not quite true, and knowing what is there explains a lot of behaviour.</a:t>
            </a:r>
          </a:p>
          <a:p/>
          <a:p>
            <a:r>
              <a:t>Underneath is FreeRTOS, a small real-time scheduler, with a one millisecond tick. Your setup and loop are not special: they run inside one FreeRTOS task called loopTask, created at boot with an eight kilobyte stack and pinned to core 1. Meanwhile core 0 runs the Wi-Fi driver, the TCP/IP stack, and Bluetooth. This is why Wi-Fi stays connected while your loop is doing something slow: the radio is being serviced on the other core.</a:t>
            </a:r>
          </a:p>
          <a:p/>
          <a:p>
            <a:r>
              <a:t>Two consequences. delay does not busy-wait; it tells the scheduler to run something else for that many milliseconds. And millis comes from a 64-bit hardware timer truncated to 32 bits, so it wraps after about 49 days; the subtraction pattern we will use handles that correctly.</a:t>
            </a:r>
          </a:p>
          <a:p/>
          <a:p>
            <a:r>
              <a:t>Two errors this explains. If your loop spins in a tight while loop for five seconds without ever yielding, a watchdog decides the core is stuck and resets the chip: "Task watchdog got triggered". And if you declare a large array as a local variable, say a four kilobyte buffer, you overflow the eight kilobyte stack and get a Guru Meditation Error mentioning the stack canary. Make big buffers static or global.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sketch has this shape. setup runs once after the bootloader hands control to your program. loop is called, returns, and is called again, for as long as there is power.</a:t>
            </a:r>
          </a:p>
          <a:p/>
          <a:p>
            <a:r>
              <a:t>The language is C++. That sounds intimidating but you will use about ten functions today, and they are all on the one-page cheat sheet in the repo.</a:t>
            </a:r>
          </a:p>
          <a:p/>
          <a:p>
            <a:r>
              <a:t>There is no main function because the framework provides it: it starts the scheduler, creates the task we just talked about, and that task calls setup and then loop forever.</a:t>
            </a:r>
          </a:p>
          <a:p/>
          <a:p>
            <a:r>
              <a:t>One design decision in the repo: pin numbers and your board's name live in a small file called config.h next to each sketch. If your board's LED is on 38 instead of 48, you change one line there and every task works. The small setLed function at the bottom is the only place that knows what kind of LED the board has.</a:t>
            </a:r>
          </a:p>
          <a:p/>
          <a:p>
            <a:r>
              <a:t>And a rule of the Arduino IDE that trips people up: the sketch file must sit in a folder with the same name. That is why the repo has 01_blink slash 01_blink.ino.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one. Open the first sketch, check the board and port, and click Upload. The first compile takes a minute or two. When the LED starts blinking, the whole chain works: compiler, cable, driver, serial chip, bootloader, board. That is genuinely the hardest part of the day and it is now behind you.</a:t>
            </a:r>
          </a:p>
          <a:p/>
          <a:p>
            <a:r>
              <a:t>Then make a change: set BLINK_MS to one hundred and upload again. Then two thousand. You are looking for the LED to do what you told it. Also open the Serial Monitor at one hundred fifteen thousand two hundred baud and check the start-up line appears.</a:t>
            </a:r>
          </a:p>
          <a:p/>
          <a:p>
            <a:r>
              <a:t>If upload succeeded but nothing lights, you have the v1.1 revision of the board: open config.h, change LED_PIN from 48 to 38, upload again. If you are done early, the SOS and heartbeat variations are good practice, and since it is an RGB LED you can give it a colour: rgbLedWrite with red, green, blue values. Fifteen minutes.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are behind schedule, this slide can be skipped; the same content is in docs/CHEATSHEET.md.</a:t>
            </a:r>
          </a:p>
          <a:p/>
          <a:p>
            <a:r>
              <a:t>Let's name what Task 1 did, one level deeper than usual, and explain why the LED on this board needs a different function.</a:t>
            </a:r>
          </a:p>
          <a:p/>
          <a:p>
            <a:r>
              <a:t>For a plain LED, pinMode OUTPUT does two things: it enables the output driver for that pad, and it routes the plain GPIO signal to it through something called the GPIO matrix. The matrix is a crossbar between peripherals and pads, and it is why the ESP32 has almost no fixed-function pins: any of the sixteen PWM channels, any UART, can be routed to almost any pin. That is different from an Arduino Uno, where PWM only works on marked pins.</a:t>
            </a:r>
          </a:p>
          <a:p/>
          <a:p>
            <a:r>
              <a:t>digitalWrite sets or clears one bit in a register. It takes about a hundred nanoseconds. HIGH means the pin is driven to three point three volts, LOW to zero volts.</a:t>
            </a:r>
          </a:p>
          <a:p/>
          <a:p>
            <a:r>
              <a:t>The LED on your board is different. It is a WS2812, the kind used in LED strips: three LEDs and a tiny controller chip in one package, with a single data input. To set a colour you send it twenty-four bits, green, red, blue, eight each, where each bit is a pulse of point four or point eight microseconds at eight hundred kilohertz. That is too fast and too precise to bit-bang with digitalWrite, so rgbLedWrite hands the waveform to a peripheral called RMT, which plays it from hardware while your code moves on. Same function drives a strip of a hundred of them.</a:t>
            </a:r>
          </a:p>
          <a:p/>
          <a:p>
            <a:r>
              <a:t>If you connect your own plain LED to a pin, it needs a resistor, two hundred twenty to three hundred thirty ohms, or you will cook the LED and stress the pin.</a:t>
            </a:r>
          </a:p>
          <a:p/>
          <a:p>
            <a:r>
              <a:t>The table is the same story for the functions you will use in the next task.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two adds the two things every real project needs: a way to see what the chip is thinking, and a way to tell it something.</a:t>
            </a:r>
          </a:p>
          <a:p/>
          <a:p>
            <a:r>
              <a:t>Upload the sketch and open the Serial Monitor at one hundred fifteen thousand two hundred. Once a second you get a status line: uptime, the chip's internal temperature, a touch reading, the button state, and the LED state.</a:t>
            </a:r>
          </a:p>
          <a:p/>
          <a:p>
            <a:r>
              <a:t>Press BOOT. You should see "EVENT button pressed" and the LED toggles between blinking and off. Touch the header pin labelled four with a finger and watch the touch value jump up; the chip has capacitive touch sensing built in. On this chip touching makes the number bigger; on the original ESP32 it was the other way round, so old tutorials will say it drops.</a:t>
            </a:r>
          </a:p>
          <a:p/>
          <a:p>
            <a:r>
              <a:t>Then look at the code and notice there is no delay anywhere in loop. That is deliberate and we will explain it on the next slides. If you finish early, the Serial Plotter under Tools graphs whatever numbers you print, which is a nice way to see the touch sensor react.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chip has no screen, so Serial is how you see what it is doing. Technically it is UART zero, a hardware serial port on pins 43 and 44, and the CP2102N chip behind the UART connector converts that to USB so your laptop sees a serial port. That is why the other connector shows nothing: it bypasses that chip.</a:t>
            </a:r>
          </a:p>
          <a:p/>
          <a:p>
            <a:r>
              <a:t>Both sides have to agree on speed. We use one hundred fifteen thousand two hundred baud everywhere. If the monitor is set to nine thousand six hundred you get garbage characters instead of text. That is the first thing to check when Serial output looks wrong.</a:t>
            </a:r>
          </a:p>
          <a:p/>
          <a:p>
            <a:r>
              <a:t>Two things that confuse beginners. First, before your code runs, the chip's own ROM prints a few lines at 115200: ESP-ROM, rst colon, boot colon, load, entry. That is the bootloader talking; it is not an error. You will see it every reset. Second, opening the Serial Monitor resets the board, because the IDE toggles the DTR line, the same line used for programming. So you always see the start-up message, and whatever state the board was in is gone.</a:t>
            </a:r>
          </a:p>
          <a:p/>
          <a:p>
            <a:r>
              <a:t>A performance note: Serial.print writes into a small buffer that drains at eleven thousand characters a second. If you print on every pass through loop, you will block waiting for the buffer. Print on a timer, like the sketch does. And Serial.printf works on ESP32 and reads better than a chain of prints.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a button sounds trivial, and there are two traps in it.</a:t>
            </a:r>
          </a:p>
          <a:p/>
          <a:p>
            <a:r>
              <a:t>First, an input pin with nothing connected is floating: it reads whatever stray charge is on the wire, and flickers between zero and one. To get a clean reading, you need a resistor that gently holds the pin at a known level when the button is not pressed. The ESP32 has one built into every pin, about forty-five kilohms, and INPUT_PULLUP turns it on. The BOOT button is wired between GPIO 0 and ground, so pressing it drags the pin to zero volts. Pressed equals LOW. That feels backwards, and now you know why it is that way.</a:t>
            </a:r>
          </a:p>
          <a:p/>
          <a:p>
            <a:r>
              <a:t>Second, a mechanical switch does not close cleanly. For a few milliseconds the contacts bounce, and the pin sees several transitions. If you count edges you count several presses. The fix in the sketch is simple: remember when the reading last changed, and only accept the new state once it has held for thirty milliseconds.</a:t>
            </a:r>
          </a:p>
          <a:p/>
          <a:p>
            <a:r>
              <a:t>And a third habit: react to the moment of change, not to the state. If you toggle the LED whenever the pin is LOW, it toggles thousands of times while your finger is down. The sketch compares the current debounced state to the previous one and acts only on the transition.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habit in the workshop.</a:t>
            </a:r>
          </a:p>
          <a:p/>
          <a:p>
            <a:r>
              <a:t>delay stops your loop for that long. Because of what we saw about FreeRTOS, the Wi-Fi driver on the other core keeps running, so the connection survives. But nothing else in your loop runs: the button is not read, and in Task 4 the web server is not serviced, so your phone waits.</a:t>
            </a:r>
          </a:p>
          <a:p/>
          <a:p>
            <a:r>
              <a:t>The alternative on the right: keep a note of when you last did something, and each time through loop, check whether enough time has passed. If yes, do it and update the note. If not, move on. loop runs about a hundred thousand times a second, so every job is checked constantly and nothing is missed. Every sketch from Task 2 onward is written this way.</a:t>
            </a:r>
          </a:p>
          <a:p/>
          <a:p>
            <a:r>
              <a:t>One detail that matters: write now minus last, greater or equal to interval. Unsigned subtraction gives the right answer even when millis wraps around after forty-nine days. Writing now greater than last plus interval breaks at the wrap.</a:t>
            </a:r>
          </a:p>
          <a:p/>
          <a:p>
            <a:r>
              <a:t>And if you genuinely need two things to run at the same time, you can create a second FreeRTOS task and pin it to a core. That is beyond today, but the one-liner is on the slide and it is exactly what the Wi-Fi driver itself does.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are behind schedule, this slide can be skipped; the same content is in docs/CHEATSHEET.md.</a:t>
            </a:r>
          </a:p>
          <a:p/>
          <a:p>
            <a:r>
              <a:t>The status line in Task 2 uses two sensors that are already inside the chip, and it is worth knowing what they really measure.</a:t>
            </a:r>
          </a:p>
          <a:p/>
          <a:p>
            <a:r>
              <a:t>touchRead: each of the fourteen touch pads works by repeatedly charging and discharging the pin and measuring the time that takes. A finger adds capacitance, which slows the charging, and on this chip the number reported goes up. Untouched you get something around twenty-five thousand, touched forty thousand or more. The original ESP32 reported it the other way round, so old tutorials will say the value drops. The absolute values depend on the board, the wire, and how humid the room is, so any code that uses touch needs a threshold you tune by looking at the numbers.</a:t>
            </a:r>
          </a:p>
          <a:p/>
          <a:p>
            <a:r>
              <a:t>temperatureRead is the die temperature, next to the CPU. It reads forty to sixty degrees on a running chip, it drifts with load, and it is accurate to a few degrees at best. It is a trend indicator, not a room thermometer. For real temperature you add a two-dollar sensor.</a:t>
            </a:r>
          </a:p>
          <a:p/>
          <a:p>
            <a:r>
              <a:t>analogRead is a twelve-bit converter giving zero to 4095. With the default attenuation the usable range is roughly zero to three point one volts, it is nonlinear near the top, and it is noisy, so average several samples. Use pins one to ten; ADC2 on eleven to twenty is unreliable once Wi-Fi is on.</a:t>
            </a:r>
          </a:p>
          <a:p/>
          <a:p>
            <a:r>
              <a:t>analogWrite is the output side: pulse width modulation through the LEDC peripheral. The pin switches on and off a thousand times a second and the duty cycle sets the apparent brightness of a plain LED, or the position of a servo. It does nothing useful on the RGB LED, which has its own controller; there you set brightness through the colour values in rgbLedWrite.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three turns the radio on. First, in config.h, give your board a name. It becomes the Wi-Fi network name, and in a minute this room will have forty of them, so make it something you recognise. Keep it short.</a:t>
            </a:r>
          </a:p>
          <a:p/>
          <a:p>
            <a:r>
              <a:t>Upload and watch the Serial Monitor. The first thing the sketch does is scan: every network within range, its channel, signal strength in dBm, and security type. Find the campus Wi-Fi in the list. Minus forty dBm is excellent, minus seventy is fine, minus ninety is barely there. The scan needs no password and always works, so if you see the table, the radio is alive.</a:t>
            </a:r>
          </a:p>
          <a:p/>
          <a:p>
            <a:r>
              <a:t>Then the board starts its own access point, named after your board, and prints its address, one nine two dot one six eight dot four dot one. Open Wi-Fi settings on your phone and join it, password hackhardware. Your phone will complain that there is no internet. That is correct; stay connected. The LED speeds up when a device is connected, and Serial prints the phone's MAC address.</a:t>
            </a:r>
          </a:p>
          <a:p/>
          <a:p>
            <a:r>
              <a:t>If you finish early, the station mode option makes the board join your phone's hotspot instead, which is how you would do it at home.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roles a Wi-Fi radio can play. Station is what your laptop does: join a network someone else runs, get an address from their router. Access point is what the router does: create the network, hand out addresses. The ESP32 can do either, or both at the same time.</a:t>
            </a:r>
          </a:p>
          <a:p/>
          <a:p>
            <a:r>
              <a:t>Today we default to access point mode, and the reason is practical. Campus Wi-Fi typically uses WPA2-Enterprise, which needs a username and certificate handling that the basic WiFi library does not do in one line, and it isolates clients from each other, so even if the board joined, your phone could not reach it. Making the board its own network sidesteps all of that: the phone connects directly, the board runs a small DHCP server, and its own address is always 192.168.4.1. By default four devices can connect at once.</a:t>
            </a:r>
          </a:p>
          <a:p/>
          <a:p>
            <a:r>
              <a:t>Some numbers to keep in mind. The radio is 2.4 gigahertz only, so a phone locked to a 5 gigahertz network will never see the board. RSSI, the signal strength, is in dBm: minus fifty is great, minus seventy is fine, below minus eighty-five it drops. The TCP/IP stack is lwIP, the same one used in a lot of embedded products, with DHCP and DNS and multicast DNS, which lets you reach the board at a dot-local name instead of an IP.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four is the longest, about thirty minutes. Upload the dashboard sketch, join your board's network again on your phone, and open one nine two dot one six eight dot four dot one in a browser. You get a plain status page: your board's name, uptime, temperature, touch, button, LED state, and two buttons.</a:t>
            </a:r>
          </a:p>
          <a:p/>
          <a:p>
            <a:r>
              <a:t>Tap LED on. The LED on your desk turns on. That is the moment where it clicks for most people: a phone controlling hardware you programmed, with no cloud, no app, no account.</a:t>
            </a:r>
          </a:p>
          <a:p/>
          <a:p>
            <a:r>
              <a:t>Two snags. If the page will not load, your phone has probably decided the board's network is useless because it has no internet, and is sending requests over mobile data. Turn mobile data off. And type http, not https; the board does not do TLS.</a:t>
            </a:r>
          </a:p>
          <a:p/>
          <a:p>
            <a:r>
              <a:t>Then look under the hood: open slash api slash status in the browser and you see the JSON the page is polling. Then find the two "add your own" comments in the sketch and add a field. Upload, reload, and it appears. That is the pattern for everything you will ever put on one of these pages.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a web server is, stripped to the bone. The phone sends a request, which is a line of text: GET, a path, and a protocol version, followed by some headers. The server matches the path to a function. The function builds a reply and sends it back with a status code and a content type. That is everything.</a:t>
            </a:r>
          </a:p>
          <a:p/>
          <a:p>
            <a:r>
              <a:t>The WebServer library that ships with the ESP32 core does exactly that. server.on registers a path and the function to call. server.begin starts listening on port 80. And server.handleClient, called from loop, checks whether a connection is waiting and services it. That last point matters: it is polled, not threaded. If your loop is stuck in a delay, no one is answering the phone.</a:t>
            </a:r>
          </a:p>
          <a:p/>
          <a:p>
            <a:r>
              <a:t>Query parameters after the question mark come out with server.arg. For the reply we use JSON, a text format that the JavaScript in your phone's browser parses natively. In this sketch it is built by hand with string concatenation because the fields are few. For anything bigger you would use the ArduinoJson library.</a:t>
            </a:r>
          </a:p>
          <a:p/>
          <a:p>
            <a:r>
              <a:t>The page itself, the HTML and JavaScript, is stored as one big string in flash and sent when the browser asks for slash. It is self-contained, with no external files, so it works with no internet at all. Throughput is a few dozen small requests per second, which is plenty for a phone asking once a second.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whole system in one picture. The board serves one HTML page. That page contains a few lines of JavaScript. Once a second, a timer fires, fetch asks the board for slash api slash status, the board reads its sensors, builds a JSON string, and replies. The JavaScript puts the numbers into the page. Ask, answer, redraw, forever. That is what makes it feel live, and it is about eight lines of code.</a:t>
            </a:r>
          </a:p>
          <a:p/>
          <a:p>
            <a:r>
              <a:t>Commands go the same way in the other direction: a button's onclick calls fetch on slash api slash led with state equals on. The handler flips the pin and replies.</a:t>
            </a:r>
          </a:p>
          <a:p/>
          <a:p>
            <a:r>
              <a:t>Notice the board never pushes anything. Polling once a second is the simplest way to build a live page, and for one phone and one board it is completely adequate. If you ever need lower latency, or many clients, the next step is WebSockets or Server-Sent Events, and the ESP32 does both. But start here.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ways to make the dashboard yours, and they are the same three moves you will use in any project on this chip.</a:t>
            </a:r>
          </a:p>
          <a:p/>
          <a:p>
            <a:r>
              <a:t>Adding a field: find the marked comment in handleStatus and append one more name and value to the JSON string. Free heap is a good one; it shows you how much memory your program has left and whether it is leaking. Then add a span to the page and one line in the JavaScript to fill it.</a:t>
            </a:r>
          </a:p>
          <a:p/>
          <a:p>
            <a:r>
              <a:t>Adding a command: register another route in setup, read a parameter with server.arg, and reply. The important habit is on the slide: the handler sets a variable and returns immediately. It does not blink the LED itself with delays, because that would stall the server. loop sees the counter and does the blinking with millis, the way we learned in Task 2.</a:t>
            </a:r>
          </a:p>
          <a:p/>
          <a:p>
            <a:r>
              <a:t>And a debugging habit: type your new route into the phone's browser before you wire up a button. If the JSON looks right there, the remaining work is HTML.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five is for people who are ahead, and it is the most interesting one technically. ESP-NOW is Espressif's protocol for sending small packets directly between boards, with no router, no IP addresses, no connection. Like walkie-talkies.</a:t>
            </a:r>
          </a:p>
          <a:p/>
          <a:p>
            <a:r>
              <a:t>The sketch broadcasts a small struct, your board name, uptime, temperature, and LED state, every two seconds, to the broadcast address. Every board in range that hears it adds the sender to a table; entries that go ten seconds without a packet are dropped. The table prints to Serial and shows up as a new section on the web page.</a:t>
            </a:r>
          </a:p>
          <a:p/>
          <a:p>
            <a:r>
              <a:t>Walk around the room with your board and watch names appear and disappear. Then look at the struct in the code: twenty-four bytes. That is the entire payload. If you finish, try turning it into a command: press your button and make a neighbour's LED toggle.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ESP-NOW actually puts on the air. Wi-Fi has a class of packets called management frames that a radio can receive without being joined to any network; that is how your phone sees network names before connecting. Espressif uses one of those, a vendor-specific action frame, and puts your data in the body. Up to 250 bytes in the original version.</a:t>
            </a:r>
          </a:p>
          <a:p/>
          <a:p>
            <a:r>
              <a:t>Because there is no association and no TCP, it is fast: a few milliseconds from send to receive callback. It works between any ESP32s on the same channel, in range, with nothing else in between. You can optionally encrypt per peer.</a:t>
            </a:r>
          </a:p>
          <a:p/>
          <a:p>
            <a:r>
              <a:t>The one constraint that catches people: the radio has a single channel at a time. If your access point is on channel 6 and a neighbour's board is on channel 1, they cannot hear each other. The sketch pins everything to channel 1 and runs the radio in AP plus station mode so the access point and ESP-NOW share it.</a:t>
            </a:r>
          </a:p>
          <a:p/>
          <a:p>
            <a:r>
              <a:t>Note the receive callback runs inside the Wi-Fi driver's task on core 0. Keep it short: copy the data into your table and return. Printing to Serial inside it works but is bad form; doing anything slow there will stall the radio.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have time left, choose one of these. The short ones are twenty-minute wins with the code you already have. The longer ones each introduce something we did not cover: persistent storage with Preferences, deep sleep and the RTC memory that survives it, a drawing on the page, a bit of security.</a:t>
            </a:r>
          </a:p>
          <a:p/>
          <a:p>
            <a:r>
              <a:t>Each one is written up in the challenges file with a hint pointing at the exact function and a definition of done. Pick whatever sounds fun rather than whatever sounds important. Helpers are around. In about fifteen minutes we regroup and a few people show what they built.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covered pins, serial, timing, Wi-Fi, HTTP and ESP-NOW. Here is what we deliberately skipped, in one line each, so you know the names to search for.</a:t>
            </a:r>
          </a:p>
          <a:p/>
          <a:p>
            <a:r>
              <a:t>Interrupts, to react to a pin within microseconds rather than checking it in loop. FreeRTOS tasks, for real parallelism. I2C and SPI sensors, which is where projects get real: a temperature, humidity and pressure sensor costs a couple of dollars and speaks I2C on pins 21 and 22. Deep sleep for battery projects. Over-the-air updates into that spare app slot we saw in the partition table. MQTT to publish data to a broker and have Home Assistant pick it up. Bluetooth. And a filesystem for storing pages and logs.</a:t>
            </a:r>
          </a:p>
          <a:p/>
          <a:p>
            <a:r>
              <a:t>On tooling: PlatformIO in VS Code is where most people go after Arduino IDE, same code but with proper project structure and library versions. And ESP-IDF is Espressif's own framework, with everything Arduino hides; you can even embed Arduino as a component in it.</a:t>
            </a:r>
          </a:p>
          <a:p/>
          <a:p>
            <a:r>
              <a:t>The most useful thing you can do this week is read the five sketches you ran today. They are commented for exactly that.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to keep going, get your own board. The simplest choice is the one in front of you: an ESP32-S3-DevKitC-1, ten to fifteen dollars from Espressif's distributors, or less for a clone with the same layout. Everything from today runs on it unchanged.</a:t>
            </a:r>
          </a:p>
          <a:p/>
          <a:p>
            <a:r>
              <a:t>The original ESP32 DevKit is the cheaper sibling and it is what most tutorials online are written for; four to eight dollars. It has a plain LED, Bluetooth Classic, and no native USB. Today's code runs on it with three lines changed in config.h; the comments in that file say which.</a:t>
            </a:r>
          </a:p>
          <a:p/>
          <a:p>
            <a:r>
              <a:t>The C3 and C6 are tiny and cheap, single-core RISC-V, great for sensors, a bit slower at serving web pages.</a:t>
            </a:r>
          </a:p>
          <a:p/>
          <a:p>
            <a:r>
              <a:t>Buy a data cable at the same time and check whether the board is USB-C or micro-USB. A breadboard, jumper wires, a handful of LEDs and resistors, and one I2C sensor turn the board into a kit; a short strip of WS2812 LEDs is a fun next step because you already know how to drive one. The club may do a group order; ask us.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finish with a quick round of show and tell. Who added the most fields to their page? Whose boards-nearby list is longest? And the most useful question: what broke for you, and what fixed it? Those stories help the next person more than anything I said.</a:t>
            </a:r>
          </a:p>
          <a:p/>
          <a:p>
            <a:r>
              <a:t>Everything from today is in the repository: the code, the setup guide, the troubleshooting page, and the challenges. Join the club channel; that is where the next sessions and group board orders get organised. Please fill in the feedback form before you leave; it takes a minute and decides what we run next.</a:t>
            </a:r>
          </a:p>
          <a:p/>
          <a:p>
            <a:r>
              <a:t>Thank you for coming, thank you to the helpers, and keep hacking on the board.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0"/>
            <a:ext cx="7315200" cy="274320"/>
          </a:xfrm>
          <a:prstGeom prst="rect">
            <a:avLst/>
          </a:prstGeom>
          <a:noFill/>
        </p:spPr>
        <p:txBody>
          <a:bodyPr wrap="square" anchor="t" lIns="0" rIns="0" tIns="18288" bIns="18288">
            <a:spAutoFit/>
          </a:bodyPr>
          <a:lstStyle/>
          <a:p>
            <a:pPr algn="l"/>
            <a:r>
              <a:rPr sz="1000" b="0" i="0">
                <a:solidFill>
                  <a:srgbClr val="595959"/>
                </a:solidFill>
                <a:latin typeface="Arial"/>
              </a:rPr>
              <a:t>HackHardware · Getting started with the ESP32</a:t>
            </a:r>
          </a:p>
        </p:txBody>
      </p:sp>
      <p:sp>
        <p:nvSpPr>
          <p:cNvPr id="3" name="TextBox 2"/>
          <p:cNvSpPr txBox="1"/>
          <p:nvPr/>
        </p:nvSpPr>
        <p:spPr>
          <a:xfrm>
            <a:off x="10134295" y="6400800"/>
            <a:ext cx="1371600" cy="274320"/>
          </a:xfrm>
          <a:prstGeom prst="rect">
            <a:avLst/>
          </a:prstGeom>
          <a:noFill/>
        </p:spPr>
        <p:txBody>
          <a:bodyPr wrap="square" anchor="t" lIns="0" rIns="0" tIns="18288" bIns="18288">
            <a:spAutoFit/>
          </a:bodyPr>
          <a:lstStyle/>
          <a:p>
            <a:pPr algn="r"/>
            <a:r>
              <a:rPr sz="1000" b="0" i="0">
                <a:solidFill>
                  <a:srgbClr val="595959"/>
                </a:solidFill>
                <a:latin typeface="Arial"/>
              </a:rPr>
              <a:t>1</a:t>
            </a:r>
          </a:p>
        </p:txBody>
      </p:sp>
      <p:sp>
        <p:nvSpPr>
          <p:cNvPr id="4" name="TextBox 3"/>
          <p:cNvSpPr txBox="1"/>
          <p:nvPr/>
        </p:nvSpPr>
        <p:spPr>
          <a:xfrm>
            <a:off x="685800" y="2011680"/>
            <a:ext cx="10820095" cy="1097280"/>
          </a:xfrm>
          <a:prstGeom prst="rect">
            <a:avLst/>
          </a:prstGeom>
          <a:noFill/>
        </p:spPr>
        <p:txBody>
          <a:bodyPr wrap="square" anchor="t" lIns="0" rIns="0" tIns="18288" bIns="18288">
            <a:spAutoFit/>
          </a:bodyPr>
          <a:lstStyle/>
          <a:p>
            <a:pPr algn="l"/>
            <a:r>
              <a:rPr sz="4800" b="1" i="0">
                <a:solidFill>
                  <a:srgbClr val="1A1A1A"/>
                </a:solidFill>
                <a:latin typeface="Arial"/>
              </a:rPr>
              <a:t>Getting started with the ESP32</a:t>
            </a:r>
          </a:p>
        </p:txBody>
      </p:sp>
      <p:sp>
        <p:nvSpPr>
          <p:cNvPr id="5" name="TextBox 4"/>
          <p:cNvSpPr txBox="1"/>
          <p:nvPr/>
        </p:nvSpPr>
        <p:spPr>
          <a:xfrm>
            <a:off x="685800" y="3063240"/>
            <a:ext cx="10820095" cy="457200"/>
          </a:xfrm>
          <a:prstGeom prst="rect">
            <a:avLst/>
          </a:prstGeom>
          <a:noFill/>
        </p:spPr>
        <p:txBody>
          <a:bodyPr wrap="square" anchor="t" lIns="0" rIns="0" tIns="18288" bIns="18288">
            <a:spAutoFit/>
          </a:bodyPr>
          <a:lstStyle/>
          <a:p>
            <a:pPr algn="l"/>
            <a:r>
              <a:rPr sz="2000" b="0" i="0">
                <a:solidFill>
                  <a:srgbClr val="595959"/>
                </a:solidFill>
                <a:latin typeface="Arial"/>
              </a:rPr>
              <a:t>A two-hour hands-on workshop. You leave with a board that serves a web page to your phone.</a:t>
            </a:r>
          </a:p>
        </p:txBody>
      </p:sp>
      <p:cxnSp>
        <p:nvCxnSpPr>
          <p:cNvPr id="6" name="Connector 5"/>
          <p:cNvCxnSpPr/>
          <p:nvPr/>
        </p:nvCxnSpPr>
        <p:spPr>
          <a:xfrm>
            <a:off x="685800" y="3794760"/>
            <a:ext cx="1828800" cy="0"/>
          </a:xfrm>
          <a:prstGeom prst="line">
            <a:avLst/>
          </a:prstGeom>
          <a:ln w="12700">
            <a:solidFill>
              <a:srgbClr val="1A1A1A"/>
            </a:solidFill>
          </a:ln>
        </p:spPr>
      </p:cxnSp>
      <p:sp>
        <p:nvSpPr>
          <p:cNvPr id="7" name="TextBox 6"/>
          <p:cNvSpPr txBox="1"/>
          <p:nvPr/>
        </p:nvSpPr>
        <p:spPr>
          <a:xfrm>
            <a:off x="685800" y="3931920"/>
            <a:ext cx="10820095" cy="822960"/>
          </a:xfrm>
          <a:prstGeom prst="rect">
            <a:avLst/>
          </a:prstGeom>
          <a:noFill/>
        </p:spPr>
        <p:txBody>
          <a:bodyPr wrap="square" anchor="t" lIns="0" rIns="0" tIns="18288" bIns="18288">
            <a:spAutoFit/>
          </a:bodyPr>
          <a:lstStyle/>
          <a:p>
            <a:pPr algn="l"/>
            <a:r>
              <a:rPr sz="1600" b="0" i="0">
                <a:solidFill>
                  <a:srgbClr val="1A1A1A"/>
                </a:solidFill>
                <a:latin typeface="Arial"/>
              </a:rPr>
              <a:t>HackHardware</a:t>
            </a:r>
          </a:p>
          <a:p>
            <a:pPr algn="l"/>
            <a:r>
              <a:rPr sz="1600" b="0" i="0">
                <a:solidFill>
                  <a:srgbClr val="1A1A1A"/>
                </a:solidFill>
                <a:latin typeface="Arial"/>
              </a:rPr>
              <a:t>[DATE]  ·  [ROOM]</a:t>
            </a:r>
          </a:p>
          <a:p>
            <a:pPr algn="l"/>
            <a:r>
              <a:rPr sz="1600" b="0" i="0">
                <a:solidFill>
                  <a:srgbClr val="1A1A1A"/>
                </a:solidFill>
                <a:latin typeface="Arial"/>
              </a:rPr>
              <a:t>Code and notes: github.com/galileoisonline/esp32-workshop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0"/>
            <a:ext cx="7315200" cy="274320"/>
          </a:xfrm>
          <a:prstGeom prst="rect">
            <a:avLst/>
          </a:prstGeom>
          <a:noFill/>
        </p:spPr>
        <p:txBody>
          <a:bodyPr wrap="square" anchor="t" lIns="0" rIns="0" tIns="18288" bIns="18288">
            <a:spAutoFit/>
          </a:bodyPr>
          <a:lstStyle/>
          <a:p>
            <a:pPr algn="l"/>
            <a:r>
              <a:rPr sz="1000" b="0" i="0">
                <a:solidFill>
                  <a:srgbClr val="595959"/>
                </a:solidFill>
                <a:latin typeface="Arial"/>
              </a:rPr>
              <a:t>HackHardware · Getting started with the ESP32</a:t>
            </a:r>
          </a:p>
        </p:txBody>
      </p:sp>
      <p:sp>
        <p:nvSpPr>
          <p:cNvPr id="3" name="TextBox 2"/>
          <p:cNvSpPr txBox="1"/>
          <p:nvPr/>
        </p:nvSpPr>
        <p:spPr>
          <a:xfrm>
            <a:off x="10134295" y="6400800"/>
            <a:ext cx="1371600" cy="274320"/>
          </a:xfrm>
          <a:prstGeom prst="rect">
            <a:avLst/>
          </a:prstGeom>
          <a:noFill/>
        </p:spPr>
        <p:txBody>
          <a:bodyPr wrap="square" anchor="t" lIns="0" rIns="0" tIns="18288" bIns="18288">
            <a:spAutoFit/>
          </a:bodyPr>
          <a:lstStyle/>
          <a:p>
            <a:pPr algn="r"/>
            <a:r>
              <a:rPr sz="1000" b="0" i="0">
                <a:solidFill>
                  <a:srgbClr val="595959"/>
                </a:solidFill>
                <a:latin typeface="Arial"/>
              </a:rPr>
              <a:t>2</a:t>
            </a:r>
          </a:p>
        </p:txBody>
      </p:sp>
      <p:sp>
        <p:nvSpPr>
          <p:cNvPr id="4" name="TextBox 3"/>
          <p:cNvSpPr txBox="1"/>
          <p:nvPr/>
        </p:nvSpPr>
        <p:spPr>
          <a:xfrm>
            <a:off x="685800" y="457200"/>
            <a:ext cx="10820095" cy="822960"/>
          </a:xfrm>
          <a:prstGeom prst="rect">
            <a:avLst/>
          </a:prstGeom>
          <a:noFill/>
        </p:spPr>
        <p:txBody>
          <a:bodyPr wrap="square" anchor="b" lIns="0" rIns="0" tIns="18288" bIns="18288">
            <a:spAutoFit/>
          </a:bodyPr>
          <a:lstStyle/>
          <a:p>
            <a:pPr algn="l"/>
            <a:r>
              <a:rPr sz="3000" b="1" i="0">
                <a:solidFill>
                  <a:srgbClr val="1A1A1A"/>
                </a:solidFill>
                <a:latin typeface="Arial"/>
              </a:rPr>
              <a:t>Plan for the next two hours</a:t>
            </a:r>
          </a:p>
        </p:txBody>
      </p:sp>
      <p:cxnSp>
        <p:nvCxnSpPr>
          <p:cNvPr id="5" name="Connector 4"/>
          <p:cNvCxnSpPr/>
          <p:nvPr/>
        </p:nvCxnSpPr>
        <p:spPr>
          <a:xfrm>
            <a:off x="685800" y="1298448"/>
            <a:ext cx="10820095" cy="0"/>
          </a:xfrm>
          <a:prstGeom prst="line">
            <a:avLst/>
          </a:prstGeom>
          <a:ln w="9525">
            <a:solidFill>
              <a:srgbClr val="BFBFBF"/>
            </a:solidFill>
          </a:ln>
        </p:spPr>
      </p:cxnSp>
      <p:graphicFrame>
        <p:nvGraphicFramePr>
          <p:cNvPr id="6" name="Table 5"/>
          <p:cNvGraphicFramePr>
            <a:graphicFrameLocks noGrp="1"/>
          </p:cNvGraphicFramePr>
          <p:nvPr/>
        </p:nvGraphicFramePr>
        <p:xfrm>
          <a:off x="685800" y="1417320"/>
          <a:ext cx="10820094" cy="3632540"/>
        </p:xfrm>
        <a:graphic>
          <a:graphicData uri="http://schemas.openxmlformats.org/drawingml/2006/table">
            <a:tbl>
              <a:tblPr firstRow="1" bandRow="0">
                <a:tableStyleId>{2D5ABB26-0587-4C30-8999-92F81FD0307C}</a:tableStyleId>
              </a:tblPr>
              <a:tblGrid>
                <a:gridCol w="1082009"/>
                <a:gridCol w="6708459"/>
                <a:gridCol w="3029626"/>
              </a:tblGrid>
              <a:tr h="363254">
                <a:tc>
                  <a:txBody>
                    <a:bodyPr wrap="square"/>
                    <a:lstStyle/>
                    <a:p>
                      <a:r>
                        <a:rPr sz="1569" b="1" i="0">
                          <a:solidFill>
                            <a:srgbClr val="1A1A1A"/>
                          </a:solidFill>
                          <a:latin typeface="Arial"/>
                        </a:rPr>
                        <a:t>Time</a:t>
                      </a:r>
                    </a:p>
                  </a:txBody>
                  <a:tcPr marL="73152" marR="73152" marT="27432" marB="27432" anchor="ctr">
                    <a:solidFill>
                      <a:srgbClr val="F2F2F2"/>
                    </a:solidFill>
                    <a:lnB w="9525" cap="flat" cmpd="sng" algn="ctr">
                      <a:solidFill>
                        <a:srgbClr val="BFBFBF"/>
                      </a:solidFill>
                      <a:prstDash val="solid"/>
                    </a:lnB>
                    <a:lnT w="9525"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569" b="1" i="0">
                          <a:solidFill>
                            <a:srgbClr val="1A1A1A"/>
                          </a:solidFill>
                          <a:latin typeface="Arial"/>
                        </a:rPr>
                        <a:t>What</a:t>
                      </a:r>
                    </a:p>
                  </a:txBody>
                  <a:tcPr marL="73152" marR="73152" marT="27432" marB="27432" anchor="ctr">
                    <a:solidFill>
                      <a:srgbClr val="F2F2F2"/>
                    </a:solidFill>
                    <a:lnB w="9525" cap="flat" cmpd="sng" algn="ctr">
                      <a:solidFill>
                        <a:srgbClr val="BFBFBF"/>
                      </a:solidFill>
                      <a:prstDash val="solid"/>
                    </a:lnB>
                    <a:lnT w="9525"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569" b="1" i="0">
                          <a:solidFill>
                            <a:srgbClr val="1A1A1A"/>
                          </a:solidFill>
                          <a:latin typeface="Arial"/>
                        </a:rPr>
                        <a:t>You</a:t>
                      </a:r>
                    </a:p>
                  </a:txBody>
                  <a:tcPr marL="73152" marR="73152" marT="27432" marB="27432" anchor="ctr">
                    <a:solidFill>
                      <a:srgbClr val="F2F2F2"/>
                    </a:solidFill>
                    <a:lnB w="9525" cap="flat" cmpd="sng" algn="ctr">
                      <a:solidFill>
                        <a:srgbClr val="BFBFBF"/>
                      </a:solidFill>
                      <a:prstDash val="solid"/>
                    </a:lnB>
                    <a:lnT w="9525"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63254">
                <a:tc>
                  <a:txBody>
                    <a:bodyPr wrap="square"/>
                    <a:lstStyle/>
                    <a:p>
                      <a:r>
                        <a:rPr sz="1569" b="0" i="0">
                          <a:solidFill>
                            <a:srgbClr val="1A1A1A"/>
                          </a:solidFill>
                          <a:latin typeface="Arial"/>
                        </a:rPr>
                        <a:t>0:00</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569" b="0" i="0">
                          <a:solidFill>
                            <a:srgbClr val="1A1A1A"/>
                          </a:solidFill>
                          <a:latin typeface="Arial"/>
                        </a:rPr>
                        <a:t>Setup check: IDE installed, board shows up as a serial port</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569" b="0" i="0">
                          <a:solidFill>
                            <a:srgbClr val="1A1A1A"/>
                          </a:solidFill>
                          <a:latin typeface="Arial"/>
                        </a:rPr>
                        <a:t>install, plug in</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63254">
                <a:tc>
                  <a:txBody>
                    <a:bodyPr wrap="square"/>
                    <a:lstStyle/>
                    <a:p>
                      <a:r>
                        <a:rPr sz="1569" b="0" i="0">
                          <a:solidFill>
                            <a:srgbClr val="1A1A1A"/>
                          </a:solidFill>
                          <a:latin typeface="Arial"/>
                        </a:rPr>
                        <a:t>0:10</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569" b="0" i="0">
                          <a:solidFill>
                            <a:srgbClr val="1A1A1A"/>
                          </a:solidFill>
                          <a:latin typeface="Arial"/>
                        </a:rPr>
                        <a:t>How the ESP32 works: the parts you need to know before writing code</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569" b="0" i="0">
                          <a:solidFill>
                            <a:srgbClr val="1A1A1A"/>
                          </a:solidFill>
                          <a:latin typeface="Arial"/>
                        </a:rPr>
                        <a:t>listen, ask</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63254">
                <a:tc>
                  <a:txBody>
                    <a:bodyPr wrap="square"/>
                    <a:lstStyle/>
                    <a:p>
                      <a:r>
                        <a:rPr sz="1569" b="0" i="0">
                          <a:solidFill>
                            <a:srgbClr val="1A1A1A"/>
                          </a:solidFill>
                          <a:latin typeface="Arial"/>
                        </a:rPr>
                        <a:t>0:30</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569" b="0" i="0">
                          <a:solidFill>
                            <a:srgbClr val="1A1A1A"/>
                          </a:solidFill>
                          <a:latin typeface="Arial"/>
                        </a:rPr>
                        <a:t>Task 1 · Blink an LED</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569" b="0" i="0">
                          <a:solidFill>
                            <a:srgbClr val="1A1A1A"/>
                          </a:solidFill>
                          <a:latin typeface="Arial"/>
                        </a:rPr>
                        <a:t>first upload</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63254">
                <a:tc>
                  <a:txBody>
                    <a:bodyPr wrap="square"/>
                    <a:lstStyle/>
                    <a:p>
                      <a:r>
                        <a:rPr sz="1569" b="0" i="0">
                          <a:solidFill>
                            <a:srgbClr val="1A1A1A"/>
                          </a:solidFill>
                          <a:latin typeface="Arial"/>
                        </a:rPr>
                        <a:t>0:45</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569" b="0" i="0">
                          <a:solidFill>
                            <a:srgbClr val="1A1A1A"/>
                          </a:solidFill>
                          <a:latin typeface="Arial"/>
                        </a:rPr>
                        <a:t>Task 2 · Serial output and a button</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569" b="0" i="0">
                          <a:solidFill>
                            <a:srgbClr val="1A1A1A"/>
                          </a:solidFill>
                          <a:latin typeface="Arial"/>
                        </a:rPr>
                        <a:t>read inputs, print</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63254">
                <a:tc>
                  <a:txBody>
                    <a:bodyPr wrap="square"/>
                    <a:lstStyle/>
                    <a:p>
                      <a:r>
                        <a:rPr sz="1569" b="0" i="0">
                          <a:solidFill>
                            <a:srgbClr val="1A1A1A"/>
                          </a:solidFill>
                          <a:latin typeface="Arial"/>
                        </a:rPr>
                        <a:t>1:00</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569" b="0" i="0">
                          <a:solidFill>
                            <a:srgbClr val="1A1A1A"/>
                          </a:solidFill>
                          <a:latin typeface="Arial"/>
                        </a:rPr>
                        <a:t>Short break</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63254">
                <a:tc>
                  <a:txBody>
                    <a:bodyPr wrap="square"/>
                    <a:lstStyle/>
                    <a:p>
                      <a:r>
                        <a:rPr sz="1569" b="0" i="0">
                          <a:solidFill>
                            <a:srgbClr val="1A1A1A"/>
                          </a:solidFill>
                          <a:latin typeface="Arial"/>
                        </a:rPr>
                        <a:t>1:05</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569" b="0" i="0">
                          <a:solidFill>
                            <a:srgbClr val="1A1A1A"/>
                          </a:solidFill>
                          <a:latin typeface="Arial"/>
                        </a:rPr>
                        <a:t>Task 3 · Turn on Wi-Fi</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569" b="0" i="0">
                          <a:solidFill>
                            <a:srgbClr val="1A1A1A"/>
                          </a:solidFill>
                          <a:latin typeface="Arial"/>
                        </a:rPr>
                        <a:t>scan, start a network</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63254">
                <a:tc>
                  <a:txBody>
                    <a:bodyPr wrap="square"/>
                    <a:lstStyle/>
                    <a:p>
                      <a:r>
                        <a:rPr sz="1569" b="0" i="0">
                          <a:solidFill>
                            <a:srgbClr val="1A1A1A"/>
                          </a:solidFill>
                          <a:latin typeface="Arial"/>
                        </a:rPr>
                        <a:t>1:20</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569" b="0" i="0">
                          <a:solidFill>
                            <a:srgbClr val="1A1A1A"/>
                          </a:solidFill>
                          <a:latin typeface="Arial"/>
                        </a:rPr>
                        <a:t>Task 4 · A web page served by the board</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569" b="0" i="0">
                          <a:solidFill>
                            <a:srgbClr val="1A1A1A"/>
                          </a:solidFill>
                          <a:latin typeface="Arial"/>
                        </a:rPr>
                        <a:t>control it from a phone</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63254">
                <a:tc>
                  <a:txBody>
                    <a:bodyPr wrap="square"/>
                    <a:lstStyle/>
                    <a:p>
                      <a:r>
                        <a:rPr sz="1569" b="0" i="0">
                          <a:solidFill>
                            <a:srgbClr val="1A1A1A"/>
                          </a:solidFill>
                          <a:latin typeface="Arial"/>
                        </a:rPr>
                        <a:t>1:45</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569" b="0" i="0">
                          <a:solidFill>
                            <a:srgbClr val="1A1A1A"/>
                          </a:solidFill>
                          <a:latin typeface="Arial"/>
                        </a:rPr>
                        <a:t>Task 5 · Board-to-board messages (optional) or a challenge of your choice</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569" b="0" i="0">
                          <a:solidFill>
                            <a:srgbClr val="1A1A1A"/>
                          </a:solidFill>
                          <a:latin typeface="Arial"/>
                        </a:rPr>
                        <a:t>build</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63254">
                <a:tc>
                  <a:txBody>
                    <a:bodyPr wrap="square"/>
                    <a:lstStyle/>
                    <a:p>
                      <a:r>
                        <a:rPr sz="1569" b="0" i="0">
                          <a:solidFill>
                            <a:srgbClr val="1A1A1A"/>
                          </a:solidFill>
                          <a:latin typeface="Arial"/>
                        </a:rPr>
                        <a:t>2:00</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569" b="0" i="0">
                          <a:solidFill>
                            <a:srgbClr val="1A1A1A"/>
                          </a:solidFill>
                          <a:latin typeface="Arial"/>
                        </a:rPr>
                        <a:t>Wrap-up: show what you built, where to go next</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569" b="0" i="0">
                          <a:solidFill>
                            <a:srgbClr val="1A1A1A"/>
                          </a:solidFill>
                          <a:latin typeface="Arial"/>
                        </a:rPr>
                        <a:t>5 min</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bl>
          </a:graphicData>
        </a:graphic>
      </p:graphicFrame>
      <p:sp>
        <p:nvSpPr>
          <p:cNvPr id="7" name="TextBox 6"/>
          <p:cNvSpPr txBox="1"/>
          <p:nvPr/>
        </p:nvSpPr>
        <p:spPr>
          <a:xfrm>
            <a:off x="685800" y="5467986"/>
            <a:ext cx="10820095" cy="591322"/>
          </a:xfrm>
          <a:prstGeom prst="rect">
            <a:avLst/>
          </a:prstGeom>
          <a:noFill/>
        </p:spPr>
        <p:txBody>
          <a:bodyPr wrap="square" anchor="t" lIns="0" rIns="0" tIns="18288" bIns="18288">
            <a:spAutoFit/>
          </a:bodyPr>
          <a:lstStyle/>
          <a:p>
            <a:r>
              <a:rPr sz="1667" b="0" i="0">
                <a:solidFill>
                  <a:srgbClr val="595959"/>
                </a:solidFill>
                <a:latin typeface="Arial"/>
              </a:rPr>
              <a:t>Each task is a complete, working sketch in the repo. If you fall behind, open the next one. Nothing depends on you having finished the previous task.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0"/>
            <a:ext cx="7315200" cy="274320"/>
          </a:xfrm>
          <a:prstGeom prst="rect">
            <a:avLst/>
          </a:prstGeom>
          <a:noFill/>
        </p:spPr>
        <p:txBody>
          <a:bodyPr wrap="square" anchor="t" lIns="0" rIns="0" tIns="18288" bIns="18288">
            <a:spAutoFit/>
          </a:bodyPr>
          <a:lstStyle/>
          <a:p>
            <a:pPr algn="l"/>
            <a:r>
              <a:rPr sz="1000" b="0" i="0">
                <a:solidFill>
                  <a:srgbClr val="595959"/>
                </a:solidFill>
                <a:latin typeface="Arial"/>
              </a:rPr>
              <a:t>HackHardware · Getting started with the ESP32</a:t>
            </a:r>
          </a:p>
        </p:txBody>
      </p:sp>
      <p:sp>
        <p:nvSpPr>
          <p:cNvPr id="3" name="TextBox 2"/>
          <p:cNvSpPr txBox="1"/>
          <p:nvPr/>
        </p:nvSpPr>
        <p:spPr>
          <a:xfrm>
            <a:off x="10134295" y="6400800"/>
            <a:ext cx="1371600" cy="274320"/>
          </a:xfrm>
          <a:prstGeom prst="rect">
            <a:avLst/>
          </a:prstGeom>
          <a:noFill/>
        </p:spPr>
        <p:txBody>
          <a:bodyPr wrap="square" anchor="t" lIns="0" rIns="0" tIns="18288" bIns="18288">
            <a:spAutoFit/>
          </a:bodyPr>
          <a:lstStyle/>
          <a:p>
            <a:pPr algn="r"/>
            <a:r>
              <a:rPr sz="1000" b="0" i="0">
                <a:solidFill>
                  <a:srgbClr val="595959"/>
                </a:solidFill>
                <a:latin typeface="Arial"/>
              </a:rPr>
              <a:t>3</a:t>
            </a:r>
          </a:p>
        </p:txBody>
      </p:sp>
      <p:sp>
        <p:nvSpPr>
          <p:cNvPr id="4" name="TextBox 3"/>
          <p:cNvSpPr txBox="1"/>
          <p:nvPr/>
        </p:nvSpPr>
        <p:spPr>
          <a:xfrm>
            <a:off x="685800" y="457200"/>
            <a:ext cx="10820095" cy="822960"/>
          </a:xfrm>
          <a:prstGeom prst="rect">
            <a:avLst/>
          </a:prstGeom>
          <a:noFill/>
        </p:spPr>
        <p:txBody>
          <a:bodyPr wrap="square" anchor="b" lIns="0" rIns="0" tIns="18288" bIns="18288">
            <a:spAutoFit/>
          </a:bodyPr>
          <a:lstStyle/>
          <a:p>
            <a:pPr algn="l"/>
            <a:r>
              <a:rPr sz="3000" b="1" i="0">
                <a:solidFill>
                  <a:srgbClr val="1A1A1A"/>
                </a:solidFill>
                <a:latin typeface="Arial"/>
              </a:rPr>
              <a:t>Before we start: setup check</a:t>
            </a:r>
          </a:p>
        </p:txBody>
      </p:sp>
      <p:cxnSp>
        <p:nvCxnSpPr>
          <p:cNvPr id="5" name="Connector 4"/>
          <p:cNvCxnSpPr/>
          <p:nvPr/>
        </p:nvCxnSpPr>
        <p:spPr>
          <a:xfrm>
            <a:off x="685800" y="1298448"/>
            <a:ext cx="10820095" cy="0"/>
          </a:xfrm>
          <a:prstGeom prst="line">
            <a:avLst/>
          </a:prstGeom>
          <a:ln w="9525">
            <a:solidFill>
              <a:srgbClr val="BFBFBF"/>
            </a:solidFill>
          </a:ln>
        </p:spPr>
      </p:cxnSp>
      <p:sp>
        <p:nvSpPr>
          <p:cNvPr id="6" name="TextBox 5"/>
          <p:cNvSpPr txBox="1"/>
          <p:nvPr/>
        </p:nvSpPr>
        <p:spPr>
          <a:xfrm>
            <a:off x="685800" y="1417320"/>
            <a:ext cx="6092775" cy="3796537"/>
          </a:xfrm>
          <a:prstGeom prst="rect">
            <a:avLst/>
          </a:prstGeom>
          <a:noFill/>
        </p:spPr>
        <p:txBody>
          <a:bodyPr wrap="square" anchor="t" lIns="0" rIns="0" tIns="18288" bIns="18288">
            <a:spAutoFit/>
          </a:bodyPr>
          <a:lstStyle/>
          <a:p>
            <a:pPr>
              <a:spcAft>
                <a:spcPts val="600"/>
              </a:spcAft>
            </a:pPr>
            <a:r>
              <a:rPr sz="1700" b="0" i="0">
                <a:solidFill>
                  <a:srgbClr val="595959"/>
                </a:solidFill>
                <a:latin typeface="Arial"/>
              </a:rPr>
              <a:t>1.  </a:t>
            </a:r>
            <a:r>
              <a:rPr sz="1700" b="0" i="0">
                <a:solidFill>
                  <a:srgbClr val="1A1A1A"/>
                </a:solidFill>
                <a:latin typeface="Arial"/>
              </a:rPr>
              <a:t>Install </a:t>
            </a:r>
            <a:r>
              <a:rPr sz="1700" b="1" i="0">
                <a:solidFill>
                  <a:srgbClr val="1A1A1A"/>
                </a:solidFill>
                <a:latin typeface="Arial"/>
              </a:rPr>
              <a:t>Arduino IDE 2.x</a:t>
            </a:r>
            <a:r>
              <a:rPr sz="1700" b="0" i="0">
                <a:solidFill>
                  <a:srgbClr val="1A1A1A"/>
                </a:solidFill>
                <a:latin typeface="Arial"/>
              </a:rPr>
              <a:t> (2.3.10 or newer).</a:t>
            </a:r>
          </a:p>
          <a:p>
            <a:pPr>
              <a:spcAft>
                <a:spcPts val="600"/>
              </a:spcAft>
            </a:pPr>
            <a:r>
              <a:rPr sz="1700" b="0" i="0">
                <a:solidFill>
                  <a:srgbClr val="595959"/>
                </a:solidFill>
                <a:latin typeface="Arial"/>
              </a:rPr>
              <a:t>2.  </a:t>
            </a:r>
            <a:r>
              <a:rPr sz="1700" b="1" i="0">
                <a:solidFill>
                  <a:srgbClr val="1A1A1A"/>
                </a:solidFill>
                <a:latin typeface="Arial"/>
              </a:rPr>
              <a:t>File → Preferences → Additional boards manager URLs</a:t>
            </a:r>
            <a:r>
              <a:rPr sz="1700" b="0" i="0">
                <a:solidFill>
                  <a:srgbClr val="1A1A1A"/>
                </a:solidFill>
                <a:latin typeface="Arial"/>
              </a:rPr>
              <a:t>, paste:
</a:t>
            </a:r>
            <a:r>
              <a:rPr sz="1614" b="0" i="0">
                <a:solidFill>
                  <a:srgbClr val="1A1A1A"/>
                </a:solidFill>
                <a:latin typeface="Courier New"/>
              </a:rPr>
              <a:t>https://espressif.github.io/arduino-esp32/package_esp32_index.json</a:t>
            </a:r>
          </a:p>
          <a:p>
            <a:pPr>
              <a:spcAft>
                <a:spcPts val="600"/>
              </a:spcAft>
            </a:pPr>
            <a:r>
              <a:rPr sz="1700" b="0" i="0">
                <a:solidFill>
                  <a:srgbClr val="595959"/>
                </a:solidFill>
                <a:latin typeface="Arial"/>
              </a:rPr>
              <a:t>3.  </a:t>
            </a:r>
            <a:r>
              <a:rPr sz="1700" b="1" i="0">
                <a:solidFill>
                  <a:srgbClr val="1A1A1A"/>
                </a:solidFill>
                <a:latin typeface="Arial"/>
              </a:rPr>
              <a:t>Boards Manager</a:t>
            </a:r>
            <a:r>
              <a:rPr sz="1700" b="0" i="0">
                <a:solidFill>
                  <a:srgbClr val="1A1A1A"/>
                </a:solidFill>
                <a:latin typeface="Arial"/>
              </a:rPr>
              <a:t>, search *esp32*, install </a:t>
            </a:r>
            <a:r>
              <a:rPr sz="1700" b="1" i="0">
                <a:solidFill>
                  <a:srgbClr val="1A1A1A"/>
                </a:solidFill>
                <a:latin typeface="Arial"/>
              </a:rPr>
              <a:t>esp32 by Espressif Systems</a:t>
            </a:r>
            <a:r>
              <a:rPr sz="1700" b="0" i="0">
                <a:solidFill>
                  <a:srgbClr val="1A1A1A"/>
                </a:solidFill>
                <a:latin typeface="Arial"/>
              </a:rPr>
              <a:t> (3.3.x, about 300 MB; this is normal).</a:t>
            </a:r>
          </a:p>
          <a:p>
            <a:pPr>
              <a:spcAft>
                <a:spcPts val="600"/>
              </a:spcAft>
            </a:pPr>
            <a:r>
              <a:rPr sz="1700" b="0" i="0">
                <a:solidFill>
                  <a:srgbClr val="595959"/>
                </a:solidFill>
                <a:latin typeface="Arial"/>
              </a:rPr>
              <a:t>4.  </a:t>
            </a:r>
            <a:r>
              <a:rPr sz="1700" b="1" i="0">
                <a:solidFill>
                  <a:srgbClr val="1A1A1A"/>
                </a:solidFill>
                <a:latin typeface="Arial"/>
              </a:rPr>
              <a:t>Tools → Board → esp32 → ESP32S3 Dev Module</a:t>
            </a:r>
            <a:r>
              <a:rPr sz="1700" b="0" i="0">
                <a:solidFill>
                  <a:srgbClr val="1A1A1A"/>
                </a:solidFill>
                <a:latin typeface="Arial"/>
              </a:rPr>
              <a:t>. Leave the other Tools entries at their defaults.</a:t>
            </a:r>
          </a:p>
          <a:p>
            <a:pPr>
              <a:spcAft>
                <a:spcPts val="600"/>
              </a:spcAft>
            </a:pPr>
            <a:r>
              <a:rPr sz="1700" b="0" i="0">
                <a:solidFill>
                  <a:srgbClr val="595959"/>
                </a:solidFill>
                <a:latin typeface="Arial"/>
              </a:rPr>
              <a:t>5.  </a:t>
            </a:r>
            <a:r>
              <a:rPr sz="1700" b="0" i="0">
                <a:solidFill>
                  <a:srgbClr val="1A1A1A"/>
                </a:solidFill>
                <a:latin typeface="Arial"/>
              </a:rPr>
              <a:t>Plug a USB-C </a:t>
            </a:r>
            <a:r>
              <a:rPr sz="1700" b="1" i="0">
                <a:solidFill>
                  <a:srgbClr val="1A1A1A"/>
                </a:solidFill>
                <a:latin typeface="Arial"/>
              </a:rPr>
              <a:t>data</a:t>
            </a:r>
            <a:r>
              <a:rPr sz="1700" b="0" i="0">
                <a:solidFill>
                  <a:srgbClr val="1A1A1A"/>
                </a:solidFill>
                <a:latin typeface="Arial"/>
              </a:rPr>
              <a:t> cable into the connector labelled </a:t>
            </a:r>
            <a:r>
              <a:rPr sz="1700" b="1" i="0">
                <a:solidFill>
                  <a:srgbClr val="1A1A1A"/>
                </a:solidFill>
                <a:latin typeface="Arial"/>
              </a:rPr>
              <a:t>UART</a:t>
            </a:r>
            <a:r>
              <a:rPr sz="1700" b="0" i="0">
                <a:solidFill>
                  <a:srgbClr val="1A1A1A"/>
                </a:solidFill>
                <a:latin typeface="Arial"/>
              </a:rPr>
              <a:t> (not the one labelled USB). </a:t>
            </a:r>
            <a:r>
              <a:rPr sz="1700" b="1" i="0">
                <a:solidFill>
                  <a:srgbClr val="1A1A1A"/>
                </a:solidFill>
                <a:latin typeface="Arial"/>
              </a:rPr>
              <a:t>Tools → Port</a:t>
            </a:r>
            <a:r>
              <a:rPr sz="1700" b="0" i="0">
                <a:solidFill>
                  <a:srgbClr val="1A1A1A"/>
                </a:solidFill>
                <a:latin typeface="Arial"/>
              </a:rPr>
              <a:t> should show a new entry.</a:t>
            </a:r>
          </a:p>
          <a:p>
            <a:pPr>
              <a:spcAft>
                <a:spcPts val="600"/>
              </a:spcAft>
            </a:pPr>
            <a:r>
              <a:rPr sz="1700" b="0" i="0">
                <a:solidFill>
                  <a:srgbClr val="595959"/>
                </a:solidFill>
                <a:latin typeface="Arial"/>
              </a:rPr>
              <a:t>6.  </a:t>
            </a:r>
            <a:r>
              <a:rPr sz="1700" b="0" i="0">
                <a:solidFill>
                  <a:srgbClr val="1A1A1A"/>
                </a:solidFill>
                <a:latin typeface="Arial"/>
              </a:rPr>
              <a:t>Download the repo ZIP from github.com/galileoisonline/esp32-workshop and unzip it.</a:t>
            </a:r>
          </a:p>
        </p:txBody>
      </p:sp>
      <p:sp>
        <p:nvSpPr>
          <p:cNvPr id="7" name="TextBox 6"/>
          <p:cNvSpPr txBox="1"/>
          <p:nvPr/>
        </p:nvSpPr>
        <p:spPr>
          <a:xfrm>
            <a:off x="7144335" y="1453896"/>
            <a:ext cx="4361559" cy="379476"/>
          </a:xfrm>
          <a:prstGeom prst="rect">
            <a:avLst/>
          </a:prstGeom>
          <a:noFill/>
        </p:spPr>
        <p:txBody>
          <a:bodyPr wrap="square" anchor="t" lIns="0" rIns="0" tIns="18288" bIns="18288">
            <a:spAutoFit/>
          </a:bodyPr>
          <a:lstStyle/>
          <a:p>
            <a:r>
              <a:rPr sz="1800" b="1" i="0">
                <a:solidFill>
                  <a:srgbClr val="1A1A1A"/>
                </a:solidFill>
                <a:latin typeface="Arial"/>
              </a:rPr>
              <a:t>What the port looks like</a:t>
            </a:r>
          </a:p>
        </p:txBody>
      </p:sp>
      <p:graphicFrame>
        <p:nvGraphicFramePr>
          <p:cNvPr id="8" name="Table 7"/>
          <p:cNvGraphicFramePr>
            <a:graphicFrameLocks noGrp="1"/>
          </p:cNvGraphicFramePr>
          <p:nvPr/>
        </p:nvGraphicFramePr>
        <p:xfrm>
          <a:off x="7144335" y="1869948"/>
          <a:ext cx="4361558" cy="1103376"/>
        </p:xfrm>
        <a:graphic>
          <a:graphicData uri="http://schemas.openxmlformats.org/drawingml/2006/table">
            <a:tbl>
              <a:tblPr firstRow="1" bandRow="0">
                <a:tableStyleId>{2D5ABB26-0587-4C30-8999-92F81FD0307C}</a:tableStyleId>
              </a:tblPr>
              <a:tblGrid>
                <a:gridCol w="1090389"/>
                <a:gridCol w="3271169"/>
              </a:tblGrid>
              <a:tr h="367792">
                <a:tc>
                  <a:txBody>
                    <a:bodyPr wrap="square"/>
                    <a:lstStyle/>
                    <a:p>
                      <a:r>
                        <a:rPr sz="1600" b="1" i="0">
                          <a:solidFill>
                            <a:srgbClr val="1A1A1A"/>
                          </a:solidFill>
                          <a:latin typeface="Arial"/>
                        </a:rPr>
                        <a:t>macOS</a:t>
                      </a:r>
                    </a:p>
                  </a:txBody>
                  <a:tcPr marL="73152" marR="73152" marT="27432" marB="27432" anchor="ctr">
                    <a:solidFill>
                      <a:srgbClr val="F2F2F2"/>
                    </a:solidFill>
                    <a:lnB w="9525" cap="flat" cmpd="sng" algn="ctr">
                      <a:solidFill>
                        <a:srgbClr val="BFBFBF"/>
                      </a:solidFill>
                      <a:prstDash val="solid"/>
                    </a:lnB>
                    <a:lnT w="9525"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520" b="1" i="0">
                          <a:solidFill>
                            <a:srgbClr val="1A1A1A"/>
                          </a:solidFill>
                          <a:latin typeface="Courier New"/>
                        </a:rPr>
                        <a:t>/dev/cu.usbserial-0001</a:t>
                      </a:r>
                      <a:r>
                        <a:rPr sz="1600" b="1" i="0">
                          <a:solidFill>
                            <a:srgbClr val="1A1A1A"/>
                          </a:solidFill>
                          <a:latin typeface="Arial"/>
                        </a:rPr>
                        <a:t> or </a:t>
                      </a:r>
                      <a:r>
                        <a:rPr sz="1520" b="1" i="0">
                          <a:solidFill>
                            <a:srgbClr val="1A1A1A"/>
                          </a:solidFill>
                          <a:latin typeface="Courier New"/>
                        </a:rPr>
                        <a:t>/dev/cu.SLAB_USBtoUART</a:t>
                      </a:r>
                    </a:p>
                  </a:txBody>
                  <a:tcPr marL="73152" marR="73152" marT="27432" marB="27432" anchor="ctr">
                    <a:solidFill>
                      <a:srgbClr val="F2F2F2"/>
                    </a:solidFill>
                    <a:lnB w="9525" cap="flat" cmpd="sng" algn="ctr">
                      <a:solidFill>
                        <a:srgbClr val="BFBFBF"/>
                      </a:solidFill>
                      <a:prstDash val="solid"/>
                    </a:lnB>
                    <a:lnT w="9525"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67792">
                <a:tc>
                  <a:txBody>
                    <a:bodyPr wrap="square"/>
                    <a:lstStyle/>
                    <a:p>
                      <a:r>
                        <a:rPr sz="1600" b="0" i="0">
                          <a:solidFill>
                            <a:srgbClr val="1A1A1A"/>
                          </a:solidFill>
                          <a:latin typeface="Arial"/>
                        </a:rPr>
                        <a:t>Windows</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520" b="0" i="0">
                          <a:solidFill>
                            <a:srgbClr val="1A1A1A"/>
                          </a:solidFill>
                          <a:latin typeface="Courier New"/>
                        </a:rPr>
                        <a:t>COM3</a:t>
                      </a:r>
                      <a:r>
                        <a:rPr sz="1600" b="0" i="0">
                          <a:solidFill>
                            <a:srgbClr val="1A1A1A"/>
                          </a:solidFill>
                          <a:latin typeface="Arial"/>
                        </a:rPr>
                        <a:t>, </a:t>
                      </a:r>
                      <a:r>
                        <a:rPr sz="1520" b="0" i="0">
                          <a:solidFill>
                            <a:srgbClr val="1A1A1A"/>
                          </a:solidFill>
                          <a:latin typeface="Courier New"/>
                        </a:rPr>
                        <a:t>COM5</a:t>
                      </a:r>
                      <a:r>
                        <a:rPr sz="1600" b="0" i="0">
                          <a:solidFill>
                            <a:srgbClr val="1A1A1A"/>
                          </a:solidFill>
                          <a:latin typeface="Arial"/>
                        </a:rPr>
                        <a:t> …</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67792">
                <a:tc>
                  <a:txBody>
                    <a:bodyPr wrap="square"/>
                    <a:lstStyle/>
                    <a:p>
                      <a:r>
                        <a:rPr sz="1600" b="0" i="0">
                          <a:solidFill>
                            <a:srgbClr val="1A1A1A"/>
                          </a:solidFill>
                          <a:latin typeface="Arial"/>
                        </a:rPr>
                        <a:t>Linux</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520" b="0" i="0">
                          <a:solidFill>
                            <a:srgbClr val="1A1A1A"/>
                          </a:solidFill>
                          <a:latin typeface="Courier New"/>
                        </a:rPr>
                        <a:t>/dev/ttyUSB0</a:t>
                      </a:r>
                      <a:r>
                        <a:rPr sz="1600" b="0" i="0">
                          <a:solidFill>
                            <a:srgbClr val="1A1A1A"/>
                          </a:solidFill>
                          <a:latin typeface="Arial"/>
                        </a:rPr>
                        <a:t> (add yourself to the </a:t>
                      </a:r>
                      <a:r>
                        <a:rPr sz="1520" b="0" i="0">
                          <a:solidFill>
                            <a:srgbClr val="1A1A1A"/>
                          </a:solidFill>
                          <a:latin typeface="Courier New"/>
                        </a:rPr>
                        <a:t>dialout</a:t>
                      </a:r>
                      <a:r>
                        <a:rPr sz="1600" b="0" i="0">
                          <a:solidFill>
                            <a:srgbClr val="1A1A1A"/>
                          </a:solidFill>
                          <a:latin typeface="Arial"/>
                        </a:rPr>
                        <a:t> group)</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bl>
          </a:graphicData>
        </a:graphic>
      </p:graphicFrame>
      <p:sp>
        <p:nvSpPr>
          <p:cNvPr id="9" name="TextBox 8"/>
          <p:cNvSpPr txBox="1"/>
          <p:nvPr/>
        </p:nvSpPr>
        <p:spPr>
          <a:xfrm>
            <a:off x="7144335" y="3617468"/>
            <a:ext cx="4361559" cy="1620011"/>
          </a:xfrm>
          <a:prstGeom prst="rect">
            <a:avLst/>
          </a:prstGeom>
          <a:noFill/>
        </p:spPr>
        <p:txBody>
          <a:bodyPr wrap="square" anchor="t" lIns="0" rIns="0" tIns="18288" bIns="18288">
            <a:spAutoFit/>
          </a:bodyPr>
          <a:lstStyle/>
          <a:p>
            <a:r>
              <a:rPr sz="1700" b="0" i="0">
                <a:solidFill>
                  <a:srgbClr val="595959"/>
                </a:solidFill>
                <a:latin typeface="Arial"/>
              </a:rPr>
              <a:t>No port? It is nearly always the cable; many USB-C cables carry power only. Port appears but you will see no Serial output later? You are on the wrong connector: move to UART. Ask a helper now, not during Task 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0"/>
            <a:ext cx="7315200" cy="274320"/>
          </a:xfrm>
          <a:prstGeom prst="rect">
            <a:avLst/>
          </a:prstGeom>
          <a:noFill/>
        </p:spPr>
        <p:txBody>
          <a:bodyPr wrap="square" anchor="t" lIns="0" rIns="0" tIns="18288" bIns="18288">
            <a:spAutoFit/>
          </a:bodyPr>
          <a:lstStyle/>
          <a:p>
            <a:pPr algn="l"/>
            <a:r>
              <a:rPr sz="1000" b="0" i="0">
                <a:solidFill>
                  <a:srgbClr val="595959"/>
                </a:solidFill>
                <a:latin typeface="Arial"/>
              </a:rPr>
              <a:t>HackHardware · Getting started with the ESP32</a:t>
            </a:r>
          </a:p>
        </p:txBody>
      </p:sp>
      <p:sp>
        <p:nvSpPr>
          <p:cNvPr id="3" name="TextBox 2"/>
          <p:cNvSpPr txBox="1"/>
          <p:nvPr/>
        </p:nvSpPr>
        <p:spPr>
          <a:xfrm>
            <a:off x="10134295" y="6400800"/>
            <a:ext cx="1371600" cy="274320"/>
          </a:xfrm>
          <a:prstGeom prst="rect">
            <a:avLst/>
          </a:prstGeom>
          <a:noFill/>
        </p:spPr>
        <p:txBody>
          <a:bodyPr wrap="square" anchor="t" lIns="0" rIns="0" tIns="18288" bIns="18288">
            <a:spAutoFit/>
          </a:bodyPr>
          <a:lstStyle/>
          <a:p>
            <a:pPr algn="r"/>
            <a:r>
              <a:rPr sz="1000" b="0" i="0">
                <a:solidFill>
                  <a:srgbClr val="595959"/>
                </a:solidFill>
                <a:latin typeface="Arial"/>
              </a:rPr>
              <a:t>4</a:t>
            </a:r>
          </a:p>
        </p:txBody>
      </p:sp>
      <p:sp>
        <p:nvSpPr>
          <p:cNvPr id="4" name="TextBox 3"/>
          <p:cNvSpPr txBox="1"/>
          <p:nvPr/>
        </p:nvSpPr>
        <p:spPr>
          <a:xfrm>
            <a:off x="685800" y="457200"/>
            <a:ext cx="10820095" cy="822960"/>
          </a:xfrm>
          <a:prstGeom prst="rect">
            <a:avLst/>
          </a:prstGeom>
          <a:noFill/>
        </p:spPr>
        <p:txBody>
          <a:bodyPr wrap="square" anchor="b" lIns="0" rIns="0" tIns="18288" bIns="18288">
            <a:spAutoFit/>
          </a:bodyPr>
          <a:lstStyle/>
          <a:p>
            <a:pPr algn="l"/>
            <a:r>
              <a:rPr sz="3000" b="1" i="0">
                <a:solidFill>
                  <a:srgbClr val="1A1A1A"/>
                </a:solidFill>
                <a:latin typeface="Arial"/>
              </a:rPr>
              <a:t>What a microcontroller is</a:t>
            </a:r>
          </a:p>
        </p:txBody>
      </p:sp>
      <p:cxnSp>
        <p:nvCxnSpPr>
          <p:cNvPr id="5" name="Connector 4"/>
          <p:cNvCxnSpPr/>
          <p:nvPr/>
        </p:nvCxnSpPr>
        <p:spPr>
          <a:xfrm>
            <a:off x="685800" y="1298448"/>
            <a:ext cx="10820095" cy="0"/>
          </a:xfrm>
          <a:prstGeom prst="line">
            <a:avLst/>
          </a:prstGeom>
          <a:ln w="9525">
            <a:solidFill>
              <a:srgbClr val="BFBFBF"/>
            </a:solidFill>
          </a:ln>
        </p:spPr>
      </p:cxnSp>
      <p:graphicFrame>
        <p:nvGraphicFramePr>
          <p:cNvPr id="6" name="Table 5"/>
          <p:cNvGraphicFramePr>
            <a:graphicFrameLocks noGrp="1"/>
          </p:cNvGraphicFramePr>
          <p:nvPr/>
        </p:nvGraphicFramePr>
        <p:xfrm>
          <a:off x="685800" y="1417320"/>
          <a:ext cx="10820094" cy="3310128"/>
        </p:xfrm>
        <a:graphic>
          <a:graphicData uri="http://schemas.openxmlformats.org/drawingml/2006/table">
            <a:tbl>
              <a:tblPr firstRow="1" bandRow="0">
                <a:tableStyleId>{2D5ABB26-0587-4C30-8999-92F81FD0307C}</a:tableStyleId>
              </a:tblPr>
              <a:tblGrid>
                <a:gridCol w="1947617"/>
                <a:gridCol w="3895234"/>
                <a:gridCol w="4977243"/>
              </a:tblGrid>
              <a:tr h="367792">
                <a:tc>
                  <a:txBody>
                    <a:bodyPr wrap="square"/>
                    <a:lstStyle/>
                    <a:p/>
                  </a:txBody>
                  <a:tcPr marL="73152" marR="73152" marT="27432" marB="27432" anchor="ctr">
                    <a:solidFill>
                      <a:srgbClr val="F2F2F2"/>
                    </a:solidFill>
                    <a:lnB w="9525" cap="flat" cmpd="sng" algn="ctr">
                      <a:solidFill>
                        <a:srgbClr val="BFBFBF"/>
                      </a:solidFill>
                      <a:prstDash val="solid"/>
                    </a:lnB>
                    <a:lnT w="9525"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600" b="1" i="0">
                          <a:solidFill>
                            <a:srgbClr val="1A1A1A"/>
                          </a:solidFill>
                          <a:latin typeface="Arial"/>
                        </a:rPr>
                        <a:t>Your laptop</a:t>
                      </a:r>
                    </a:p>
                  </a:txBody>
                  <a:tcPr marL="73152" marR="73152" marT="27432" marB="27432" anchor="ctr">
                    <a:solidFill>
                      <a:srgbClr val="F2F2F2"/>
                    </a:solidFill>
                    <a:lnB w="9525" cap="flat" cmpd="sng" algn="ctr">
                      <a:solidFill>
                        <a:srgbClr val="BFBFBF"/>
                      </a:solidFill>
                      <a:prstDash val="solid"/>
                    </a:lnB>
                    <a:lnT w="9525"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600" b="1" i="0">
                          <a:solidFill>
                            <a:srgbClr val="1A1A1A"/>
                          </a:solidFill>
                          <a:latin typeface="Arial"/>
                        </a:rPr>
                        <a:t>ESP32 dev board</a:t>
                      </a:r>
                    </a:p>
                  </a:txBody>
                  <a:tcPr marL="73152" marR="73152" marT="27432" marB="27432" anchor="ctr">
                    <a:solidFill>
                      <a:srgbClr val="F2F2F2"/>
                    </a:solidFill>
                    <a:lnB w="9525" cap="flat" cmpd="sng" algn="ctr">
                      <a:solidFill>
                        <a:srgbClr val="BFBFBF"/>
                      </a:solidFill>
                      <a:prstDash val="solid"/>
                    </a:lnB>
                    <a:lnT w="9525"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67792">
                <a:tc>
                  <a:txBody>
                    <a:bodyPr wrap="square"/>
                    <a:lstStyle/>
                    <a:p>
                      <a:r>
                        <a:rPr sz="1600" b="0" i="0">
                          <a:solidFill>
                            <a:srgbClr val="1A1A1A"/>
                          </a:solidFill>
                          <a:latin typeface="Arial"/>
                        </a:rPr>
                        <a:t>Processor</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600" b="0" i="0">
                          <a:solidFill>
                            <a:srgbClr val="1A1A1A"/>
                          </a:solidFill>
                          <a:latin typeface="Arial"/>
                        </a:rPr>
                        <a:t>4–12 cores at 3–5 GHz</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600" b="0" i="0">
                          <a:solidFill>
                            <a:srgbClr val="1A1A1A"/>
                          </a:solidFill>
                          <a:latin typeface="Arial"/>
                        </a:rPr>
                        <a:t>2 cores at 240 MHz</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67792">
                <a:tc>
                  <a:txBody>
                    <a:bodyPr wrap="square"/>
                    <a:lstStyle/>
                    <a:p>
                      <a:r>
                        <a:rPr sz="1600" b="0" i="0">
                          <a:solidFill>
                            <a:srgbClr val="1A1A1A"/>
                          </a:solidFill>
                          <a:latin typeface="Arial"/>
                        </a:rPr>
                        <a:t>Memory</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600" b="0" i="0">
                          <a:solidFill>
                            <a:srgbClr val="1A1A1A"/>
                          </a:solidFill>
                          <a:latin typeface="Arial"/>
                        </a:rPr>
                        <a:t>8–32 GB RAM</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600" b="0" i="0">
                          <a:solidFill>
                            <a:srgbClr val="1A1A1A"/>
                          </a:solidFill>
                          <a:latin typeface="Arial"/>
                        </a:rPr>
                        <a:t>512 KB SRAM (+ 8 MB PSRAM on this board)</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67792">
                <a:tc>
                  <a:txBody>
                    <a:bodyPr wrap="square"/>
                    <a:lstStyle/>
                    <a:p>
                      <a:r>
                        <a:rPr sz="1600" b="0" i="0">
                          <a:solidFill>
                            <a:srgbClr val="1A1A1A"/>
                          </a:solidFill>
                          <a:latin typeface="Arial"/>
                        </a:rPr>
                        <a:t>Storage</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600" b="0" i="0">
                          <a:solidFill>
                            <a:srgbClr val="1A1A1A"/>
                          </a:solidFill>
                          <a:latin typeface="Arial"/>
                        </a:rPr>
                        <a:t>512 GB SSD</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600" b="0" i="0">
                          <a:solidFill>
                            <a:srgbClr val="1A1A1A"/>
                          </a:solidFill>
                          <a:latin typeface="Arial"/>
                        </a:rPr>
                        <a:t>8 MB flash (holds your program)</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67792">
                <a:tc>
                  <a:txBody>
                    <a:bodyPr wrap="square"/>
                    <a:lstStyle/>
                    <a:p>
                      <a:r>
                        <a:rPr sz="1600" b="0" i="0">
                          <a:solidFill>
                            <a:srgbClr val="1A1A1A"/>
                          </a:solidFill>
                          <a:latin typeface="Arial"/>
                        </a:rPr>
                        <a:t>Operating system</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600" b="0" i="0">
                          <a:solidFill>
                            <a:srgbClr val="1A1A1A"/>
                          </a:solidFill>
                          <a:latin typeface="Arial"/>
                        </a:rPr>
                        <a:t>macOS / Windows / Linux, many processes</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600" b="0" i="0">
                          <a:solidFill>
                            <a:srgbClr val="1A1A1A"/>
                          </a:solidFill>
                          <a:latin typeface="Arial"/>
                        </a:rPr>
                        <a:t>None you interact with. One program, started at power-on, runs until power is removed.</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67792">
                <a:tc>
                  <a:txBody>
                    <a:bodyPr wrap="square"/>
                    <a:lstStyle/>
                    <a:p>
                      <a:r>
                        <a:rPr sz="1600" b="0" i="0">
                          <a:solidFill>
                            <a:srgbClr val="1A1A1A"/>
                          </a:solidFill>
                          <a:latin typeface="Arial"/>
                        </a:rPr>
                        <a:t>Talks to</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600" b="0" i="0">
                          <a:solidFill>
                            <a:srgbClr val="1A1A1A"/>
                          </a:solidFill>
                          <a:latin typeface="Arial"/>
                        </a:rPr>
                        <a:t>screen, keyboard, disk, network</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600" b="0" i="0">
                          <a:solidFill>
                            <a:srgbClr val="1A1A1A"/>
                          </a:solidFill>
                          <a:latin typeface="Arial"/>
                        </a:rPr>
                        <a:t>pins: 3.3 V on or off, voltages, pulses. Plus Wi-Fi and Bluetooth.</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67792">
                <a:tc>
                  <a:txBody>
                    <a:bodyPr wrap="square"/>
                    <a:lstStyle/>
                    <a:p>
                      <a:r>
                        <a:rPr sz="1600" b="0" i="0">
                          <a:solidFill>
                            <a:srgbClr val="1A1A1A"/>
                          </a:solidFill>
                          <a:latin typeface="Arial"/>
                        </a:rPr>
                        <a:t>Boot time</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600" b="0" i="0">
                          <a:solidFill>
                            <a:srgbClr val="1A1A1A"/>
                          </a:solidFill>
                          <a:latin typeface="Arial"/>
                        </a:rPr>
                        <a:t>10–30 s</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600" b="0" i="0">
                          <a:solidFill>
                            <a:srgbClr val="1A1A1A"/>
                          </a:solidFill>
                          <a:latin typeface="Arial"/>
                        </a:rPr>
                        <a:t>about 300 ms</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67792">
                <a:tc>
                  <a:txBody>
                    <a:bodyPr wrap="square"/>
                    <a:lstStyle/>
                    <a:p>
                      <a:r>
                        <a:rPr sz="1600" b="0" i="0">
                          <a:solidFill>
                            <a:srgbClr val="1A1A1A"/>
                          </a:solidFill>
                          <a:latin typeface="Arial"/>
                        </a:rPr>
                        <a:t>Power</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600" b="0" i="0">
                          <a:solidFill>
                            <a:srgbClr val="1A1A1A"/>
                          </a:solidFill>
                          <a:latin typeface="Arial"/>
                        </a:rPr>
                        <a:t>15–60 W</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600" b="0" i="0">
                          <a:solidFill>
                            <a:srgbClr val="1A1A1A"/>
                          </a:solidFill>
                          <a:latin typeface="Arial"/>
                        </a:rPr>
                        <a:t>0.3 W active, 25 µW asleep</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67792">
                <a:tc>
                  <a:txBody>
                    <a:bodyPr wrap="square"/>
                    <a:lstStyle/>
                    <a:p>
                      <a:r>
                        <a:rPr sz="1600" b="0" i="0">
                          <a:solidFill>
                            <a:srgbClr val="1A1A1A"/>
                          </a:solidFill>
                          <a:latin typeface="Arial"/>
                        </a:rPr>
                        <a:t>Price</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600" b="0" i="0">
                          <a:solidFill>
                            <a:srgbClr val="1A1A1A"/>
                          </a:solidFill>
                          <a:latin typeface="Arial"/>
                        </a:rPr>
                        <a:t>$1000+</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600" b="0" i="0">
                          <a:solidFill>
                            <a:srgbClr val="1A1A1A"/>
                          </a:solidFill>
                          <a:latin typeface="Arial"/>
                        </a:rPr>
                        <a:t>$4–15</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bl>
          </a:graphicData>
        </a:graphic>
      </p:graphicFrame>
      <p:sp>
        <p:nvSpPr>
          <p:cNvPr id="7" name="TextBox 6"/>
          <p:cNvSpPr txBox="1"/>
          <p:nvPr/>
        </p:nvSpPr>
        <p:spPr>
          <a:xfrm>
            <a:off x="685800" y="5389879"/>
            <a:ext cx="10820095" cy="600963"/>
          </a:xfrm>
          <a:prstGeom prst="rect">
            <a:avLst/>
          </a:prstGeom>
          <a:noFill/>
        </p:spPr>
        <p:txBody>
          <a:bodyPr wrap="square" anchor="t" lIns="0" rIns="0" tIns="18288" bIns="18288">
            <a:spAutoFit/>
          </a:bodyPr>
          <a:lstStyle/>
          <a:p>
            <a:r>
              <a:rPr sz="1700" b="0" i="0">
                <a:solidFill>
                  <a:srgbClr val="595959"/>
                </a:solidFill>
                <a:latin typeface="Arial"/>
              </a:rPr>
              <a:t>The point is not that it is small. It is that it is deterministic and directly wired to the physical world: your code decides what a pin does, and nothing else is competing for the processor.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0"/>
            <a:ext cx="7315200" cy="274320"/>
          </a:xfrm>
          <a:prstGeom prst="rect">
            <a:avLst/>
          </a:prstGeom>
          <a:noFill/>
        </p:spPr>
        <p:txBody>
          <a:bodyPr wrap="square" anchor="t" lIns="0" rIns="0" tIns="18288" bIns="18288">
            <a:spAutoFit/>
          </a:bodyPr>
          <a:lstStyle/>
          <a:p>
            <a:pPr algn="l"/>
            <a:r>
              <a:rPr sz="1000" b="0" i="0">
                <a:solidFill>
                  <a:srgbClr val="595959"/>
                </a:solidFill>
                <a:latin typeface="Arial"/>
              </a:rPr>
              <a:t>HackHardware · Getting started with the ESP32</a:t>
            </a:r>
          </a:p>
        </p:txBody>
      </p:sp>
      <p:sp>
        <p:nvSpPr>
          <p:cNvPr id="3" name="TextBox 2"/>
          <p:cNvSpPr txBox="1"/>
          <p:nvPr/>
        </p:nvSpPr>
        <p:spPr>
          <a:xfrm>
            <a:off x="10134295" y="6400800"/>
            <a:ext cx="1371600" cy="274320"/>
          </a:xfrm>
          <a:prstGeom prst="rect">
            <a:avLst/>
          </a:prstGeom>
          <a:noFill/>
        </p:spPr>
        <p:txBody>
          <a:bodyPr wrap="square" anchor="t" lIns="0" rIns="0" tIns="18288" bIns="18288">
            <a:spAutoFit/>
          </a:bodyPr>
          <a:lstStyle/>
          <a:p>
            <a:pPr algn="r"/>
            <a:r>
              <a:rPr sz="1000" b="0" i="0">
                <a:solidFill>
                  <a:srgbClr val="595959"/>
                </a:solidFill>
                <a:latin typeface="Arial"/>
              </a:rPr>
              <a:t>5</a:t>
            </a:r>
          </a:p>
        </p:txBody>
      </p:sp>
      <p:sp>
        <p:nvSpPr>
          <p:cNvPr id="4" name="TextBox 3"/>
          <p:cNvSpPr txBox="1"/>
          <p:nvPr/>
        </p:nvSpPr>
        <p:spPr>
          <a:xfrm>
            <a:off x="685800" y="457200"/>
            <a:ext cx="10820095" cy="822960"/>
          </a:xfrm>
          <a:prstGeom prst="rect">
            <a:avLst/>
          </a:prstGeom>
          <a:noFill/>
        </p:spPr>
        <p:txBody>
          <a:bodyPr wrap="square" anchor="b" lIns="0" rIns="0" tIns="18288" bIns="18288">
            <a:spAutoFit/>
          </a:bodyPr>
          <a:lstStyle/>
          <a:p>
            <a:pPr algn="l"/>
            <a:r>
              <a:rPr sz="3000" b="1" i="0">
                <a:solidFill>
                  <a:srgbClr val="1A1A1A"/>
                </a:solidFill>
                <a:latin typeface="Arial"/>
              </a:rPr>
              <a:t>What is inside the chip</a:t>
            </a:r>
          </a:p>
        </p:txBody>
      </p:sp>
      <p:cxnSp>
        <p:nvCxnSpPr>
          <p:cNvPr id="5" name="Connector 4"/>
          <p:cNvCxnSpPr/>
          <p:nvPr/>
        </p:nvCxnSpPr>
        <p:spPr>
          <a:xfrm>
            <a:off x="685800" y="1298448"/>
            <a:ext cx="10820095" cy="0"/>
          </a:xfrm>
          <a:prstGeom prst="line">
            <a:avLst/>
          </a:prstGeom>
          <a:ln w="9525">
            <a:solidFill>
              <a:srgbClr val="BFBFBF"/>
            </a:solidFill>
          </a:ln>
        </p:spPr>
      </p:cxnSp>
      <p:graphicFrame>
        <p:nvGraphicFramePr>
          <p:cNvPr id="6" name="Table 5"/>
          <p:cNvGraphicFramePr>
            <a:graphicFrameLocks noGrp="1"/>
          </p:cNvGraphicFramePr>
          <p:nvPr/>
        </p:nvGraphicFramePr>
        <p:xfrm>
          <a:off x="685800" y="1417320"/>
          <a:ext cx="6309176" cy="3894468"/>
        </p:xfrm>
        <a:graphic>
          <a:graphicData uri="http://schemas.openxmlformats.org/drawingml/2006/table">
            <a:tbl>
              <a:tblPr firstRow="1" bandRow="0">
                <a:tableStyleId>{2D5ABB26-0587-4C30-8999-92F81FD0307C}</a:tableStyleId>
              </a:tblPr>
              <a:tblGrid>
                <a:gridCol w="1261835"/>
                <a:gridCol w="5047341"/>
              </a:tblGrid>
              <a:tr h="324539">
                <a:tc>
                  <a:txBody>
                    <a:bodyPr wrap="square"/>
                    <a:lstStyle/>
                    <a:p>
                      <a:r>
                        <a:rPr sz="1311" b="1" i="0">
                          <a:solidFill>
                            <a:srgbClr val="1A1A1A"/>
                          </a:solidFill>
                          <a:latin typeface="Arial"/>
                        </a:rPr>
                        <a:t>Block</a:t>
                      </a:r>
                    </a:p>
                  </a:txBody>
                  <a:tcPr marL="73152" marR="73152" marT="27432" marB="27432" anchor="ctr">
                    <a:solidFill>
                      <a:srgbClr val="F2F2F2"/>
                    </a:solidFill>
                    <a:lnB w="9525" cap="flat" cmpd="sng" algn="ctr">
                      <a:solidFill>
                        <a:srgbClr val="BFBFBF"/>
                      </a:solidFill>
                      <a:prstDash val="solid"/>
                    </a:lnB>
                    <a:lnT w="9525"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311" b="1" i="0">
                          <a:solidFill>
                            <a:srgbClr val="1A1A1A"/>
                          </a:solidFill>
                          <a:latin typeface="Arial"/>
                        </a:rPr>
                        <a:t>ESP32-S3 (on your board)</a:t>
                      </a:r>
                    </a:p>
                  </a:txBody>
                  <a:tcPr marL="73152" marR="73152" marT="27432" marB="27432" anchor="ctr">
                    <a:solidFill>
                      <a:srgbClr val="F2F2F2"/>
                    </a:solidFill>
                    <a:lnB w="9525" cap="flat" cmpd="sng" algn="ctr">
                      <a:solidFill>
                        <a:srgbClr val="BFBFBF"/>
                      </a:solidFill>
                      <a:prstDash val="solid"/>
                    </a:lnB>
                    <a:lnT w="9525"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24539">
                <a:tc>
                  <a:txBody>
                    <a:bodyPr wrap="square"/>
                    <a:lstStyle/>
                    <a:p>
                      <a:r>
                        <a:rPr sz="1311" b="0" i="0">
                          <a:solidFill>
                            <a:srgbClr val="1A1A1A"/>
                          </a:solidFill>
                          <a:latin typeface="Arial"/>
                        </a:rPr>
                        <a:t>CPU</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311" b="0" i="0">
                          <a:solidFill>
                            <a:srgbClr val="1A1A1A"/>
                          </a:solidFill>
                          <a:latin typeface="Arial"/>
                        </a:rPr>
                        <a:t>2 × Xtensa LX7, 32-bit, up to 240 MHz, vector instructions</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24539">
                <a:tc>
                  <a:txBody>
                    <a:bodyPr wrap="square"/>
                    <a:lstStyle/>
                    <a:p>
                      <a:r>
                        <a:rPr sz="1311" b="0" i="0">
                          <a:solidFill>
                            <a:srgbClr val="1A1A1A"/>
                          </a:solidFill>
                          <a:latin typeface="Arial"/>
                        </a:rPr>
                        <a:t>SRAM</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311" b="0" i="0">
                          <a:solidFill>
                            <a:srgbClr val="1A1A1A"/>
                          </a:solidFill>
                          <a:latin typeface="Arial"/>
                        </a:rPr>
                        <a:t>512 KB (about 300 KB free once Wi-Fi is up)</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24539">
                <a:tc>
                  <a:txBody>
                    <a:bodyPr wrap="square"/>
                    <a:lstStyle/>
                    <a:p>
                      <a:r>
                        <a:rPr sz="1311" b="0" i="0">
                          <a:solidFill>
                            <a:srgbClr val="1A1A1A"/>
                          </a:solidFill>
                          <a:latin typeface="Arial"/>
                        </a:rPr>
                        <a:t>PSRAM</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311" b="0" i="0">
                          <a:solidFill>
                            <a:srgbClr val="1A1A1A"/>
                          </a:solidFill>
                          <a:latin typeface="Arial"/>
                        </a:rPr>
                        <a:t>8 MB in the module (R8 variants): images, audio, big buffers</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24539">
                <a:tc>
                  <a:txBody>
                    <a:bodyPr wrap="square"/>
                    <a:lstStyle/>
                    <a:p>
                      <a:r>
                        <a:rPr sz="1311" b="0" i="0">
                          <a:solidFill>
                            <a:srgbClr val="1A1A1A"/>
                          </a:solidFill>
                          <a:latin typeface="Arial"/>
                        </a:rPr>
                        <a:t>ROM / RTC RAM</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311" b="0" i="0">
                          <a:solidFill>
                            <a:srgbClr val="1A1A1A"/>
                          </a:solidFill>
                          <a:latin typeface="Arial"/>
                        </a:rPr>
                        <a:t>384 KB bootloader ROM · 16 KB RTC memory that survives deep sleep</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24539">
                <a:tc>
                  <a:txBody>
                    <a:bodyPr wrap="square"/>
                    <a:lstStyle/>
                    <a:p>
                      <a:r>
                        <a:rPr sz="1311" b="0" i="0">
                          <a:solidFill>
                            <a:srgbClr val="1A1A1A"/>
                          </a:solidFill>
                          <a:latin typeface="Arial"/>
                        </a:rPr>
                        <a:t>Flash</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311" b="0" i="0">
                          <a:solidFill>
                            <a:srgbClr val="1A1A1A"/>
                          </a:solidFill>
                          <a:latin typeface="Arial"/>
                        </a:rPr>
                        <a:t>8 or 16 MB in the module, executed in place through a cache</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24539">
                <a:tc>
                  <a:txBody>
                    <a:bodyPr wrap="square"/>
                    <a:lstStyle/>
                    <a:p>
                      <a:r>
                        <a:rPr sz="1311" b="0" i="0">
                          <a:solidFill>
                            <a:srgbClr val="1A1A1A"/>
                          </a:solidFill>
                          <a:latin typeface="Arial"/>
                        </a:rPr>
                        <a:t>Radio</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311" b="0" i="0">
                          <a:solidFill>
                            <a:srgbClr val="1A1A1A"/>
                          </a:solidFill>
                          <a:latin typeface="Arial"/>
                        </a:rPr>
                        <a:t>Wi-Fi 802.11 b/g/n, 2.4 GHz only · Bluetooth 5 LE (no Bluetooth Classic)</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24539">
                <a:tc>
                  <a:txBody>
                    <a:bodyPr wrap="square"/>
                    <a:lstStyle/>
                    <a:p>
                      <a:r>
                        <a:rPr sz="1311" b="0" i="0">
                          <a:solidFill>
                            <a:srgbClr val="1A1A1A"/>
                          </a:solidFill>
                          <a:latin typeface="Arial"/>
                        </a:rPr>
                        <a:t>USB</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311" b="0" i="0">
                          <a:solidFill>
                            <a:srgbClr val="1A1A1A"/>
                          </a:solidFill>
                          <a:latin typeface="Arial"/>
                        </a:rPr>
                        <a:t>native USB OTG: serial, JTAG debugging, or act as a keyboard</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24539">
                <a:tc>
                  <a:txBody>
                    <a:bodyPr wrap="square"/>
                    <a:lstStyle/>
                    <a:p>
                      <a:r>
                        <a:rPr sz="1311" b="0" i="0">
                          <a:solidFill>
                            <a:srgbClr val="1A1A1A"/>
                          </a:solidFill>
                          <a:latin typeface="Arial"/>
                        </a:rPr>
                        <a:t>Digital I/O</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311" b="0" i="0">
                          <a:solidFill>
                            <a:srgbClr val="1A1A1A"/>
                          </a:solidFill>
                          <a:latin typeface="Arial"/>
                        </a:rPr>
                        <a:t>45 GPIO pins (not all usable; see the next slides)</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24539">
                <a:tc>
                  <a:txBody>
                    <a:bodyPr wrap="square"/>
                    <a:lstStyle/>
                    <a:p>
                      <a:r>
                        <a:rPr sz="1311" b="0" i="0">
                          <a:solidFill>
                            <a:srgbClr val="1A1A1A"/>
                          </a:solidFill>
                          <a:latin typeface="Arial"/>
                        </a:rPr>
                        <a:t>Analog</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311" b="0" i="0">
                          <a:solidFill>
                            <a:srgbClr val="1A1A1A"/>
                          </a:solidFill>
                          <a:latin typeface="Arial"/>
                        </a:rPr>
                        <a:t>2 × 12-bit ADC, 20 channels · no DAC</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24539">
                <a:tc>
                  <a:txBody>
                    <a:bodyPr wrap="square"/>
                    <a:lstStyle/>
                    <a:p>
                      <a:r>
                        <a:rPr sz="1311" b="0" i="0">
                          <a:solidFill>
                            <a:srgbClr val="1A1A1A"/>
                          </a:solidFill>
                          <a:latin typeface="Arial"/>
                        </a:rPr>
                        <a:t>Other</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311" b="0" i="0">
                          <a:solidFill>
                            <a:srgbClr val="1A1A1A"/>
                          </a:solidFill>
                          <a:latin typeface="Arial"/>
                        </a:rPr>
                        <a:t>14 capacitive touch pads, temperature sensor</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24539">
                <a:tc>
                  <a:txBody>
                    <a:bodyPr wrap="square"/>
                    <a:lstStyle/>
                    <a:p>
                      <a:r>
                        <a:rPr sz="1311" b="0" i="0">
                          <a:solidFill>
                            <a:srgbClr val="1A1A1A"/>
                          </a:solidFill>
                          <a:latin typeface="Arial"/>
                        </a:rPr>
                        <a:t>Peripherals</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311" b="0" i="0">
                          <a:solidFill>
                            <a:srgbClr val="1A1A1A"/>
                          </a:solidFill>
                          <a:latin typeface="Arial"/>
                        </a:rPr>
                        <a:t>3 UART, 2 I²C, 4 SPI, 2 I²S, TWAI (CAN), 8 PWM channels, RMT, LCD/camera, SD/MMC</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bl>
          </a:graphicData>
        </a:graphic>
      </p:graphicFrame>
      <p:sp>
        <p:nvSpPr>
          <p:cNvPr id="7" name="TextBox 6"/>
          <p:cNvSpPr txBox="1"/>
          <p:nvPr/>
        </p:nvSpPr>
        <p:spPr>
          <a:xfrm>
            <a:off x="7360737" y="1417320"/>
            <a:ext cx="4145158" cy="1074059"/>
          </a:xfrm>
          <a:prstGeom prst="rect">
            <a:avLst/>
          </a:prstGeom>
          <a:noFill/>
        </p:spPr>
        <p:txBody>
          <a:bodyPr wrap="square" anchor="t" lIns="0" rIns="0" tIns="18288" bIns="18288">
            <a:spAutoFit/>
          </a:bodyPr>
          <a:lstStyle/>
          <a:p>
            <a:r>
              <a:rPr sz="1311" b="0" i="0">
                <a:solidFill>
                  <a:srgbClr val="595959"/>
                </a:solidFill>
                <a:latin typeface="Arial"/>
              </a:rPr>
              <a:t>The original </a:t>
            </a:r>
            <a:r>
              <a:rPr sz="1311" b="1" i="0">
                <a:solidFill>
                  <a:srgbClr val="595959"/>
                </a:solidFill>
                <a:latin typeface="Arial"/>
              </a:rPr>
              <a:t>ESP32</a:t>
            </a:r>
            <a:r>
              <a:rPr sz="1311" b="0" i="0">
                <a:solidFill>
                  <a:srgbClr val="595959"/>
                </a:solidFill>
                <a:latin typeface="Arial"/>
              </a:rPr>
              <a:t> (2016) is the cheaper sibling in most tutorials: LX6 cores, Bluetooth Classic, 34 GPIO, no native USB. Today's code runs on it with three lines changed in </a:t>
            </a:r>
            <a:r>
              <a:rPr sz="1245" b="0" i="0">
                <a:solidFill>
                  <a:srgbClr val="595959"/>
                </a:solidFill>
                <a:latin typeface="Courier New"/>
              </a:rPr>
              <a:t>config.h</a:t>
            </a:r>
            <a:r>
              <a:rPr sz="1311" b="0" i="0">
                <a:solidFill>
                  <a:srgbClr val="595959"/>
                </a:solidFill>
                <a:latin typeface="Arial"/>
              </a:rPr>
              <a:t>. </a:t>
            </a:r>
            <a:r>
              <a:rPr sz="1311" b="1" i="0">
                <a:solidFill>
                  <a:srgbClr val="595959"/>
                </a:solidFill>
                <a:latin typeface="Arial"/>
              </a:rPr>
              <a:t>ESP32-C3 / C6</a:t>
            </a:r>
            <a:r>
              <a:rPr sz="1311" b="0" i="0">
                <a:solidFill>
                  <a:srgbClr val="595959"/>
                </a:solidFill>
                <a:latin typeface="Arial"/>
              </a:rPr>
              <a:t> are the small RISC-V ones.</a:t>
            </a:r>
          </a:p>
        </p:txBody>
      </p:sp>
      <p:sp>
        <p:nvSpPr>
          <p:cNvPr id="8" name="TextBox 7"/>
          <p:cNvSpPr txBox="1"/>
          <p:nvPr/>
        </p:nvSpPr>
        <p:spPr>
          <a:xfrm>
            <a:off x="7360737" y="2729123"/>
            <a:ext cx="4145158" cy="720316"/>
          </a:xfrm>
          <a:prstGeom prst="rect">
            <a:avLst/>
          </a:prstGeom>
          <a:noFill/>
        </p:spPr>
        <p:txBody>
          <a:bodyPr wrap="square" anchor="t" lIns="0" rIns="0" tIns="18288" bIns="18288">
            <a:spAutoFit/>
          </a:bodyPr>
          <a:lstStyle/>
          <a:p>
            <a:r>
              <a:rPr sz="1398" b="0" i="0">
                <a:solidFill>
                  <a:srgbClr val="595959"/>
                </a:solidFill>
                <a:latin typeface="Arial"/>
              </a:rPr>
              <a:t>Arduino for ESP32 is a layer on top of Espressif's own framework, </a:t>
            </a:r>
            <a:r>
              <a:rPr sz="1398" b="1" i="0">
                <a:solidFill>
                  <a:srgbClr val="595959"/>
                </a:solidFill>
                <a:latin typeface="Arial"/>
              </a:rPr>
              <a:t>ESP-IDF 5.5</a:t>
            </a:r>
            <a:r>
              <a:rPr sz="1398" b="0" i="0">
                <a:solidFill>
                  <a:srgbClr val="595959"/>
                </a:solidFill>
                <a:latin typeface="Arial"/>
              </a:rPr>
              <a:t>. Every Arduino call ends in an ESP-IDF call; you can mix them freely.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0"/>
            <a:ext cx="7315200" cy="274320"/>
          </a:xfrm>
          <a:prstGeom prst="rect">
            <a:avLst/>
          </a:prstGeom>
          <a:noFill/>
        </p:spPr>
        <p:txBody>
          <a:bodyPr wrap="square" anchor="t" lIns="0" rIns="0" tIns="18288" bIns="18288">
            <a:spAutoFit/>
          </a:bodyPr>
          <a:lstStyle/>
          <a:p>
            <a:pPr algn="l"/>
            <a:r>
              <a:rPr sz="1000" b="0" i="0">
                <a:solidFill>
                  <a:srgbClr val="595959"/>
                </a:solidFill>
                <a:latin typeface="Arial"/>
              </a:rPr>
              <a:t>HackHardware · Getting started with the ESP32</a:t>
            </a:r>
          </a:p>
        </p:txBody>
      </p:sp>
      <p:sp>
        <p:nvSpPr>
          <p:cNvPr id="3" name="TextBox 2"/>
          <p:cNvSpPr txBox="1"/>
          <p:nvPr/>
        </p:nvSpPr>
        <p:spPr>
          <a:xfrm>
            <a:off x="10134295" y="6400800"/>
            <a:ext cx="1371600" cy="274320"/>
          </a:xfrm>
          <a:prstGeom prst="rect">
            <a:avLst/>
          </a:prstGeom>
          <a:noFill/>
        </p:spPr>
        <p:txBody>
          <a:bodyPr wrap="square" anchor="t" lIns="0" rIns="0" tIns="18288" bIns="18288">
            <a:spAutoFit/>
          </a:bodyPr>
          <a:lstStyle/>
          <a:p>
            <a:pPr algn="r"/>
            <a:r>
              <a:rPr sz="1000" b="0" i="0">
                <a:solidFill>
                  <a:srgbClr val="595959"/>
                </a:solidFill>
                <a:latin typeface="Arial"/>
              </a:rPr>
              <a:t>6</a:t>
            </a:r>
          </a:p>
        </p:txBody>
      </p:sp>
      <p:sp>
        <p:nvSpPr>
          <p:cNvPr id="4" name="TextBox 3"/>
          <p:cNvSpPr txBox="1"/>
          <p:nvPr/>
        </p:nvSpPr>
        <p:spPr>
          <a:xfrm>
            <a:off x="685800" y="457200"/>
            <a:ext cx="10820095" cy="822960"/>
          </a:xfrm>
          <a:prstGeom prst="rect">
            <a:avLst/>
          </a:prstGeom>
          <a:noFill/>
        </p:spPr>
        <p:txBody>
          <a:bodyPr wrap="square" anchor="b" lIns="0" rIns="0" tIns="18288" bIns="18288">
            <a:spAutoFit/>
          </a:bodyPr>
          <a:lstStyle/>
          <a:p>
            <a:pPr algn="l"/>
            <a:r>
              <a:rPr sz="3000" b="1" i="0">
                <a:solidFill>
                  <a:srgbClr val="1A1A1A"/>
                </a:solidFill>
                <a:latin typeface="Arial"/>
              </a:rPr>
              <a:t>Chip, module, board</a:t>
            </a:r>
          </a:p>
        </p:txBody>
      </p:sp>
      <p:cxnSp>
        <p:nvCxnSpPr>
          <p:cNvPr id="5" name="Connector 4"/>
          <p:cNvCxnSpPr/>
          <p:nvPr/>
        </p:nvCxnSpPr>
        <p:spPr>
          <a:xfrm>
            <a:off x="685800" y="1298448"/>
            <a:ext cx="10820095" cy="0"/>
          </a:xfrm>
          <a:prstGeom prst="line">
            <a:avLst/>
          </a:prstGeom>
          <a:ln w="9525">
            <a:solidFill>
              <a:srgbClr val="BFBFBF"/>
            </a:solidFill>
          </a:ln>
        </p:spPr>
      </p:cxnSp>
      <p:sp>
        <p:nvSpPr>
          <p:cNvPr id="6" name="Rectangle 5"/>
          <p:cNvSpPr/>
          <p:nvPr/>
        </p:nvSpPr>
        <p:spPr>
          <a:xfrm>
            <a:off x="685800" y="1463040"/>
            <a:ext cx="10820095" cy="3566160"/>
          </a:xfrm>
          <a:prstGeom prst="rect">
            <a:avLst/>
          </a:prstGeom>
          <a:noFill/>
          <a:ln w="12700">
            <a:solidFill>
              <a:srgbClr val="1A1A1A"/>
            </a:solidFill>
          </a:ln>
          <a:effectLst/>
        </p:spPr>
        <p:txBody>
          <a:bodyPr rtlCol="0" anchor="ctr"/>
          <a:lstStyle/>
          <a:p>
            <a:pPr algn="ctr"/>
          </a:p>
        </p:txBody>
      </p:sp>
      <p:sp>
        <p:nvSpPr>
          <p:cNvPr id="7" name="TextBox 6"/>
          <p:cNvSpPr txBox="1"/>
          <p:nvPr/>
        </p:nvSpPr>
        <p:spPr>
          <a:xfrm>
            <a:off x="795528" y="1517904"/>
            <a:ext cx="10820095" cy="274320"/>
          </a:xfrm>
          <a:prstGeom prst="rect">
            <a:avLst/>
          </a:prstGeom>
          <a:noFill/>
        </p:spPr>
        <p:txBody>
          <a:bodyPr wrap="square" anchor="t" lIns="0" rIns="0" tIns="18288" bIns="18288">
            <a:spAutoFit/>
          </a:bodyPr>
          <a:lstStyle/>
          <a:p>
            <a:pPr algn="l"/>
            <a:r>
              <a:rPr sz="1200" b="1" i="0">
                <a:solidFill>
                  <a:srgbClr val="1A1A1A"/>
                </a:solidFill>
                <a:latin typeface="Arial"/>
              </a:rPr>
              <a:t>Development board  ESP32-S3-DevKitC-1  (what you hold)</a:t>
            </a:r>
          </a:p>
        </p:txBody>
      </p:sp>
      <p:sp>
        <p:nvSpPr>
          <p:cNvPr id="8" name="TextBox 7"/>
          <p:cNvSpPr txBox="1"/>
          <p:nvPr/>
        </p:nvSpPr>
        <p:spPr>
          <a:xfrm>
            <a:off x="795528" y="1773936"/>
            <a:ext cx="10545775" cy="548640"/>
          </a:xfrm>
          <a:prstGeom prst="rect">
            <a:avLst/>
          </a:prstGeom>
          <a:noFill/>
        </p:spPr>
        <p:txBody>
          <a:bodyPr wrap="square" anchor="t" lIns="0" rIns="0" tIns="18288" bIns="18288">
            <a:spAutoFit/>
          </a:bodyPr>
          <a:lstStyle/>
          <a:p>
            <a:pPr algn="l"/>
            <a:r>
              <a:rPr sz="1100" b="0" i="0">
                <a:solidFill>
                  <a:srgbClr val="595959"/>
                </a:solidFill>
                <a:latin typeface="Arial"/>
              </a:rPr>
              <a:t>two USB-C connectors (UART via a CP2102N chip, and native USB) · 3.3 V regulator · RST and BOOT buttons · RGB LED · 44 header pins</a:t>
            </a:r>
          </a:p>
        </p:txBody>
      </p:sp>
      <p:sp>
        <p:nvSpPr>
          <p:cNvPr id="9" name="Rectangle 8"/>
          <p:cNvSpPr/>
          <p:nvPr/>
        </p:nvSpPr>
        <p:spPr>
          <a:xfrm>
            <a:off x="960120" y="2377440"/>
            <a:ext cx="10271455" cy="2468880"/>
          </a:xfrm>
          <a:prstGeom prst="rect">
            <a:avLst/>
          </a:prstGeom>
          <a:noFill/>
          <a:ln w="12700">
            <a:solidFill>
              <a:srgbClr val="1A1A1A"/>
            </a:solidFill>
          </a:ln>
          <a:effectLst/>
        </p:spPr>
        <p:txBody>
          <a:bodyPr rtlCol="0" anchor="ctr"/>
          <a:lstStyle/>
          <a:p>
            <a:pPr algn="ctr"/>
          </a:p>
        </p:txBody>
      </p:sp>
      <p:sp>
        <p:nvSpPr>
          <p:cNvPr id="10" name="TextBox 9"/>
          <p:cNvSpPr txBox="1"/>
          <p:nvPr/>
        </p:nvSpPr>
        <p:spPr>
          <a:xfrm>
            <a:off x="1069848" y="2432304"/>
            <a:ext cx="10271455" cy="274320"/>
          </a:xfrm>
          <a:prstGeom prst="rect">
            <a:avLst/>
          </a:prstGeom>
          <a:noFill/>
        </p:spPr>
        <p:txBody>
          <a:bodyPr wrap="square" anchor="t" lIns="0" rIns="0" tIns="18288" bIns="18288">
            <a:spAutoFit/>
          </a:bodyPr>
          <a:lstStyle/>
          <a:p>
            <a:pPr algn="l"/>
            <a:r>
              <a:rPr sz="1200" b="1" i="0">
                <a:solidFill>
                  <a:srgbClr val="1A1A1A"/>
                </a:solidFill>
                <a:latin typeface="Arial"/>
              </a:rPr>
              <a:t>Module  ESP32-S3-WROOM-1 (N8R8, N16R8 …)</a:t>
            </a:r>
          </a:p>
        </p:txBody>
      </p:sp>
      <p:sp>
        <p:nvSpPr>
          <p:cNvPr id="11" name="TextBox 10"/>
          <p:cNvSpPr txBox="1"/>
          <p:nvPr/>
        </p:nvSpPr>
        <p:spPr>
          <a:xfrm>
            <a:off x="1069848" y="2688336"/>
            <a:ext cx="9997135" cy="457200"/>
          </a:xfrm>
          <a:prstGeom prst="rect">
            <a:avLst/>
          </a:prstGeom>
          <a:noFill/>
        </p:spPr>
        <p:txBody>
          <a:bodyPr wrap="square" anchor="t" lIns="0" rIns="0" tIns="18288" bIns="18288">
            <a:spAutoFit/>
          </a:bodyPr>
          <a:lstStyle/>
          <a:p>
            <a:pPr algn="l"/>
            <a:r>
              <a:rPr sz="1100" b="0" i="0">
                <a:solidFill>
                  <a:srgbClr val="595959"/>
                </a:solidFill>
                <a:latin typeface="Arial"/>
              </a:rPr>
              <a:t>PCB antenna · 8 or 16 MB flash · 8 MB PSRAM on R8 variants · 40 MHz crystal · metal shield</a:t>
            </a:r>
          </a:p>
        </p:txBody>
      </p:sp>
      <p:sp>
        <p:nvSpPr>
          <p:cNvPr id="12" name="Rectangle 11"/>
          <p:cNvSpPr/>
          <p:nvPr/>
        </p:nvSpPr>
        <p:spPr>
          <a:xfrm>
            <a:off x="1234440" y="3246120"/>
            <a:ext cx="9722815" cy="1417320"/>
          </a:xfrm>
          <a:prstGeom prst="rect">
            <a:avLst/>
          </a:prstGeom>
          <a:solidFill>
            <a:srgbClr val="F2F2F2"/>
          </a:solidFill>
          <a:ln w="12700">
            <a:solidFill>
              <a:srgbClr val="1A1A1A"/>
            </a:solidFill>
          </a:ln>
          <a:effectLst/>
        </p:spPr>
        <p:txBody>
          <a:bodyPr rtlCol="0" anchor="ctr"/>
          <a:lstStyle/>
          <a:p>
            <a:pPr algn="ctr"/>
          </a:p>
        </p:txBody>
      </p:sp>
      <p:sp>
        <p:nvSpPr>
          <p:cNvPr id="13" name="TextBox 12"/>
          <p:cNvSpPr txBox="1"/>
          <p:nvPr/>
        </p:nvSpPr>
        <p:spPr>
          <a:xfrm>
            <a:off x="1344168" y="3300984"/>
            <a:ext cx="9722815" cy="274320"/>
          </a:xfrm>
          <a:prstGeom prst="rect">
            <a:avLst/>
          </a:prstGeom>
          <a:noFill/>
        </p:spPr>
        <p:txBody>
          <a:bodyPr wrap="square" anchor="t" lIns="0" rIns="0" tIns="18288" bIns="18288">
            <a:spAutoFit/>
          </a:bodyPr>
          <a:lstStyle/>
          <a:p>
            <a:pPr algn="l"/>
            <a:r>
              <a:rPr sz="1200" b="1" i="0">
                <a:solidFill>
                  <a:srgbClr val="1A1A1A"/>
                </a:solidFill>
                <a:latin typeface="Arial"/>
              </a:rPr>
              <a:t>Chip  ESP32-S3</a:t>
            </a:r>
          </a:p>
        </p:txBody>
      </p:sp>
      <p:sp>
        <p:nvSpPr>
          <p:cNvPr id="14" name="TextBox 13"/>
          <p:cNvSpPr txBox="1"/>
          <p:nvPr/>
        </p:nvSpPr>
        <p:spPr>
          <a:xfrm>
            <a:off x="1344168" y="3557015"/>
            <a:ext cx="9448495" cy="1051560"/>
          </a:xfrm>
          <a:prstGeom prst="rect">
            <a:avLst/>
          </a:prstGeom>
          <a:noFill/>
        </p:spPr>
        <p:txBody>
          <a:bodyPr wrap="square" anchor="t" lIns="0" rIns="0" tIns="18288" bIns="18288">
            <a:spAutoFit/>
          </a:bodyPr>
          <a:lstStyle/>
          <a:p>
            <a:pPr algn="l"/>
            <a:r>
              <a:rPr sz="1100" b="0" i="0">
                <a:solidFill>
                  <a:srgbClr val="595959"/>
                </a:solidFill>
                <a:latin typeface="Arial"/>
              </a:rPr>
              <a:t>2 × Xtensa LX7 @ 240 MHz · 512 KB SRAM · 384 KB ROM · Wi-Fi and Bluetooth LE radio · USB OTG · GPIO, ADC, touch, PWM, UART, I²C, SPI, I²S, TWAI</a:t>
            </a:r>
          </a:p>
        </p:txBody>
      </p:sp>
      <p:sp>
        <p:nvSpPr>
          <p:cNvPr id="15" name="TextBox 14"/>
          <p:cNvSpPr txBox="1"/>
          <p:nvPr/>
        </p:nvSpPr>
        <p:spPr>
          <a:xfrm>
            <a:off x="685800" y="5166359"/>
            <a:ext cx="10820095" cy="570991"/>
          </a:xfrm>
          <a:prstGeom prst="rect">
            <a:avLst/>
          </a:prstGeom>
          <a:noFill/>
        </p:spPr>
        <p:txBody>
          <a:bodyPr wrap="square" anchor="t" lIns="0" rIns="0" tIns="18288" bIns="18288">
            <a:spAutoFit/>
          </a:bodyPr>
          <a:lstStyle/>
          <a:p>
            <a:r>
              <a:rPr sz="1600" b="0" i="0">
                <a:solidFill>
                  <a:srgbClr val="595959"/>
                </a:solidFill>
                <a:latin typeface="Arial"/>
              </a:rPr>
              <a:t>When someone says “an ESP32” they may mean any of the three. What you buy for a project is a module (certified radio, flash, antenna). What you buy to learn is a board.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0"/>
            <a:ext cx="7315200" cy="274320"/>
          </a:xfrm>
          <a:prstGeom prst="rect">
            <a:avLst/>
          </a:prstGeom>
          <a:noFill/>
        </p:spPr>
        <p:txBody>
          <a:bodyPr wrap="square" anchor="t" lIns="0" rIns="0" tIns="18288" bIns="18288">
            <a:spAutoFit/>
          </a:bodyPr>
          <a:lstStyle/>
          <a:p>
            <a:pPr algn="l"/>
            <a:r>
              <a:rPr sz="1000" b="0" i="0">
                <a:solidFill>
                  <a:srgbClr val="595959"/>
                </a:solidFill>
                <a:latin typeface="Arial"/>
              </a:rPr>
              <a:t>HackHardware · Getting started with the ESP32</a:t>
            </a:r>
          </a:p>
        </p:txBody>
      </p:sp>
      <p:sp>
        <p:nvSpPr>
          <p:cNvPr id="3" name="TextBox 2"/>
          <p:cNvSpPr txBox="1"/>
          <p:nvPr/>
        </p:nvSpPr>
        <p:spPr>
          <a:xfrm>
            <a:off x="10134295" y="6400800"/>
            <a:ext cx="1371600" cy="274320"/>
          </a:xfrm>
          <a:prstGeom prst="rect">
            <a:avLst/>
          </a:prstGeom>
          <a:noFill/>
        </p:spPr>
        <p:txBody>
          <a:bodyPr wrap="square" anchor="t" lIns="0" rIns="0" tIns="18288" bIns="18288">
            <a:spAutoFit/>
          </a:bodyPr>
          <a:lstStyle/>
          <a:p>
            <a:pPr algn="r"/>
            <a:r>
              <a:rPr sz="1000" b="0" i="0">
                <a:solidFill>
                  <a:srgbClr val="595959"/>
                </a:solidFill>
                <a:latin typeface="Arial"/>
              </a:rPr>
              <a:t>7</a:t>
            </a:r>
          </a:p>
        </p:txBody>
      </p:sp>
      <p:sp>
        <p:nvSpPr>
          <p:cNvPr id="4" name="TextBox 3"/>
          <p:cNvSpPr txBox="1"/>
          <p:nvPr/>
        </p:nvSpPr>
        <p:spPr>
          <a:xfrm>
            <a:off x="685800" y="457200"/>
            <a:ext cx="10820095" cy="822960"/>
          </a:xfrm>
          <a:prstGeom prst="rect">
            <a:avLst/>
          </a:prstGeom>
          <a:noFill/>
        </p:spPr>
        <p:txBody>
          <a:bodyPr wrap="square" anchor="b" lIns="0" rIns="0" tIns="18288" bIns="18288">
            <a:spAutoFit/>
          </a:bodyPr>
          <a:lstStyle/>
          <a:p>
            <a:pPr algn="l"/>
            <a:r>
              <a:rPr sz="3000" b="1" i="0">
                <a:solidFill>
                  <a:srgbClr val="1A1A1A"/>
                </a:solidFill>
                <a:latin typeface="Arial"/>
              </a:rPr>
              <a:t>Board tour: ESP32-S3-DevKitC-1</a:t>
            </a:r>
          </a:p>
        </p:txBody>
      </p:sp>
      <p:cxnSp>
        <p:nvCxnSpPr>
          <p:cNvPr id="5" name="Connector 4"/>
          <p:cNvCxnSpPr/>
          <p:nvPr/>
        </p:nvCxnSpPr>
        <p:spPr>
          <a:xfrm>
            <a:off x="685800" y="1298448"/>
            <a:ext cx="10820095" cy="0"/>
          </a:xfrm>
          <a:prstGeom prst="line">
            <a:avLst/>
          </a:prstGeom>
          <a:ln w="9525">
            <a:solidFill>
              <a:srgbClr val="BFBFBF"/>
            </a:solidFill>
          </a:ln>
        </p:spPr>
      </p:cxnSp>
      <p:sp>
        <p:nvSpPr>
          <p:cNvPr id="6" name="Rectangle 5"/>
          <p:cNvSpPr/>
          <p:nvPr/>
        </p:nvSpPr>
        <p:spPr>
          <a:xfrm>
            <a:off x="847264" y="1554480"/>
            <a:ext cx="5120640" cy="4297680"/>
          </a:xfrm>
          <a:prstGeom prst="rect">
            <a:avLst/>
          </a:prstGeom>
          <a:noFill/>
          <a:ln w="15875">
            <a:solidFill>
              <a:srgbClr val="1A1A1A"/>
            </a:solidFill>
          </a:ln>
          <a:effectLst/>
        </p:spPr>
        <p:txBody>
          <a:bodyPr rtlCol="0" anchor="ctr"/>
          <a:lstStyle/>
          <a:p>
            <a:pPr algn="ctr"/>
          </a:p>
        </p:txBody>
      </p:sp>
      <p:sp>
        <p:nvSpPr>
          <p:cNvPr id="7" name="Rectangle 6"/>
          <p:cNvSpPr/>
          <p:nvPr/>
        </p:nvSpPr>
        <p:spPr>
          <a:xfrm>
            <a:off x="2356024" y="1554480"/>
            <a:ext cx="2103119" cy="256032"/>
          </a:xfrm>
          <a:prstGeom prst="rect">
            <a:avLst/>
          </a:prstGeom>
          <a:solidFill>
            <a:srgbClr val="F2F2F2"/>
          </a:solidFill>
          <a:ln w="9525">
            <a:solidFill>
              <a:srgbClr val="1A1A1A"/>
            </a:solidFill>
          </a:ln>
          <a:effectLst/>
        </p:spPr>
        <p:txBody>
          <a:bodyPr rtlCol="0" anchor="ctr" wrap="square" lIns="45720" rIns="45720" tIns="18288" bIns="18288"/>
          <a:lstStyle/>
          <a:p>
            <a:pPr algn="ctr"/>
            <a:r>
              <a:rPr sz="800" b="0" i="0">
                <a:solidFill>
                  <a:srgbClr val="595959"/>
                </a:solidFill>
                <a:latin typeface="Arial"/>
              </a:rPr>
              <a:t>antenna</a:t>
            </a:r>
          </a:p>
        </p:txBody>
      </p:sp>
      <p:sp>
        <p:nvSpPr>
          <p:cNvPr id="8" name="Rectangle 7"/>
          <p:cNvSpPr/>
          <p:nvPr/>
        </p:nvSpPr>
        <p:spPr>
          <a:xfrm>
            <a:off x="2356024" y="1828800"/>
            <a:ext cx="2103119" cy="1547164"/>
          </a:xfrm>
          <a:prstGeom prst="rect">
            <a:avLst/>
          </a:prstGeom>
          <a:solidFill>
            <a:srgbClr val="F2F2F2"/>
          </a:solidFill>
          <a:ln w="9525">
            <a:solidFill>
              <a:srgbClr val="1A1A1A"/>
            </a:solidFill>
          </a:ln>
          <a:effectLst/>
        </p:spPr>
        <p:txBody>
          <a:bodyPr rtlCol="0" anchor="ctr" wrap="square" lIns="45720" rIns="45720" tIns="18288" bIns="18288"/>
          <a:lstStyle/>
          <a:p>
            <a:pPr algn="ctr"/>
            <a:r>
              <a:rPr sz="800" b="0" i="0">
                <a:solidFill>
                  <a:srgbClr val="1A1A1A"/>
                </a:solidFill>
                <a:latin typeface="Arial"/>
              </a:rPr>
              <a:t>ESP32-S3-WROOM-1</a:t>
            </a:r>
          </a:p>
          <a:p>
            <a:pPr algn="ctr"/>
            <a:r>
              <a:rPr sz="800" b="0" i="0">
                <a:solidFill>
                  <a:srgbClr val="1A1A1A"/>
                </a:solidFill>
                <a:latin typeface="Arial"/>
              </a:rPr>
              <a:t>module (N8R8: 8 MB flash, 8 MB PSRAM)</a:t>
            </a:r>
          </a:p>
        </p:txBody>
      </p:sp>
      <p:sp>
        <p:nvSpPr>
          <p:cNvPr id="9" name="Rectangle 8"/>
          <p:cNvSpPr/>
          <p:nvPr/>
        </p:nvSpPr>
        <p:spPr>
          <a:xfrm>
            <a:off x="902128" y="1801368"/>
            <a:ext cx="164592" cy="3950208"/>
          </a:xfrm>
          <a:prstGeom prst="rect">
            <a:avLst/>
          </a:prstGeom>
          <a:noFill/>
          <a:ln w="6350">
            <a:solidFill>
              <a:srgbClr val="1A1A1A"/>
            </a:solidFill>
          </a:ln>
          <a:effectLst/>
        </p:spPr>
        <p:txBody>
          <a:bodyPr rtlCol="0" anchor="ctr"/>
          <a:lstStyle/>
          <a:p>
            <a:pPr algn="ctr"/>
          </a:p>
        </p:txBody>
      </p:sp>
      <p:sp>
        <p:nvSpPr>
          <p:cNvPr id="10" name="Rectangle 9"/>
          <p:cNvSpPr/>
          <p:nvPr/>
        </p:nvSpPr>
        <p:spPr>
          <a:xfrm>
            <a:off x="947848" y="1828800"/>
            <a:ext cx="64008" cy="64008"/>
          </a:xfrm>
          <a:prstGeom prst="rect">
            <a:avLst/>
          </a:prstGeom>
          <a:solidFill>
            <a:srgbClr val="FFFFFF"/>
          </a:solidFill>
          <a:ln w="6350">
            <a:solidFill>
              <a:srgbClr val="1A1A1A"/>
            </a:solidFill>
          </a:ln>
          <a:effectLst/>
        </p:spPr>
        <p:txBody>
          <a:bodyPr rtlCol="0" anchor="ctr"/>
          <a:lstStyle/>
          <a:p>
            <a:pPr algn="ctr"/>
          </a:p>
        </p:txBody>
      </p:sp>
      <p:sp>
        <p:nvSpPr>
          <p:cNvPr id="11" name="TextBox 10"/>
          <p:cNvSpPr txBox="1"/>
          <p:nvPr/>
        </p:nvSpPr>
        <p:spPr>
          <a:xfrm>
            <a:off x="1121584" y="1773936"/>
            <a:ext cx="1234440" cy="164592"/>
          </a:xfrm>
          <a:prstGeom prst="rect">
            <a:avLst/>
          </a:prstGeom>
          <a:noFill/>
        </p:spPr>
        <p:txBody>
          <a:bodyPr wrap="square" anchor="t" lIns="0" rIns="0" tIns="18288" bIns="18288">
            <a:spAutoFit/>
          </a:bodyPr>
          <a:lstStyle/>
          <a:p>
            <a:pPr algn="l"/>
            <a:r>
              <a:rPr sz="650" b="0" i="0">
                <a:solidFill>
                  <a:srgbClr val="595959"/>
                </a:solidFill>
                <a:latin typeface="Arial"/>
              </a:rPr>
              <a:t>3V3</a:t>
            </a:r>
          </a:p>
        </p:txBody>
      </p:sp>
      <p:sp>
        <p:nvSpPr>
          <p:cNvPr id="12" name="Rectangle 11"/>
          <p:cNvSpPr/>
          <p:nvPr/>
        </p:nvSpPr>
        <p:spPr>
          <a:xfrm>
            <a:off x="947848" y="2011680"/>
            <a:ext cx="64008" cy="64008"/>
          </a:xfrm>
          <a:prstGeom prst="rect">
            <a:avLst/>
          </a:prstGeom>
          <a:solidFill>
            <a:srgbClr val="FFFFFF"/>
          </a:solidFill>
          <a:ln w="6350">
            <a:solidFill>
              <a:srgbClr val="1A1A1A"/>
            </a:solidFill>
          </a:ln>
          <a:effectLst/>
        </p:spPr>
        <p:txBody>
          <a:bodyPr rtlCol="0" anchor="ctr"/>
          <a:lstStyle/>
          <a:p>
            <a:pPr algn="ctr"/>
          </a:p>
        </p:txBody>
      </p:sp>
      <p:sp>
        <p:nvSpPr>
          <p:cNvPr id="13" name="TextBox 12"/>
          <p:cNvSpPr txBox="1"/>
          <p:nvPr/>
        </p:nvSpPr>
        <p:spPr>
          <a:xfrm>
            <a:off x="1121584" y="1956816"/>
            <a:ext cx="1234440" cy="164592"/>
          </a:xfrm>
          <a:prstGeom prst="rect">
            <a:avLst/>
          </a:prstGeom>
          <a:noFill/>
        </p:spPr>
        <p:txBody>
          <a:bodyPr wrap="square" anchor="t" lIns="0" rIns="0" tIns="18288" bIns="18288">
            <a:spAutoFit/>
          </a:bodyPr>
          <a:lstStyle/>
          <a:p>
            <a:pPr algn="l"/>
            <a:r>
              <a:rPr sz="650" b="0" i="0">
                <a:solidFill>
                  <a:srgbClr val="595959"/>
                </a:solidFill>
                <a:latin typeface="Arial"/>
              </a:rPr>
              <a:t>3V3</a:t>
            </a:r>
          </a:p>
        </p:txBody>
      </p:sp>
      <p:sp>
        <p:nvSpPr>
          <p:cNvPr id="14" name="Rectangle 13"/>
          <p:cNvSpPr/>
          <p:nvPr/>
        </p:nvSpPr>
        <p:spPr>
          <a:xfrm>
            <a:off x="947848" y="2194560"/>
            <a:ext cx="64008" cy="64008"/>
          </a:xfrm>
          <a:prstGeom prst="rect">
            <a:avLst/>
          </a:prstGeom>
          <a:solidFill>
            <a:srgbClr val="FFFFFF"/>
          </a:solidFill>
          <a:ln w="6350">
            <a:solidFill>
              <a:srgbClr val="1A1A1A"/>
            </a:solidFill>
          </a:ln>
          <a:effectLst/>
        </p:spPr>
        <p:txBody>
          <a:bodyPr rtlCol="0" anchor="ctr"/>
          <a:lstStyle/>
          <a:p>
            <a:pPr algn="ctr"/>
          </a:p>
        </p:txBody>
      </p:sp>
      <p:sp>
        <p:nvSpPr>
          <p:cNvPr id="15" name="TextBox 14"/>
          <p:cNvSpPr txBox="1"/>
          <p:nvPr/>
        </p:nvSpPr>
        <p:spPr>
          <a:xfrm>
            <a:off x="1121584" y="2139696"/>
            <a:ext cx="1234440" cy="164592"/>
          </a:xfrm>
          <a:prstGeom prst="rect">
            <a:avLst/>
          </a:prstGeom>
          <a:noFill/>
        </p:spPr>
        <p:txBody>
          <a:bodyPr wrap="square" anchor="t" lIns="0" rIns="0" tIns="18288" bIns="18288">
            <a:spAutoFit/>
          </a:bodyPr>
          <a:lstStyle/>
          <a:p>
            <a:pPr algn="l"/>
            <a:r>
              <a:rPr sz="650" b="0" i="0">
                <a:solidFill>
                  <a:srgbClr val="595959"/>
                </a:solidFill>
                <a:latin typeface="Arial"/>
              </a:rPr>
              <a:t>RST</a:t>
            </a:r>
          </a:p>
        </p:txBody>
      </p:sp>
      <p:sp>
        <p:nvSpPr>
          <p:cNvPr id="16" name="Rectangle 15"/>
          <p:cNvSpPr/>
          <p:nvPr/>
        </p:nvSpPr>
        <p:spPr>
          <a:xfrm>
            <a:off x="947848" y="2377440"/>
            <a:ext cx="64008" cy="64008"/>
          </a:xfrm>
          <a:prstGeom prst="rect">
            <a:avLst/>
          </a:prstGeom>
          <a:solidFill>
            <a:srgbClr val="FFFFFF"/>
          </a:solidFill>
          <a:ln w="6350">
            <a:solidFill>
              <a:srgbClr val="1A1A1A"/>
            </a:solidFill>
          </a:ln>
          <a:effectLst/>
        </p:spPr>
        <p:txBody>
          <a:bodyPr rtlCol="0" anchor="ctr"/>
          <a:lstStyle/>
          <a:p>
            <a:pPr algn="ctr"/>
          </a:p>
        </p:txBody>
      </p:sp>
      <p:sp>
        <p:nvSpPr>
          <p:cNvPr id="17" name="TextBox 16"/>
          <p:cNvSpPr txBox="1"/>
          <p:nvPr/>
        </p:nvSpPr>
        <p:spPr>
          <a:xfrm>
            <a:off x="1121584" y="2322576"/>
            <a:ext cx="1234440" cy="164592"/>
          </a:xfrm>
          <a:prstGeom prst="rect">
            <a:avLst/>
          </a:prstGeom>
          <a:noFill/>
        </p:spPr>
        <p:txBody>
          <a:bodyPr wrap="square" anchor="t" lIns="0" rIns="0" tIns="18288" bIns="18288">
            <a:spAutoFit/>
          </a:bodyPr>
          <a:lstStyle/>
          <a:p>
            <a:pPr algn="l"/>
            <a:r>
              <a:rPr sz="650" b="0" i="0">
                <a:solidFill>
                  <a:srgbClr val="595959"/>
                </a:solidFill>
                <a:latin typeface="Arial"/>
              </a:rPr>
              <a:t>4  touch T4</a:t>
            </a:r>
          </a:p>
        </p:txBody>
      </p:sp>
      <p:sp>
        <p:nvSpPr>
          <p:cNvPr id="18" name="Rectangle 17"/>
          <p:cNvSpPr/>
          <p:nvPr/>
        </p:nvSpPr>
        <p:spPr>
          <a:xfrm>
            <a:off x="947848" y="2560320"/>
            <a:ext cx="64008" cy="64008"/>
          </a:xfrm>
          <a:prstGeom prst="rect">
            <a:avLst/>
          </a:prstGeom>
          <a:solidFill>
            <a:srgbClr val="FFFFFF"/>
          </a:solidFill>
          <a:ln w="6350">
            <a:solidFill>
              <a:srgbClr val="1A1A1A"/>
            </a:solidFill>
          </a:ln>
          <a:effectLst/>
        </p:spPr>
        <p:txBody>
          <a:bodyPr rtlCol="0" anchor="ctr"/>
          <a:lstStyle/>
          <a:p>
            <a:pPr algn="ctr"/>
          </a:p>
        </p:txBody>
      </p:sp>
      <p:sp>
        <p:nvSpPr>
          <p:cNvPr id="19" name="TextBox 18"/>
          <p:cNvSpPr txBox="1"/>
          <p:nvPr/>
        </p:nvSpPr>
        <p:spPr>
          <a:xfrm>
            <a:off x="1121584" y="2505456"/>
            <a:ext cx="1234440" cy="164592"/>
          </a:xfrm>
          <a:prstGeom prst="rect">
            <a:avLst/>
          </a:prstGeom>
          <a:noFill/>
        </p:spPr>
        <p:txBody>
          <a:bodyPr wrap="square" anchor="t" lIns="0" rIns="0" tIns="18288" bIns="18288">
            <a:spAutoFit/>
          </a:bodyPr>
          <a:lstStyle/>
          <a:p>
            <a:pPr algn="l"/>
            <a:r>
              <a:rPr sz="650" b="0" i="0">
                <a:solidFill>
                  <a:srgbClr val="595959"/>
                </a:solidFill>
                <a:latin typeface="Arial"/>
              </a:rPr>
              <a:t>5</a:t>
            </a:r>
          </a:p>
        </p:txBody>
      </p:sp>
      <p:sp>
        <p:nvSpPr>
          <p:cNvPr id="20" name="Rectangle 19"/>
          <p:cNvSpPr/>
          <p:nvPr/>
        </p:nvSpPr>
        <p:spPr>
          <a:xfrm>
            <a:off x="947848" y="2743200"/>
            <a:ext cx="64008" cy="64008"/>
          </a:xfrm>
          <a:prstGeom prst="rect">
            <a:avLst/>
          </a:prstGeom>
          <a:solidFill>
            <a:srgbClr val="FFFFFF"/>
          </a:solidFill>
          <a:ln w="6350">
            <a:solidFill>
              <a:srgbClr val="1A1A1A"/>
            </a:solidFill>
          </a:ln>
          <a:effectLst/>
        </p:spPr>
        <p:txBody>
          <a:bodyPr rtlCol="0" anchor="ctr"/>
          <a:lstStyle/>
          <a:p>
            <a:pPr algn="ctr"/>
          </a:p>
        </p:txBody>
      </p:sp>
      <p:sp>
        <p:nvSpPr>
          <p:cNvPr id="21" name="TextBox 20"/>
          <p:cNvSpPr txBox="1"/>
          <p:nvPr/>
        </p:nvSpPr>
        <p:spPr>
          <a:xfrm>
            <a:off x="1121584" y="2688336"/>
            <a:ext cx="1234440" cy="164592"/>
          </a:xfrm>
          <a:prstGeom prst="rect">
            <a:avLst/>
          </a:prstGeom>
          <a:noFill/>
        </p:spPr>
        <p:txBody>
          <a:bodyPr wrap="square" anchor="t" lIns="0" rIns="0" tIns="18288" bIns="18288">
            <a:spAutoFit/>
          </a:bodyPr>
          <a:lstStyle/>
          <a:p>
            <a:pPr algn="l"/>
            <a:r>
              <a:rPr sz="650" b="0" i="0">
                <a:solidFill>
                  <a:srgbClr val="595959"/>
                </a:solidFill>
                <a:latin typeface="Arial"/>
              </a:rPr>
              <a:t>6</a:t>
            </a:r>
          </a:p>
        </p:txBody>
      </p:sp>
      <p:sp>
        <p:nvSpPr>
          <p:cNvPr id="22" name="Rectangle 21"/>
          <p:cNvSpPr/>
          <p:nvPr/>
        </p:nvSpPr>
        <p:spPr>
          <a:xfrm>
            <a:off x="947848" y="2926080"/>
            <a:ext cx="64008" cy="64008"/>
          </a:xfrm>
          <a:prstGeom prst="rect">
            <a:avLst/>
          </a:prstGeom>
          <a:solidFill>
            <a:srgbClr val="FFFFFF"/>
          </a:solidFill>
          <a:ln w="6350">
            <a:solidFill>
              <a:srgbClr val="1A1A1A"/>
            </a:solidFill>
          </a:ln>
          <a:effectLst/>
        </p:spPr>
        <p:txBody>
          <a:bodyPr rtlCol="0" anchor="ctr"/>
          <a:lstStyle/>
          <a:p>
            <a:pPr algn="ctr"/>
          </a:p>
        </p:txBody>
      </p:sp>
      <p:sp>
        <p:nvSpPr>
          <p:cNvPr id="23" name="TextBox 22"/>
          <p:cNvSpPr txBox="1"/>
          <p:nvPr/>
        </p:nvSpPr>
        <p:spPr>
          <a:xfrm>
            <a:off x="1121584" y="2871216"/>
            <a:ext cx="1234440" cy="164592"/>
          </a:xfrm>
          <a:prstGeom prst="rect">
            <a:avLst/>
          </a:prstGeom>
          <a:noFill/>
        </p:spPr>
        <p:txBody>
          <a:bodyPr wrap="square" anchor="t" lIns="0" rIns="0" tIns="18288" bIns="18288">
            <a:spAutoFit/>
          </a:bodyPr>
          <a:lstStyle/>
          <a:p>
            <a:pPr algn="l"/>
            <a:r>
              <a:rPr sz="650" b="0" i="0">
                <a:solidFill>
                  <a:srgbClr val="595959"/>
                </a:solidFill>
                <a:latin typeface="Arial"/>
              </a:rPr>
              <a:t>7</a:t>
            </a:r>
          </a:p>
        </p:txBody>
      </p:sp>
      <p:sp>
        <p:nvSpPr>
          <p:cNvPr id="24" name="Rectangle 23"/>
          <p:cNvSpPr/>
          <p:nvPr/>
        </p:nvSpPr>
        <p:spPr>
          <a:xfrm>
            <a:off x="947848" y="3108960"/>
            <a:ext cx="64008" cy="64008"/>
          </a:xfrm>
          <a:prstGeom prst="rect">
            <a:avLst/>
          </a:prstGeom>
          <a:solidFill>
            <a:srgbClr val="FFFFFF"/>
          </a:solidFill>
          <a:ln w="6350">
            <a:solidFill>
              <a:srgbClr val="1A1A1A"/>
            </a:solidFill>
          </a:ln>
          <a:effectLst/>
        </p:spPr>
        <p:txBody>
          <a:bodyPr rtlCol="0" anchor="ctr"/>
          <a:lstStyle/>
          <a:p>
            <a:pPr algn="ctr"/>
          </a:p>
        </p:txBody>
      </p:sp>
      <p:sp>
        <p:nvSpPr>
          <p:cNvPr id="25" name="TextBox 24"/>
          <p:cNvSpPr txBox="1"/>
          <p:nvPr/>
        </p:nvSpPr>
        <p:spPr>
          <a:xfrm>
            <a:off x="1121584" y="3054096"/>
            <a:ext cx="1234440" cy="164592"/>
          </a:xfrm>
          <a:prstGeom prst="rect">
            <a:avLst/>
          </a:prstGeom>
          <a:noFill/>
        </p:spPr>
        <p:txBody>
          <a:bodyPr wrap="square" anchor="t" lIns="0" rIns="0" tIns="18288" bIns="18288">
            <a:spAutoFit/>
          </a:bodyPr>
          <a:lstStyle/>
          <a:p>
            <a:pPr algn="l"/>
            <a:r>
              <a:rPr sz="650" b="0" i="0">
                <a:solidFill>
                  <a:srgbClr val="595959"/>
                </a:solidFill>
                <a:latin typeface="Arial"/>
              </a:rPr>
              <a:t>15</a:t>
            </a:r>
          </a:p>
        </p:txBody>
      </p:sp>
      <p:sp>
        <p:nvSpPr>
          <p:cNvPr id="26" name="Rectangle 25"/>
          <p:cNvSpPr/>
          <p:nvPr/>
        </p:nvSpPr>
        <p:spPr>
          <a:xfrm>
            <a:off x="947848" y="3291840"/>
            <a:ext cx="64008" cy="64008"/>
          </a:xfrm>
          <a:prstGeom prst="rect">
            <a:avLst/>
          </a:prstGeom>
          <a:solidFill>
            <a:srgbClr val="FFFFFF"/>
          </a:solidFill>
          <a:ln w="6350">
            <a:solidFill>
              <a:srgbClr val="1A1A1A"/>
            </a:solidFill>
          </a:ln>
          <a:effectLst/>
        </p:spPr>
        <p:txBody>
          <a:bodyPr rtlCol="0" anchor="ctr"/>
          <a:lstStyle/>
          <a:p>
            <a:pPr algn="ctr"/>
          </a:p>
        </p:txBody>
      </p:sp>
      <p:sp>
        <p:nvSpPr>
          <p:cNvPr id="27" name="TextBox 26"/>
          <p:cNvSpPr txBox="1"/>
          <p:nvPr/>
        </p:nvSpPr>
        <p:spPr>
          <a:xfrm>
            <a:off x="1121584" y="3236976"/>
            <a:ext cx="1234440" cy="164592"/>
          </a:xfrm>
          <a:prstGeom prst="rect">
            <a:avLst/>
          </a:prstGeom>
          <a:noFill/>
        </p:spPr>
        <p:txBody>
          <a:bodyPr wrap="square" anchor="t" lIns="0" rIns="0" tIns="18288" bIns="18288">
            <a:spAutoFit/>
          </a:bodyPr>
          <a:lstStyle/>
          <a:p>
            <a:pPr algn="l"/>
            <a:r>
              <a:rPr sz="650" b="0" i="0">
                <a:solidFill>
                  <a:srgbClr val="595959"/>
                </a:solidFill>
                <a:latin typeface="Arial"/>
              </a:rPr>
              <a:t>16</a:t>
            </a:r>
          </a:p>
        </p:txBody>
      </p:sp>
      <p:sp>
        <p:nvSpPr>
          <p:cNvPr id="28" name="Rectangle 27"/>
          <p:cNvSpPr/>
          <p:nvPr/>
        </p:nvSpPr>
        <p:spPr>
          <a:xfrm>
            <a:off x="947848" y="3474720"/>
            <a:ext cx="64008" cy="64008"/>
          </a:xfrm>
          <a:prstGeom prst="rect">
            <a:avLst/>
          </a:prstGeom>
          <a:solidFill>
            <a:srgbClr val="FFFFFF"/>
          </a:solidFill>
          <a:ln w="6350">
            <a:solidFill>
              <a:srgbClr val="1A1A1A"/>
            </a:solidFill>
          </a:ln>
          <a:effectLst/>
        </p:spPr>
        <p:txBody>
          <a:bodyPr rtlCol="0" anchor="ctr"/>
          <a:lstStyle/>
          <a:p>
            <a:pPr algn="ctr"/>
          </a:p>
        </p:txBody>
      </p:sp>
      <p:sp>
        <p:nvSpPr>
          <p:cNvPr id="29" name="TextBox 28"/>
          <p:cNvSpPr txBox="1"/>
          <p:nvPr/>
        </p:nvSpPr>
        <p:spPr>
          <a:xfrm>
            <a:off x="1121584" y="3419856"/>
            <a:ext cx="1234440" cy="164592"/>
          </a:xfrm>
          <a:prstGeom prst="rect">
            <a:avLst/>
          </a:prstGeom>
          <a:noFill/>
        </p:spPr>
        <p:txBody>
          <a:bodyPr wrap="square" anchor="t" lIns="0" rIns="0" tIns="18288" bIns="18288">
            <a:spAutoFit/>
          </a:bodyPr>
          <a:lstStyle/>
          <a:p>
            <a:pPr algn="l"/>
            <a:r>
              <a:rPr sz="650" b="0" i="0">
                <a:solidFill>
                  <a:srgbClr val="595959"/>
                </a:solidFill>
                <a:latin typeface="Arial"/>
              </a:rPr>
              <a:t>17</a:t>
            </a:r>
          </a:p>
        </p:txBody>
      </p:sp>
      <p:sp>
        <p:nvSpPr>
          <p:cNvPr id="30" name="Rectangle 29"/>
          <p:cNvSpPr/>
          <p:nvPr/>
        </p:nvSpPr>
        <p:spPr>
          <a:xfrm>
            <a:off x="947848" y="3657600"/>
            <a:ext cx="64008" cy="64008"/>
          </a:xfrm>
          <a:prstGeom prst="rect">
            <a:avLst/>
          </a:prstGeom>
          <a:solidFill>
            <a:srgbClr val="FFFFFF"/>
          </a:solidFill>
          <a:ln w="6350">
            <a:solidFill>
              <a:srgbClr val="1A1A1A"/>
            </a:solidFill>
          </a:ln>
          <a:effectLst/>
        </p:spPr>
        <p:txBody>
          <a:bodyPr rtlCol="0" anchor="ctr"/>
          <a:lstStyle/>
          <a:p>
            <a:pPr algn="ctr"/>
          </a:p>
        </p:txBody>
      </p:sp>
      <p:sp>
        <p:nvSpPr>
          <p:cNvPr id="31" name="TextBox 30"/>
          <p:cNvSpPr txBox="1"/>
          <p:nvPr/>
        </p:nvSpPr>
        <p:spPr>
          <a:xfrm>
            <a:off x="1121584" y="3602736"/>
            <a:ext cx="1234440" cy="164592"/>
          </a:xfrm>
          <a:prstGeom prst="rect">
            <a:avLst/>
          </a:prstGeom>
          <a:noFill/>
        </p:spPr>
        <p:txBody>
          <a:bodyPr wrap="square" anchor="t" lIns="0" rIns="0" tIns="18288" bIns="18288">
            <a:spAutoFit/>
          </a:bodyPr>
          <a:lstStyle/>
          <a:p>
            <a:pPr algn="l"/>
            <a:r>
              <a:rPr sz="650" b="0" i="0">
                <a:solidFill>
                  <a:srgbClr val="595959"/>
                </a:solidFill>
                <a:latin typeface="Arial"/>
              </a:rPr>
              <a:t>18</a:t>
            </a:r>
          </a:p>
        </p:txBody>
      </p:sp>
      <p:sp>
        <p:nvSpPr>
          <p:cNvPr id="32" name="Rectangle 31"/>
          <p:cNvSpPr/>
          <p:nvPr/>
        </p:nvSpPr>
        <p:spPr>
          <a:xfrm>
            <a:off x="947848" y="3840480"/>
            <a:ext cx="64008" cy="64008"/>
          </a:xfrm>
          <a:prstGeom prst="rect">
            <a:avLst/>
          </a:prstGeom>
          <a:solidFill>
            <a:srgbClr val="FFFFFF"/>
          </a:solidFill>
          <a:ln w="6350">
            <a:solidFill>
              <a:srgbClr val="1A1A1A"/>
            </a:solidFill>
          </a:ln>
          <a:effectLst/>
        </p:spPr>
        <p:txBody>
          <a:bodyPr rtlCol="0" anchor="ctr"/>
          <a:lstStyle/>
          <a:p>
            <a:pPr algn="ctr"/>
          </a:p>
        </p:txBody>
      </p:sp>
      <p:sp>
        <p:nvSpPr>
          <p:cNvPr id="33" name="TextBox 32"/>
          <p:cNvSpPr txBox="1"/>
          <p:nvPr/>
        </p:nvSpPr>
        <p:spPr>
          <a:xfrm>
            <a:off x="1121584" y="3785616"/>
            <a:ext cx="1234440" cy="164592"/>
          </a:xfrm>
          <a:prstGeom prst="rect">
            <a:avLst/>
          </a:prstGeom>
          <a:noFill/>
        </p:spPr>
        <p:txBody>
          <a:bodyPr wrap="square" anchor="t" lIns="0" rIns="0" tIns="18288" bIns="18288">
            <a:spAutoFit/>
          </a:bodyPr>
          <a:lstStyle/>
          <a:p>
            <a:pPr algn="l"/>
            <a:r>
              <a:rPr sz="650" b="0" i="0">
                <a:solidFill>
                  <a:srgbClr val="595959"/>
                </a:solidFill>
                <a:latin typeface="Arial"/>
              </a:rPr>
              <a:t>8  I²C SDA</a:t>
            </a:r>
          </a:p>
        </p:txBody>
      </p:sp>
      <p:sp>
        <p:nvSpPr>
          <p:cNvPr id="34" name="Rectangle 33"/>
          <p:cNvSpPr/>
          <p:nvPr/>
        </p:nvSpPr>
        <p:spPr>
          <a:xfrm>
            <a:off x="947848" y="4023360"/>
            <a:ext cx="64008" cy="64008"/>
          </a:xfrm>
          <a:prstGeom prst="rect">
            <a:avLst/>
          </a:prstGeom>
          <a:solidFill>
            <a:srgbClr val="FFFFFF"/>
          </a:solidFill>
          <a:ln w="6350">
            <a:solidFill>
              <a:srgbClr val="1A1A1A"/>
            </a:solidFill>
          </a:ln>
          <a:effectLst/>
        </p:spPr>
        <p:txBody>
          <a:bodyPr rtlCol="0" anchor="ctr"/>
          <a:lstStyle/>
          <a:p>
            <a:pPr algn="ctr"/>
          </a:p>
        </p:txBody>
      </p:sp>
      <p:sp>
        <p:nvSpPr>
          <p:cNvPr id="35" name="TextBox 34"/>
          <p:cNvSpPr txBox="1"/>
          <p:nvPr/>
        </p:nvSpPr>
        <p:spPr>
          <a:xfrm>
            <a:off x="1121584" y="3968496"/>
            <a:ext cx="1234440" cy="164592"/>
          </a:xfrm>
          <a:prstGeom prst="rect">
            <a:avLst/>
          </a:prstGeom>
          <a:noFill/>
        </p:spPr>
        <p:txBody>
          <a:bodyPr wrap="square" anchor="t" lIns="0" rIns="0" tIns="18288" bIns="18288">
            <a:spAutoFit/>
          </a:bodyPr>
          <a:lstStyle/>
          <a:p>
            <a:pPr algn="l"/>
            <a:r>
              <a:rPr sz="650" b="0" i="0">
                <a:solidFill>
                  <a:srgbClr val="1A1A1A"/>
                </a:solidFill>
                <a:latin typeface="Arial"/>
              </a:rPr>
              <a:t>3  strapping</a:t>
            </a:r>
          </a:p>
        </p:txBody>
      </p:sp>
      <p:sp>
        <p:nvSpPr>
          <p:cNvPr id="36" name="Rectangle 35"/>
          <p:cNvSpPr/>
          <p:nvPr/>
        </p:nvSpPr>
        <p:spPr>
          <a:xfrm>
            <a:off x="947848" y="4206240"/>
            <a:ext cx="64008" cy="64008"/>
          </a:xfrm>
          <a:prstGeom prst="rect">
            <a:avLst/>
          </a:prstGeom>
          <a:solidFill>
            <a:srgbClr val="FFFFFF"/>
          </a:solidFill>
          <a:ln w="6350">
            <a:solidFill>
              <a:srgbClr val="1A1A1A"/>
            </a:solidFill>
          </a:ln>
          <a:effectLst/>
        </p:spPr>
        <p:txBody>
          <a:bodyPr rtlCol="0" anchor="ctr"/>
          <a:lstStyle/>
          <a:p>
            <a:pPr algn="ctr"/>
          </a:p>
        </p:txBody>
      </p:sp>
      <p:sp>
        <p:nvSpPr>
          <p:cNvPr id="37" name="TextBox 36"/>
          <p:cNvSpPr txBox="1"/>
          <p:nvPr/>
        </p:nvSpPr>
        <p:spPr>
          <a:xfrm>
            <a:off x="1121584" y="4151376"/>
            <a:ext cx="1234440" cy="164592"/>
          </a:xfrm>
          <a:prstGeom prst="rect">
            <a:avLst/>
          </a:prstGeom>
          <a:noFill/>
        </p:spPr>
        <p:txBody>
          <a:bodyPr wrap="square" anchor="t" lIns="0" rIns="0" tIns="18288" bIns="18288">
            <a:spAutoFit/>
          </a:bodyPr>
          <a:lstStyle/>
          <a:p>
            <a:pPr algn="l"/>
            <a:r>
              <a:rPr sz="650" b="0" i="0">
                <a:solidFill>
                  <a:srgbClr val="1A1A1A"/>
                </a:solidFill>
                <a:latin typeface="Arial"/>
              </a:rPr>
              <a:t>46  strapping</a:t>
            </a:r>
          </a:p>
        </p:txBody>
      </p:sp>
      <p:sp>
        <p:nvSpPr>
          <p:cNvPr id="38" name="Rectangle 37"/>
          <p:cNvSpPr/>
          <p:nvPr/>
        </p:nvSpPr>
        <p:spPr>
          <a:xfrm>
            <a:off x="947848" y="4389120"/>
            <a:ext cx="64008" cy="64008"/>
          </a:xfrm>
          <a:prstGeom prst="rect">
            <a:avLst/>
          </a:prstGeom>
          <a:solidFill>
            <a:srgbClr val="FFFFFF"/>
          </a:solidFill>
          <a:ln w="6350">
            <a:solidFill>
              <a:srgbClr val="1A1A1A"/>
            </a:solidFill>
          </a:ln>
          <a:effectLst/>
        </p:spPr>
        <p:txBody>
          <a:bodyPr rtlCol="0" anchor="ctr"/>
          <a:lstStyle/>
          <a:p>
            <a:pPr algn="ctr"/>
          </a:p>
        </p:txBody>
      </p:sp>
      <p:sp>
        <p:nvSpPr>
          <p:cNvPr id="39" name="TextBox 38"/>
          <p:cNvSpPr txBox="1"/>
          <p:nvPr/>
        </p:nvSpPr>
        <p:spPr>
          <a:xfrm>
            <a:off x="1121584" y="4334256"/>
            <a:ext cx="1234440" cy="164592"/>
          </a:xfrm>
          <a:prstGeom prst="rect">
            <a:avLst/>
          </a:prstGeom>
          <a:noFill/>
        </p:spPr>
        <p:txBody>
          <a:bodyPr wrap="square" anchor="t" lIns="0" rIns="0" tIns="18288" bIns="18288">
            <a:spAutoFit/>
          </a:bodyPr>
          <a:lstStyle/>
          <a:p>
            <a:pPr algn="l"/>
            <a:r>
              <a:rPr sz="650" b="0" i="0">
                <a:solidFill>
                  <a:srgbClr val="595959"/>
                </a:solidFill>
                <a:latin typeface="Arial"/>
              </a:rPr>
              <a:t>9  I²C SCL</a:t>
            </a:r>
          </a:p>
        </p:txBody>
      </p:sp>
      <p:sp>
        <p:nvSpPr>
          <p:cNvPr id="40" name="Rectangle 39"/>
          <p:cNvSpPr/>
          <p:nvPr/>
        </p:nvSpPr>
        <p:spPr>
          <a:xfrm>
            <a:off x="947848" y="4572000"/>
            <a:ext cx="64008" cy="64008"/>
          </a:xfrm>
          <a:prstGeom prst="rect">
            <a:avLst/>
          </a:prstGeom>
          <a:solidFill>
            <a:srgbClr val="FFFFFF"/>
          </a:solidFill>
          <a:ln w="6350">
            <a:solidFill>
              <a:srgbClr val="1A1A1A"/>
            </a:solidFill>
          </a:ln>
          <a:effectLst/>
        </p:spPr>
        <p:txBody>
          <a:bodyPr rtlCol="0" anchor="ctr"/>
          <a:lstStyle/>
          <a:p>
            <a:pPr algn="ctr"/>
          </a:p>
        </p:txBody>
      </p:sp>
      <p:sp>
        <p:nvSpPr>
          <p:cNvPr id="41" name="TextBox 40"/>
          <p:cNvSpPr txBox="1"/>
          <p:nvPr/>
        </p:nvSpPr>
        <p:spPr>
          <a:xfrm>
            <a:off x="1121584" y="4517136"/>
            <a:ext cx="1234440" cy="164592"/>
          </a:xfrm>
          <a:prstGeom prst="rect">
            <a:avLst/>
          </a:prstGeom>
          <a:noFill/>
        </p:spPr>
        <p:txBody>
          <a:bodyPr wrap="square" anchor="t" lIns="0" rIns="0" tIns="18288" bIns="18288">
            <a:spAutoFit/>
          </a:bodyPr>
          <a:lstStyle/>
          <a:p>
            <a:pPr algn="l"/>
            <a:r>
              <a:rPr sz="650" b="0" i="0">
                <a:solidFill>
                  <a:srgbClr val="595959"/>
                </a:solidFill>
                <a:latin typeface="Arial"/>
              </a:rPr>
              <a:t>10  SPI SS</a:t>
            </a:r>
          </a:p>
        </p:txBody>
      </p:sp>
      <p:sp>
        <p:nvSpPr>
          <p:cNvPr id="42" name="Rectangle 41"/>
          <p:cNvSpPr/>
          <p:nvPr/>
        </p:nvSpPr>
        <p:spPr>
          <a:xfrm>
            <a:off x="947848" y="4754880"/>
            <a:ext cx="64008" cy="64008"/>
          </a:xfrm>
          <a:prstGeom prst="rect">
            <a:avLst/>
          </a:prstGeom>
          <a:solidFill>
            <a:srgbClr val="FFFFFF"/>
          </a:solidFill>
          <a:ln w="6350">
            <a:solidFill>
              <a:srgbClr val="1A1A1A"/>
            </a:solidFill>
          </a:ln>
          <a:effectLst/>
        </p:spPr>
        <p:txBody>
          <a:bodyPr rtlCol="0" anchor="ctr"/>
          <a:lstStyle/>
          <a:p>
            <a:pPr algn="ctr"/>
          </a:p>
        </p:txBody>
      </p:sp>
      <p:sp>
        <p:nvSpPr>
          <p:cNvPr id="43" name="TextBox 42"/>
          <p:cNvSpPr txBox="1"/>
          <p:nvPr/>
        </p:nvSpPr>
        <p:spPr>
          <a:xfrm>
            <a:off x="1121584" y="4700016"/>
            <a:ext cx="1234440" cy="164592"/>
          </a:xfrm>
          <a:prstGeom prst="rect">
            <a:avLst/>
          </a:prstGeom>
          <a:noFill/>
        </p:spPr>
        <p:txBody>
          <a:bodyPr wrap="square" anchor="t" lIns="0" rIns="0" tIns="18288" bIns="18288">
            <a:spAutoFit/>
          </a:bodyPr>
          <a:lstStyle/>
          <a:p>
            <a:pPr algn="l"/>
            <a:r>
              <a:rPr sz="650" b="0" i="0">
                <a:solidFill>
                  <a:srgbClr val="595959"/>
                </a:solidFill>
                <a:latin typeface="Arial"/>
              </a:rPr>
              <a:t>11  SPI MOSI</a:t>
            </a:r>
          </a:p>
        </p:txBody>
      </p:sp>
      <p:sp>
        <p:nvSpPr>
          <p:cNvPr id="44" name="Rectangle 43"/>
          <p:cNvSpPr/>
          <p:nvPr/>
        </p:nvSpPr>
        <p:spPr>
          <a:xfrm>
            <a:off x="947848" y="4937760"/>
            <a:ext cx="64008" cy="64008"/>
          </a:xfrm>
          <a:prstGeom prst="rect">
            <a:avLst/>
          </a:prstGeom>
          <a:solidFill>
            <a:srgbClr val="FFFFFF"/>
          </a:solidFill>
          <a:ln w="6350">
            <a:solidFill>
              <a:srgbClr val="1A1A1A"/>
            </a:solidFill>
          </a:ln>
          <a:effectLst/>
        </p:spPr>
        <p:txBody>
          <a:bodyPr rtlCol="0" anchor="ctr"/>
          <a:lstStyle/>
          <a:p>
            <a:pPr algn="ctr"/>
          </a:p>
        </p:txBody>
      </p:sp>
      <p:sp>
        <p:nvSpPr>
          <p:cNvPr id="45" name="TextBox 44"/>
          <p:cNvSpPr txBox="1"/>
          <p:nvPr/>
        </p:nvSpPr>
        <p:spPr>
          <a:xfrm>
            <a:off x="1121584" y="4882896"/>
            <a:ext cx="1234440" cy="164592"/>
          </a:xfrm>
          <a:prstGeom prst="rect">
            <a:avLst/>
          </a:prstGeom>
          <a:noFill/>
        </p:spPr>
        <p:txBody>
          <a:bodyPr wrap="square" anchor="t" lIns="0" rIns="0" tIns="18288" bIns="18288">
            <a:spAutoFit/>
          </a:bodyPr>
          <a:lstStyle/>
          <a:p>
            <a:pPr algn="l"/>
            <a:r>
              <a:rPr sz="650" b="0" i="0">
                <a:solidFill>
                  <a:srgbClr val="595959"/>
                </a:solidFill>
                <a:latin typeface="Arial"/>
              </a:rPr>
              <a:t>12  SPI SCK</a:t>
            </a:r>
          </a:p>
        </p:txBody>
      </p:sp>
      <p:sp>
        <p:nvSpPr>
          <p:cNvPr id="46" name="Rectangle 45"/>
          <p:cNvSpPr/>
          <p:nvPr/>
        </p:nvSpPr>
        <p:spPr>
          <a:xfrm>
            <a:off x="947848" y="5120640"/>
            <a:ext cx="64008" cy="64008"/>
          </a:xfrm>
          <a:prstGeom prst="rect">
            <a:avLst/>
          </a:prstGeom>
          <a:solidFill>
            <a:srgbClr val="FFFFFF"/>
          </a:solidFill>
          <a:ln w="6350">
            <a:solidFill>
              <a:srgbClr val="1A1A1A"/>
            </a:solidFill>
          </a:ln>
          <a:effectLst/>
        </p:spPr>
        <p:txBody>
          <a:bodyPr rtlCol="0" anchor="ctr"/>
          <a:lstStyle/>
          <a:p>
            <a:pPr algn="ctr"/>
          </a:p>
        </p:txBody>
      </p:sp>
      <p:sp>
        <p:nvSpPr>
          <p:cNvPr id="47" name="TextBox 46"/>
          <p:cNvSpPr txBox="1"/>
          <p:nvPr/>
        </p:nvSpPr>
        <p:spPr>
          <a:xfrm>
            <a:off x="1121584" y="5065776"/>
            <a:ext cx="1234440" cy="164592"/>
          </a:xfrm>
          <a:prstGeom prst="rect">
            <a:avLst/>
          </a:prstGeom>
          <a:noFill/>
        </p:spPr>
        <p:txBody>
          <a:bodyPr wrap="square" anchor="t" lIns="0" rIns="0" tIns="18288" bIns="18288">
            <a:spAutoFit/>
          </a:bodyPr>
          <a:lstStyle/>
          <a:p>
            <a:pPr algn="l"/>
            <a:r>
              <a:rPr sz="650" b="0" i="0">
                <a:solidFill>
                  <a:srgbClr val="595959"/>
                </a:solidFill>
                <a:latin typeface="Arial"/>
              </a:rPr>
              <a:t>13  SPI MISO</a:t>
            </a:r>
          </a:p>
        </p:txBody>
      </p:sp>
      <p:sp>
        <p:nvSpPr>
          <p:cNvPr id="48" name="Rectangle 47"/>
          <p:cNvSpPr/>
          <p:nvPr/>
        </p:nvSpPr>
        <p:spPr>
          <a:xfrm>
            <a:off x="947848" y="5303520"/>
            <a:ext cx="64008" cy="64008"/>
          </a:xfrm>
          <a:prstGeom prst="rect">
            <a:avLst/>
          </a:prstGeom>
          <a:solidFill>
            <a:srgbClr val="FFFFFF"/>
          </a:solidFill>
          <a:ln w="6350">
            <a:solidFill>
              <a:srgbClr val="1A1A1A"/>
            </a:solidFill>
          </a:ln>
          <a:effectLst/>
        </p:spPr>
        <p:txBody>
          <a:bodyPr rtlCol="0" anchor="ctr"/>
          <a:lstStyle/>
          <a:p>
            <a:pPr algn="ctr"/>
          </a:p>
        </p:txBody>
      </p:sp>
      <p:sp>
        <p:nvSpPr>
          <p:cNvPr id="49" name="TextBox 48"/>
          <p:cNvSpPr txBox="1"/>
          <p:nvPr/>
        </p:nvSpPr>
        <p:spPr>
          <a:xfrm>
            <a:off x="1121584" y="5248656"/>
            <a:ext cx="1234440" cy="164592"/>
          </a:xfrm>
          <a:prstGeom prst="rect">
            <a:avLst/>
          </a:prstGeom>
          <a:noFill/>
        </p:spPr>
        <p:txBody>
          <a:bodyPr wrap="square" anchor="t" lIns="0" rIns="0" tIns="18288" bIns="18288">
            <a:spAutoFit/>
          </a:bodyPr>
          <a:lstStyle/>
          <a:p>
            <a:pPr algn="l"/>
            <a:r>
              <a:rPr sz="650" b="0" i="0">
                <a:solidFill>
                  <a:srgbClr val="595959"/>
                </a:solidFill>
                <a:latin typeface="Arial"/>
              </a:rPr>
              <a:t>14</a:t>
            </a:r>
          </a:p>
        </p:txBody>
      </p:sp>
      <p:sp>
        <p:nvSpPr>
          <p:cNvPr id="50" name="Rectangle 49"/>
          <p:cNvSpPr/>
          <p:nvPr/>
        </p:nvSpPr>
        <p:spPr>
          <a:xfrm>
            <a:off x="947848" y="5486400"/>
            <a:ext cx="64008" cy="64008"/>
          </a:xfrm>
          <a:prstGeom prst="rect">
            <a:avLst/>
          </a:prstGeom>
          <a:solidFill>
            <a:srgbClr val="FFFFFF"/>
          </a:solidFill>
          <a:ln w="6350">
            <a:solidFill>
              <a:srgbClr val="1A1A1A"/>
            </a:solidFill>
          </a:ln>
          <a:effectLst/>
        </p:spPr>
        <p:txBody>
          <a:bodyPr rtlCol="0" anchor="ctr"/>
          <a:lstStyle/>
          <a:p>
            <a:pPr algn="ctr"/>
          </a:p>
        </p:txBody>
      </p:sp>
      <p:sp>
        <p:nvSpPr>
          <p:cNvPr id="51" name="TextBox 50"/>
          <p:cNvSpPr txBox="1"/>
          <p:nvPr/>
        </p:nvSpPr>
        <p:spPr>
          <a:xfrm>
            <a:off x="1121584" y="5431536"/>
            <a:ext cx="1234440" cy="164592"/>
          </a:xfrm>
          <a:prstGeom prst="rect">
            <a:avLst/>
          </a:prstGeom>
          <a:noFill/>
        </p:spPr>
        <p:txBody>
          <a:bodyPr wrap="square" anchor="t" lIns="0" rIns="0" tIns="18288" bIns="18288">
            <a:spAutoFit/>
          </a:bodyPr>
          <a:lstStyle/>
          <a:p>
            <a:pPr algn="l"/>
            <a:r>
              <a:rPr sz="650" b="0" i="0">
                <a:solidFill>
                  <a:srgbClr val="595959"/>
                </a:solidFill>
                <a:latin typeface="Arial"/>
              </a:rPr>
              <a:t>5V  in</a:t>
            </a:r>
          </a:p>
        </p:txBody>
      </p:sp>
      <p:sp>
        <p:nvSpPr>
          <p:cNvPr id="52" name="Rectangle 51"/>
          <p:cNvSpPr/>
          <p:nvPr/>
        </p:nvSpPr>
        <p:spPr>
          <a:xfrm>
            <a:off x="947848" y="5669280"/>
            <a:ext cx="64008" cy="64008"/>
          </a:xfrm>
          <a:prstGeom prst="rect">
            <a:avLst/>
          </a:prstGeom>
          <a:solidFill>
            <a:srgbClr val="FFFFFF"/>
          </a:solidFill>
          <a:ln w="6350">
            <a:solidFill>
              <a:srgbClr val="1A1A1A"/>
            </a:solidFill>
          </a:ln>
          <a:effectLst/>
        </p:spPr>
        <p:txBody>
          <a:bodyPr rtlCol="0" anchor="ctr"/>
          <a:lstStyle/>
          <a:p>
            <a:pPr algn="ctr"/>
          </a:p>
        </p:txBody>
      </p:sp>
      <p:sp>
        <p:nvSpPr>
          <p:cNvPr id="53" name="TextBox 52"/>
          <p:cNvSpPr txBox="1"/>
          <p:nvPr/>
        </p:nvSpPr>
        <p:spPr>
          <a:xfrm>
            <a:off x="1121584" y="5614416"/>
            <a:ext cx="1234440" cy="164592"/>
          </a:xfrm>
          <a:prstGeom prst="rect">
            <a:avLst/>
          </a:prstGeom>
          <a:noFill/>
        </p:spPr>
        <p:txBody>
          <a:bodyPr wrap="square" anchor="t" lIns="0" rIns="0" tIns="18288" bIns="18288">
            <a:spAutoFit/>
          </a:bodyPr>
          <a:lstStyle/>
          <a:p>
            <a:pPr algn="l"/>
            <a:r>
              <a:rPr sz="650" b="0" i="0">
                <a:solidFill>
                  <a:srgbClr val="595959"/>
                </a:solidFill>
                <a:latin typeface="Arial"/>
              </a:rPr>
              <a:t>GND</a:t>
            </a:r>
          </a:p>
        </p:txBody>
      </p:sp>
      <p:sp>
        <p:nvSpPr>
          <p:cNvPr id="54" name="Rectangle 53"/>
          <p:cNvSpPr/>
          <p:nvPr/>
        </p:nvSpPr>
        <p:spPr>
          <a:xfrm>
            <a:off x="5748448" y="1801368"/>
            <a:ext cx="164592" cy="3950208"/>
          </a:xfrm>
          <a:prstGeom prst="rect">
            <a:avLst/>
          </a:prstGeom>
          <a:noFill/>
          <a:ln w="6350">
            <a:solidFill>
              <a:srgbClr val="1A1A1A"/>
            </a:solidFill>
          </a:ln>
          <a:effectLst/>
        </p:spPr>
        <p:txBody>
          <a:bodyPr rtlCol="0" anchor="ctr"/>
          <a:lstStyle/>
          <a:p>
            <a:pPr algn="ctr"/>
          </a:p>
        </p:txBody>
      </p:sp>
      <p:sp>
        <p:nvSpPr>
          <p:cNvPr id="55" name="Rectangle 54"/>
          <p:cNvSpPr/>
          <p:nvPr/>
        </p:nvSpPr>
        <p:spPr>
          <a:xfrm>
            <a:off x="5794168" y="1828800"/>
            <a:ext cx="64008" cy="64008"/>
          </a:xfrm>
          <a:prstGeom prst="rect">
            <a:avLst/>
          </a:prstGeom>
          <a:solidFill>
            <a:srgbClr val="FFFFFF"/>
          </a:solidFill>
          <a:ln w="6350">
            <a:solidFill>
              <a:srgbClr val="1A1A1A"/>
            </a:solidFill>
          </a:ln>
          <a:effectLst/>
        </p:spPr>
        <p:txBody>
          <a:bodyPr rtlCol="0" anchor="ctr"/>
          <a:lstStyle/>
          <a:p>
            <a:pPr algn="ctr"/>
          </a:p>
        </p:txBody>
      </p:sp>
      <p:sp>
        <p:nvSpPr>
          <p:cNvPr id="56" name="TextBox 55"/>
          <p:cNvSpPr txBox="1"/>
          <p:nvPr/>
        </p:nvSpPr>
        <p:spPr>
          <a:xfrm>
            <a:off x="4459144" y="1773936"/>
            <a:ext cx="1234440" cy="164592"/>
          </a:xfrm>
          <a:prstGeom prst="rect">
            <a:avLst/>
          </a:prstGeom>
          <a:noFill/>
        </p:spPr>
        <p:txBody>
          <a:bodyPr wrap="square" anchor="t" lIns="0" rIns="0" tIns="18288" bIns="18288">
            <a:spAutoFit/>
          </a:bodyPr>
          <a:lstStyle/>
          <a:p>
            <a:pPr algn="r"/>
            <a:r>
              <a:rPr sz="650" b="0" i="0">
                <a:solidFill>
                  <a:srgbClr val="595959"/>
                </a:solidFill>
                <a:latin typeface="Arial"/>
              </a:rPr>
              <a:t>GND</a:t>
            </a:r>
          </a:p>
        </p:txBody>
      </p:sp>
      <p:sp>
        <p:nvSpPr>
          <p:cNvPr id="57" name="Rectangle 56"/>
          <p:cNvSpPr/>
          <p:nvPr/>
        </p:nvSpPr>
        <p:spPr>
          <a:xfrm>
            <a:off x="5794168" y="2011680"/>
            <a:ext cx="64008" cy="64008"/>
          </a:xfrm>
          <a:prstGeom prst="rect">
            <a:avLst/>
          </a:prstGeom>
          <a:solidFill>
            <a:srgbClr val="FFFFFF"/>
          </a:solidFill>
          <a:ln w="6350">
            <a:solidFill>
              <a:srgbClr val="1A1A1A"/>
            </a:solidFill>
          </a:ln>
          <a:effectLst/>
        </p:spPr>
        <p:txBody>
          <a:bodyPr rtlCol="0" anchor="ctr"/>
          <a:lstStyle/>
          <a:p>
            <a:pPr algn="ctr"/>
          </a:p>
        </p:txBody>
      </p:sp>
      <p:sp>
        <p:nvSpPr>
          <p:cNvPr id="58" name="TextBox 57"/>
          <p:cNvSpPr txBox="1"/>
          <p:nvPr/>
        </p:nvSpPr>
        <p:spPr>
          <a:xfrm>
            <a:off x="4459144" y="1956816"/>
            <a:ext cx="1234440" cy="164592"/>
          </a:xfrm>
          <a:prstGeom prst="rect">
            <a:avLst/>
          </a:prstGeom>
          <a:noFill/>
        </p:spPr>
        <p:txBody>
          <a:bodyPr wrap="square" anchor="t" lIns="0" rIns="0" tIns="18288" bIns="18288">
            <a:spAutoFit/>
          </a:bodyPr>
          <a:lstStyle/>
          <a:p>
            <a:pPr algn="r"/>
            <a:r>
              <a:rPr sz="650" b="0" i="0">
                <a:solidFill>
                  <a:srgbClr val="1A1A1A"/>
                </a:solidFill>
                <a:latin typeface="Arial"/>
              </a:rPr>
              <a:t>TX  Serial</a:t>
            </a:r>
          </a:p>
        </p:txBody>
      </p:sp>
      <p:sp>
        <p:nvSpPr>
          <p:cNvPr id="59" name="Rectangle 58"/>
          <p:cNvSpPr/>
          <p:nvPr/>
        </p:nvSpPr>
        <p:spPr>
          <a:xfrm>
            <a:off x="5794168" y="2194560"/>
            <a:ext cx="64008" cy="64008"/>
          </a:xfrm>
          <a:prstGeom prst="rect">
            <a:avLst/>
          </a:prstGeom>
          <a:solidFill>
            <a:srgbClr val="FFFFFF"/>
          </a:solidFill>
          <a:ln w="6350">
            <a:solidFill>
              <a:srgbClr val="1A1A1A"/>
            </a:solidFill>
          </a:ln>
          <a:effectLst/>
        </p:spPr>
        <p:txBody>
          <a:bodyPr rtlCol="0" anchor="ctr"/>
          <a:lstStyle/>
          <a:p>
            <a:pPr algn="ctr"/>
          </a:p>
        </p:txBody>
      </p:sp>
      <p:sp>
        <p:nvSpPr>
          <p:cNvPr id="60" name="TextBox 59"/>
          <p:cNvSpPr txBox="1"/>
          <p:nvPr/>
        </p:nvSpPr>
        <p:spPr>
          <a:xfrm>
            <a:off x="4459144" y="2139696"/>
            <a:ext cx="1234440" cy="164592"/>
          </a:xfrm>
          <a:prstGeom prst="rect">
            <a:avLst/>
          </a:prstGeom>
          <a:noFill/>
        </p:spPr>
        <p:txBody>
          <a:bodyPr wrap="square" anchor="t" lIns="0" rIns="0" tIns="18288" bIns="18288">
            <a:spAutoFit/>
          </a:bodyPr>
          <a:lstStyle/>
          <a:p>
            <a:pPr algn="r"/>
            <a:r>
              <a:rPr sz="650" b="0" i="0">
                <a:solidFill>
                  <a:srgbClr val="1A1A1A"/>
                </a:solidFill>
                <a:latin typeface="Arial"/>
              </a:rPr>
              <a:t>RX  Serial</a:t>
            </a:r>
          </a:p>
        </p:txBody>
      </p:sp>
      <p:sp>
        <p:nvSpPr>
          <p:cNvPr id="61" name="Rectangle 60"/>
          <p:cNvSpPr/>
          <p:nvPr/>
        </p:nvSpPr>
        <p:spPr>
          <a:xfrm>
            <a:off x="5794168" y="2377440"/>
            <a:ext cx="64008" cy="64008"/>
          </a:xfrm>
          <a:prstGeom prst="rect">
            <a:avLst/>
          </a:prstGeom>
          <a:solidFill>
            <a:srgbClr val="FFFFFF"/>
          </a:solidFill>
          <a:ln w="6350">
            <a:solidFill>
              <a:srgbClr val="1A1A1A"/>
            </a:solidFill>
          </a:ln>
          <a:effectLst/>
        </p:spPr>
        <p:txBody>
          <a:bodyPr rtlCol="0" anchor="ctr"/>
          <a:lstStyle/>
          <a:p>
            <a:pPr algn="ctr"/>
          </a:p>
        </p:txBody>
      </p:sp>
      <p:sp>
        <p:nvSpPr>
          <p:cNvPr id="62" name="TextBox 61"/>
          <p:cNvSpPr txBox="1"/>
          <p:nvPr/>
        </p:nvSpPr>
        <p:spPr>
          <a:xfrm>
            <a:off x="4459144" y="2322576"/>
            <a:ext cx="1234440" cy="164592"/>
          </a:xfrm>
          <a:prstGeom prst="rect">
            <a:avLst/>
          </a:prstGeom>
          <a:noFill/>
        </p:spPr>
        <p:txBody>
          <a:bodyPr wrap="square" anchor="t" lIns="0" rIns="0" tIns="18288" bIns="18288">
            <a:spAutoFit/>
          </a:bodyPr>
          <a:lstStyle/>
          <a:p>
            <a:pPr algn="r"/>
            <a:r>
              <a:rPr sz="650" b="0" i="0">
                <a:solidFill>
                  <a:srgbClr val="595959"/>
                </a:solidFill>
                <a:latin typeface="Arial"/>
              </a:rPr>
              <a:t>1</a:t>
            </a:r>
          </a:p>
        </p:txBody>
      </p:sp>
      <p:sp>
        <p:nvSpPr>
          <p:cNvPr id="63" name="Rectangle 62"/>
          <p:cNvSpPr/>
          <p:nvPr/>
        </p:nvSpPr>
        <p:spPr>
          <a:xfrm>
            <a:off x="5794168" y="2560320"/>
            <a:ext cx="64008" cy="64008"/>
          </a:xfrm>
          <a:prstGeom prst="rect">
            <a:avLst/>
          </a:prstGeom>
          <a:solidFill>
            <a:srgbClr val="FFFFFF"/>
          </a:solidFill>
          <a:ln w="6350">
            <a:solidFill>
              <a:srgbClr val="1A1A1A"/>
            </a:solidFill>
          </a:ln>
          <a:effectLst/>
        </p:spPr>
        <p:txBody>
          <a:bodyPr rtlCol="0" anchor="ctr"/>
          <a:lstStyle/>
          <a:p>
            <a:pPr algn="ctr"/>
          </a:p>
        </p:txBody>
      </p:sp>
      <p:sp>
        <p:nvSpPr>
          <p:cNvPr id="64" name="TextBox 63"/>
          <p:cNvSpPr txBox="1"/>
          <p:nvPr/>
        </p:nvSpPr>
        <p:spPr>
          <a:xfrm>
            <a:off x="4459144" y="2505456"/>
            <a:ext cx="1234440" cy="164592"/>
          </a:xfrm>
          <a:prstGeom prst="rect">
            <a:avLst/>
          </a:prstGeom>
          <a:noFill/>
        </p:spPr>
        <p:txBody>
          <a:bodyPr wrap="square" anchor="t" lIns="0" rIns="0" tIns="18288" bIns="18288">
            <a:spAutoFit/>
          </a:bodyPr>
          <a:lstStyle/>
          <a:p>
            <a:pPr algn="r"/>
            <a:r>
              <a:rPr sz="650" b="0" i="0">
                <a:solidFill>
                  <a:srgbClr val="595959"/>
                </a:solidFill>
                <a:latin typeface="Arial"/>
              </a:rPr>
              <a:t>2</a:t>
            </a:r>
          </a:p>
        </p:txBody>
      </p:sp>
      <p:sp>
        <p:nvSpPr>
          <p:cNvPr id="65" name="Rectangle 64"/>
          <p:cNvSpPr/>
          <p:nvPr/>
        </p:nvSpPr>
        <p:spPr>
          <a:xfrm>
            <a:off x="5794168" y="2743200"/>
            <a:ext cx="64008" cy="64008"/>
          </a:xfrm>
          <a:prstGeom prst="rect">
            <a:avLst/>
          </a:prstGeom>
          <a:solidFill>
            <a:srgbClr val="FFFFFF"/>
          </a:solidFill>
          <a:ln w="6350">
            <a:solidFill>
              <a:srgbClr val="1A1A1A"/>
            </a:solidFill>
          </a:ln>
          <a:effectLst/>
        </p:spPr>
        <p:txBody>
          <a:bodyPr rtlCol="0" anchor="ctr"/>
          <a:lstStyle/>
          <a:p>
            <a:pPr algn="ctr"/>
          </a:p>
        </p:txBody>
      </p:sp>
      <p:sp>
        <p:nvSpPr>
          <p:cNvPr id="66" name="TextBox 65"/>
          <p:cNvSpPr txBox="1"/>
          <p:nvPr/>
        </p:nvSpPr>
        <p:spPr>
          <a:xfrm>
            <a:off x="4459144" y="2688336"/>
            <a:ext cx="1234440" cy="164592"/>
          </a:xfrm>
          <a:prstGeom prst="rect">
            <a:avLst/>
          </a:prstGeom>
          <a:noFill/>
        </p:spPr>
        <p:txBody>
          <a:bodyPr wrap="square" anchor="t" lIns="0" rIns="0" tIns="18288" bIns="18288">
            <a:spAutoFit/>
          </a:bodyPr>
          <a:lstStyle/>
          <a:p>
            <a:pPr algn="r"/>
            <a:r>
              <a:rPr sz="650" b="0" i="0">
                <a:solidFill>
                  <a:srgbClr val="595959"/>
                </a:solidFill>
                <a:latin typeface="Arial"/>
              </a:rPr>
              <a:t>42</a:t>
            </a:r>
          </a:p>
        </p:txBody>
      </p:sp>
      <p:sp>
        <p:nvSpPr>
          <p:cNvPr id="67" name="Rectangle 66"/>
          <p:cNvSpPr/>
          <p:nvPr/>
        </p:nvSpPr>
        <p:spPr>
          <a:xfrm>
            <a:off x="5794168" y="2926080"/>
            <a:ext cx="64008" cy="64008"/>
          </a:xfrm>
          <a:prstGeom prst="rect">
            <a:avLst/>
          </a:prstGeom>
          <a:solidFill>
            <a:srgbClr val="FFFFFF"/>
          </a:solidFill>
          <a:ln w="6350">
            <a:solidFill>
              <a:srgbClr val="1A1A1A"/>
            </a:solidFill>
          </a:ln>
          <a:effectLst/>
        </p:spPr>
        <p:txBody>
          <a:bodyPr rtlCol="0" anchor="ctr"/>
          <a:lstStyle/>
          <a:p>
            <a:pPr algn="ctr"/>
          </a:p>
        </p:txBody>
      </p:sp>
      <p:sp>
        <p:nvSpPr>
          <p:cNvPr id="68" name="TextBox 67"/>
          <p:cNvSpPr txBox="1"/>
          <p:nvPr/>
        </p:nvSpPr>
        <p:spPr>
          <a:xfrm>
            <a:off x="4459144" y="2871216"/>
            <a:ext cx="1234440" cy="164592"/>
          </a:xfrm>
          <a:prstGeom prst="rect">
            <a:avLst/>
          </a:prstGeom>
          <a:noFill/>
        </p:spPr>
        <p:txBody>
          <a:bodyPr wrap="square" anchor="t" lIns="0" rIns="0" tIns="18288" bIns="18288">
            <a:spAutoFit/>
          </a:bodyPr>
          <a:lstStyle/>
          <a:p>
            <a:pPr algn="r"/>
            <a:r>
              <a:rPr sz="650" b="0" i="0">
                <a:solidFill>
                  <a:srgbClr val="595959"/>
                </a:solidFill>
                <a:latin typeface="Arial"/>
              </a:rPr>
              <a:t>41</a:t>
            </a:r>
          </a:p>
        </p:txBody>
      </p:sp>
      <p:sp>
        <p:nvSpPr>
          <p:cNvPr id="69" name="Rectangle 68"/>
          <p:cNvSpPr/>
          <p:nvPr/>
        </p:nvSpPr>
        <p:spPr>
          <a:xfrm>
            <a:off x="5794168" y="3108960"/>
            <a:ext cx="64008" cy="64008"/>
          </a:xfrm>
          <a:prstGeom prst="rect">
            <a:avLst/>
          </a:prstGeom>
          <a:solidFill>
            <a:srgbClr val="FFFFFF"/>
          </a:solidFill>
          <a:ln w="6350">
            <a:solidFill>
              <a:srgbClr val="1A1A1A"/>
            </a:solidFill>
          </a:ln>
          <a:effectLst/>
        </p:spPr>
        <p:txBody>
          <a:bodyPr rtlCol="0" anchor="ctr"/>
          <a:lstStyle/>
          <a:p>
            <a:pPr algn="ctr"/>
          </a:p>
        </p:txBody>
      </p:sp>
      <p:sp>
        <p:nvSpPr>
          <p:cNvPr id="70" name="TextBox 69"/>
          <p:cNvSpPr txBox="1"/>
          <p:nvPr/>
        </p:nvSpPr>
        <p:spPr>
          <a:xfrm>
            <a:off x="4459144" y="3054096"/>
            <a:ext cx="1234440" cy="164592"/>
          </a:xfrm>
          <a:prstGeom prst="rect">
            <a:avLst/>
          </a:prstGeom>
          <a:noFill/>
        </p:spPr>
        <p:txBody>
          <a:bodyPr wrap="square" anchor="t" lIns="0" rIns="0" tIns="18288" bIns="18288">
            <a:spAutoFit/>
          </a:bodyPr>
          <a:lstStyle/>
          <a:p>
            <a:pPr algn="r"/>
            <a:r>
              <a:rPr sz="650" b="0" i="0">
                <a:solidFill>
                  <a:srgbClr val="595959"/>
                </a:solidFill>
                <a:latin typeface="Arial"/>
              </a:rPr>
              <a:t>40</a:t>
            </a:r>
          </a:p>
        </p:txBody>
      </p:sp>
      <p:sp>
        <p:nvSpPr>
          <p:cNvPr id="71" name="Rectangle 70"/>
          <p:cNvSpPr/>
          <p:nvPr/>
        </p:nvSpPr>
        <p:spPr>
          <a:xfrm>
            <a:off x="5794168" y="3291840"/>
            <a:ext cx="64008" cy="64008"/>
          </a:xfrm>
          <a:prstGeom prst="rect">
            <a:avLst/>
          </a:prstGeom>
          <a:solidFill>
            <a:srgbClr val="FFFFFF"/>
          </a:solidFill>
          <a:ln w="6350">
            <a:solidFill>
              <a:srgbClr val="1A1A1A"/>
            </a:solidFill>
          </a:ln>
          <a:effectLst/>
        </p:spPr>
        <p:txBody>
          <a:bodyPr rtlCol="0" anchor="ctr"/>
          <a:lstStyle/>
          <a:p>
            <a:pPr algn="ctr"/>
          </a:p>
        </p:txBody>
      </p:sp>
      <p:sp>
        <p:nvSpPr>
          <p:cNvPr id="72" name="TextBox 71"/>
          <p:cNvSpPr txBox="1"/>
          <p:nvPr/>
        </p:nvSpPr>
        <p:spPr>
          <a:xfrm>
            <a:off x="4459144" y="3236976"/>
            <a:ext cx="1234440" cy="164592"/>
          </a:xfrm>
          <a:prstGeom prst="rect">
            <a:avLst/>
          </a:prstGeom>
          <a:noFill/>
        </p:spPr>
        <p:txBody>
          <a:bodyPr wrap="square" anchor="t" lIns="0" rIns="0" tIns="18288" bIns="18288">
            <a:spAutoFit/>
          </a:bodyPr>
          <a:lstStyle/>
          <a:p>
            <a:pPr algn="r"/>
            <a:r>
              <a:rPr sz="650" b="0" i="0">
                <a:solidFill>
                  <a:srgbClr val="595959"/>
                </a:solidFill>
                <a:latin typeface="Arial"/>
              </a:rPr>
              <a:t>39</a:t>
            </a:r>
          </a:p>
        </p:txBody>
      </p:sp>
      <p:sp>
        <p:nvSpPr>
          <p:cNvPr id="73" name="Rectangle 72"/>
          <p:cNvSpPr/>
          <p:nvPr/>
        </p:nvSpPr>
        <p:spPr>
          <a:xfrm>
            <a:off x="5794168" y="3474720"/>
            <a:ext cx="64008" cy="64008"/>
          </a:xfrm>
          <a:prstGeom prst="rect">
            <a:avLst/>
          </a:prstGeom>
          <a:solidFill>
            <a:srgbClr val="FFFFFF"/>
          </a:solidFill>
          <a:ln w="6350">
            <a:solidFill>
              <a:srgbClr val="1A1A1A"/>
            </a:solidFill>
          </a:ln>
          <a:effectLst/>
        </p:spPr>
        <p:txBody>
          <a:bodyPr rtlCol="0" anchor="ctr"/>
          <a:lstStyle/>
          <a:p>
            <a:pPr algn="ctr"/>
          </a:p>
        </p:txBody>
      </p:sp>
      <p:sp>
        <p:nvSpPr>
          <p:cNvPr id="74" name="TextBox 73"/>
          <p:cNvSpPr txBox="1"/>
          <p:nvPr/>
        </p:nvSpPr>
        <p:spPr>
          <a:xfrm>
            <a:off x="4459144" y="3419856"/>
            <a:ext cx="1234440" cy="164592"/>
          </a:xfrm>
          <a:prstGeom prst="rect">
            <a:avLst/>
          </a:prstGeom>
          <a:noFill/>
        </p:spPr>
        <p:txBody>
          <a:bodyPr wrap="square" anchor="t" lIns="0" rIns="0" tIns="18288" bIns="18288">
            <a:spAutoFit/>
          </a:bodyPr>
          <a:lstStyle/>
          <a:p>
            <a:pPr algn="r"/>
            <a:r>
              <a:rPr sz="650" b="0" i="0">
                <a:solidFill>
                  <a:srgbClr val="1A1A1A"/>
                </a:solidFill>
                <a:latin typeface="Arial"/>
              </a:rPr>
              <a:t>38  RGB LED (v1.1)</a:t>
            </a:r>
          </a:p>
        </p:txBody>
      </p:sp>
      <p:sp>
        <p:nvSpPr>
          <p:cNvPr id="75" name="Rectangle 74"/>
          <p:cNvSpPr/>
          <p:nvPr/>
        </p:nvSpPr>
        <p:spPr>
          <a:xfrm>
            <a:off x="5794168" y="3657600"/>
            <a:ext cx="64008" cy="64008"/>
          </a:xfrm>
          <a:prstGeom prst="rect">
            <a:avLst/>
          </a:prstGeom>
          <a:solidFill>
            <a:srgbClr val="FFFFFF"/>
          </a:solidFill>
          <a:ln w="6350">
            <a:solidFill>
              <a:srgbClr val="1A1A1A"/>
            </a:solidFill>
          </a:ln>
          <a:effectLst/>
        </p:spPr>
        <p:txBody>
          <a:bodyPr rtlCol="0" anchor="ctr"/>
          <a:lstStyle/>
          <a:p>
            <a:pPr algn="ctr"/>
          </a:p>
        </p:txBody>
      </p:sp>
      <p:sp>
        <p:nvSpPr>
          <p:cNvPr id="76" name="TextBox 75"/>
          <p:cNvSpPr txBox="1"/>
          <p:nvPr/>
        </p:nvSpPr>
        <p:spPr>
          <a:xfrm>
            <a:off x="4459144" y="3602736"/>
            <a:ext cx="1234440" cy="164592"/>
          </a:xfrm>
          <a:prstGeom prst="rect">
            <a:avLst/>
          </a:prstGeom>
          <a:noFill/>
        </p:spPr>
        <p:txBody>
          <a:bodyPr wrap="square" anchor="t" lIns="0" rIns="0" tIns="18288" bIns="18288">
            <a:spAutoFit/>
          </a:bodyPr>
          <a:lstStyle/>
          <a:p>
            <a:pPr algn="r"/>
            <a:r>
              <a:rPr sz="650" b="0" i="0">
                <a:solidFill>
                  <a:srgbClr val="1A1A1A"/>
                </a:solidFill>
                <a:latin typeface="Arial"/>
              </a:rPr>
              <a:t>37  PSRAM</a:t>
            </a:r>
          </a:p>
        </p:txBody>
      </p:sp>
      <p:sp>
        <p:nvSpPr>
          <p:cNvPr id="77" name="Rectangle 76"/>
          <p:cNvSpPr/>
          <p:nvPr/>
        </p:nvSpPr>
        <p:spPr>
          <a:xfrm>
            <a:off x="5794168" y="3840480"/>
            <a:ext cx="64008" cy="64008"/>
          </a:xfrm>
          <a:prstGeom prst="rect">
            <a:avLst/>
          </a:prstGeom>
          <a:solidFill>
            <a:srgbClr val="FFFFFF"/>
          </a:solidFill>
          <a:ln w="6350">
            <a:solidFill>
              <a:srgbClr val="1A1A1A"/>
            </a:solidFill>
          </a:ln>
          <a:effectLst/>
        </p:spPr>
        <p:txBody>
          <a:bodyPr rtlCol="0" anchor="ctr"/>
          <a:lstStyle/>
          <a:p>
            <a:pPr algn="ctr"/>
          </a:p>
        </p:txBody>
      </p:sp>
      <p:sp>
        <p:nvSpPr>
          <p:cNvPr id="78" name="TextBox 77"/>
          <p:cNvSpPr txBox="1"/>
          <p:nvPr/>
        </p:nvSpPr>
        <p:spPr>
          <a:xfrm>
            <a:off x="4459144" y="3785616"/>
            <a:ext cx="1234440" cy="164592"/>
          </a:xfrm>
          <a:prstGeom prst="rect">
            <a:avLst/>
          </a:prstGeom>
          <a:noFill/>
        </p:spPr>
        <p:txBody>
          <a:bodyPr wrap="square" anchor="t" lIns="0" rIns="0" tIns="18288" bIns="18288">
            <a:spAutoFit/>
          </a:bodyPr>
          <a:lstStyle/>
          <a:p>
            <a:pPr algn="r"/>
            <a:r>
              <a:rPr sz="650" b="0" i="0">
                <a:solidFill>
                  <a:srgbClr val="1A1A1A"/>
                </a:solidFill>
                <a:latin typeface="Arial"/>
              </a:rPr>
              <a:t>36  PSRAM</a:t>
            </a:r>
          </a:p>
        </p:txBody>
      </p:sp>
      <p:sp>
        <p:nvSpPr>
          <p:cNvPr id="79" name="Rectangle 78"/>
          <p:cNvSpPr/>
          <p:nvPr/>
        </p:nvSpPr>
        <p:spPr>
          <a:xfrm>
            <a:off x="5794168" y="4023360"/>
            <a:ext cx="64008" cy="64008"/>
          </a:xfrm>
          <a:prstGeom prst="rect">
            <a:avLst/>
          </a:prstGeom>
          <a:solidFill>
            <a:srgbClr val="FFFFFF"/>
          </a:solidFill>
          <a:ln w="6350">
            <a:solidFill>
              <a:srgbClr val="1A1A1A"/>
            </a:solidFill>
          </a:ln>
          <a:effectLst/>
        </p:spPr>
        <p:txBody>
          <a:bodyPr rtlCol="0" anchor="ctr"/>
          <a:lstStyle/>
          <a:p>
            <a:pPr algn="ctr"/>
          </a:p>
        </p:txBody>
      </p:sp>
      <p:sp>
        <p:nvSpPr>
          <p:cNvPr id="80" name="TextBox 79"/>
          <p:cNvSpPr txBox="1"/>
          <p:nvPr/>
        </p:nvSpPr>
        <p:spPr>
          <a:xfrm>
            <a:off x="4459144" y="3968496"/>
            <a:ext cx="1234440" cy="164592"/>
          </a:xfrm>
          <a:prstGeom prst="rect">
            <a:avLst/>
          </a:prstGeom>
          <a:noFill/>
        </p:spPr>
        <p:txBody>
          <a:bodyPr wrap="square" anchor="t" lIns="0" rIns="0" tIns="18288" bIns="18288">
            <a:spAutoFit/>
          </a:bodyPr>
          <a:lstStyle/>
          <a:p>
            <a:pPr algn="r"/>
            <a:r>
              <a:rPr sz="650" b="0" i="0">
                <a:solidFill>
                  <a:srgbClr val="1A1A1A"/>
                </a:solidFill>
                <a:latin typeface="Arial"/>
              </a:rPr>
              <a:t>35  PSRAM</a:t>
            </a:r>
          </a:p>
        </p:txBody>
      </p:sp>
      <p:sp>
        <p:nvSpPr>
          <p:cNvPr id="81" name="Rectangle 80"/>
          <p:cNvSpPr/>
          <p:nvPr/>
        </p:nvSpPr>
        <p:spPr>
          <a:xfrm>
            <a:off x="5794168" y="4206240"/>
            <a:ext cx="64008" cy="64008"/>
          </a:xfrm>
          <a:prstGeom prst="rect">
            <a:avLst/>
          </a:prstGeom>
          <a:solidFill>
            <a:srgbClr val="FFFFFF"/>
          </a:solidFill>
          <a:ln w="6350">
            <a:solidFill>
              <a:srgbClr val="1A1A1A"/>
            </a:solidFill>
          </a:ln>
          <a:effectLst/>
        </p:spPr>
        <p:txBody>
          <a:bodyPr rtlCol="0" anchor="ctr"/>
          <a:lstStyle/>
          <a:p>
            <a:pPr algn="ctr"/>
          </a:p>
        </p:txBody>
      </p:sp>
      <p:sp>
        <p:nvSpPr>
          <p:cNvPr id="82" name="TextBox 81"/>
          <p:cNvSpPr txBox="1"/>
          <p:nvPr/>
        </p:nvSpPr>
        <p:spPr>
          <a:xfrm>
            <a:off x="4459144" y="4151376"/>
            <a:ext cx="1234440" cy="164592"/>
          </a:xfrm>
          <a:prstGeom prst="rect">
            <a:avLst/>
          </a:prstGeom>
          <a:noFill/>
        </p:spPr>
        <p:txBody>
          <a:bodyPr wrap="square" anchor="t" lIns="0" rIns="0" tIns="18288" bIns="18288">
            <a:spAutoFit/>
          </a:bodyPr>
          <a:lstStyle/>
          <a:p>
            <a:pPr algn="r"/>
            <a:r>
              <a:rPr sz="650" b="0" i="0">
                <a:solidFill>
                  <a:srgbClr val="1A1A1A"/>
                </a:solidFill>
                <a:latin typeface="Arial"/>
              </a:rPr>
              <a:t>0  BOOT</a:t>
            </a:r>
          </a:p>
        </p:txBody>
      </p:sp>
      <p:sp>
        <p:nvSpPr>
          <p:cNvPr id="83" name="Rectangle 82"/>
          <p:cNvSpPr/>
          <p:nvPr/>
        </p:nvSpPr>
        <p:spPr>
          <a:xfrm>
            <a:off x="5794168" y="4389120"/>
            <a:ext cx="64008" cy="64008"/>
          </a:xfrm>
          <a:prstGeom prst="rect">
            <a:avLst/>
          </a:prstGeom>
          <a:solidFill>
            <a:srgbClr val="FFFFFF"/>
          </a:solidFill>
          <a:ln w="6350">
            <a:solidFill>
              <a:srgbClr val="1A1A1A"/>
            </a:solidFill>
          </a:ln>
          <a:effectLst/>
        </p:spPr>
        <p:txBody>
          <a:bodyPr rtlCol="0" anchor="ctr"/>
          <a:lstStyle/>
          <a:p>
            <a:pPr algn="ctr"/>
          </a:p>
        </p:txBody>
      </p:sp>
      <p:sp>
        <p:nvSpPr>
          <p:cNvPr id="84" name="TextBox 83"/>
          <p:cNvSpPr txBox="1"/>
          <p:nvPr/>
        </p:nvSpPr>
        <p:spPr>
          <a:xfrm>
            <a:off x="4459144" y="4334256"/>
            <a:ext cx="1234440" cy="164592"/>
          </a:xfrm>
          <a:prstGeom prst="rect">
            <a:avLst/>
          </a:prstGeom>
          <a:noFill/>
        </p:spPr>
        <p:txBody>
          <a:bodyPr wrap="square" anchor="t" lIns="0" rIns="0" tIns="18288" bIns="18288">
            <a:spAutoFit/>
          </a:bodyPr>
          <a:lstStyle/>
          <a:p>
            <a:pPr algn="r"/>
            <a:r>
              <a:rPr sz="650" b="0" i="0">
                <a:solidFill>
                  <a:srgbClr val="1A1A1A"/>
                </a:solidFill>
                <a:latin typeface="Arial"/>
              </a:rPr>
              <a:t>45  strapping</a:t>
            </a:r>
          </a:p>
        </p:txBody>
      </p:sp>
      <p:sp>
        <p:nvSpPr>
          <p:cNvPr id="85" name="Rectangle 84"/>
          <p:cNvSpPr/>
          <p:nvPr/>
        </p:nvSpPr>
        <p:spPr>
          <a:xfrm>
            <a:off x="5794168" y="4572000"/>
            <a:ext cx="64008" cy="64008"/>
          </a:xfrm>
          <a:prstGeom prst="rect">
            <a:avLst/>
          </a:prstGeom>
          <a:solidFill>
            <a:srgbClr val="FFFFFF"/>
          </a:solidFill>
          <a:ln w="6350">
            <a:solidFill>
              <a:srgbClr val="1A1A1A"/>
            </a:solidFill>
          </a:ln>
          <a:effectLst/>
        </p:spPr>
        <p:txBody>
          <a:bodyPr rtlCol="0" anchor="ctr"/>
          <a:lstStyle/>
          <a:p>
            <a:pPr algn="ctr"/>
          </a:p>
        </p:txBody>
      </p:sp>
      <p:sp>
        <p:nvSpPr>
          <p:cNvPr id="86" name="TextBox 85"/>
          <p:cNvSpPr txBox="1"/>
          <p:nvPr/>
        </p:nvSpPr>
        <p:spPr>
          <a:xfrm>
            <a:off x="4459144" y="4517136"/>
            <a:ext cx="1234440" cy="164592"/>
          </a:xfrm>
          <a:prstGeom prst="rect">
            <a:avLst/>
          </a:prstGeom>
          <a:noFill/>
        </p:spPr>
        <p:txBody>
          <a:bodyPr wrap="square" anchor="t" lIns="0" rIns="0" tIns="18288" bIns="18288">
            <a:spAutoFit/>
          </a:bodyPr>
          <a:lstStyle/>
          <a:p>
            <a:pPr algn="r"/>
            <a:r>
              <a:rPr sz="650" b="0" i="0">
                <a:solidFill>
                  <a:srgbClr val="1A1A1A"/>
                </a:solidFill>
                <a:latin typeface="Arial"/>
              </a:rPr>
              <a:t>48  RGB LED (v1.0)</a:t>
            </a:r>
          </a:p>
        </p:txBody>
      </p:sp>
      <p:sp>
        <p:nvSpPr>
          <p:cNvPr id="87" name="Rectangle 86"/>
          <p:cNvSpPr/>
          <p:nvPr/>
        </p:nvSpPr>
        <p:spPr>
          <a:xfrm>
            <a:off x="5794168" y="4754880"/>
            <a:ext cx="64008" cy="64008"/>
          </a:xfrm>
          <a:prstGeom prst="rect">
            <a:avLst/>
          </a:prstGeom>
          <a:solidFill>
            <a:srgbClr val="FFFFFF"/>
          </a:solidFill>
          <a:ln w="6350">
            <a:solidFill>
              <a:srgbClr val="1A1A1A"/>
            </a:solidFill>
          </a:ln>
          <a:effectLst/>
        </p:spPr>
        <p:txBody>
          <a:bodyPr rtlCol="0" anchor="ctr"/>
          <a:lstStyle/>
          <a:p>
            <a:pPr algn="ctr"/>
          </a:p>
        </p:txBody>
      </p:sp>
      <p:sp>
        <p:nvSpPr>
          <p:cNvPr id="88" name="TextBox 87"/>
          <p:cNvSpPr txBox="1"/>
          <p:nvPr/>
        </p:nvSpPr>
        <p:spPr>
          <a:xfrm>
            <a:off x="4459144" y="4700016"/>
            <a:ext cx="1234440" cy="164592"/>
          </a:xfrm>
          <a:prstGeom prst="rect">
            <a:avLst/>
          </a:prstGeom>
          <a:noFill/>
        </p:spPr>
        <p:txBody>
          <a:bodyPr wrap="square" anchor="t" lIns="0" rIns="0" tIns="18288" bIns="18288">
            <a:spAutoFit/>
          </a:bodyPr>
          <a:lstStyle/>
          <a:p>
            <a:pPr algn="r"/>
            <a:r>
              <a:rPr sz="650" b="0" i="0">
                <a:solidFill>
                  <a:srgbClr val="595959"/>
                </a:solidFill>
                <a:latin typeface="Arial"/>
              </a:rPr>
              <a:t>47</a:t>
            </a:r>
          </a:p>
        </p:txBody>
      </p:sp>
      <p:sp>
        <p:nvSpPr>
          <p:cNvPr id="89" name="Rectangle 88"/>
          <p:cNvSpPr/>
          <p:nvPr/>
        </p:nvSpPr>
        <p:spPr>
          <a:xfrm>
            <a:off x="5794168" y="4937760"/>
            <a:ext cx="64008" cy="64008"/>
          </a:xfrm>
          <a:prstGeom prst="rect">
            <a:avLst/>
          </a:prstGeom>
          <a:solidFill>
            <a:srgbClr val="FFFFFF"/>
          </a:solidFill>
          <a:ln w="6350">
            <a:solidFill>
              <a:srgbClr val="1A1A1A"/>
            </a:solidFill>
          </a:ln>
          <a:effectLst/>
        </p:spPr>
        <p:txBody>
          <a:bodyPr rtlCol="0" anchor="ctr"/>
          <a:lstStyle/>
          <a:p>
            <a:pPr algn="ctr"/>
          </a:p>
        </p:txBody>
      </p:sp>
      <p:sp>
        <p:nvSpPr>
          <p:cNvPr id="90" name="TextBox 89"/>
          <p:cNvSpPr txBox="1"/>
          <p:nvPr/>
        </p:nvSpPr>
        <p:spPr>
          <a:xfrm>
            <a:off x="4459144" y="4882896"/>
            <a:ext cx="1234440" cy="164592"/>
          </a:xfrm>
          <a:prstGeom prst="rect">
            <a:avLst/>
          </a:prstGeom>
          <a:noFill/>
        </p:spPr>
        <p:txBody>
          <a:bodyPr wrap="square" anchor="t" lIns="0" rIns="0" tIns="18288" bIns="18288">
            <a:spAutoFit/>
          </a:bodyPr>
          <a:lstStyle/>
          <a:p>
            <a:pPr algn="r"/>
            <a:r>
              <a:rPr sz="650" b="0" i="0">
                <a:solidFill>
                  <a:srgbClr val="595959"/>
                </a:solidFill>
                <a:latin typeface="Arial"/>
              </a:rPr>
              <a:t>21</a:t>
            </a:r>
          </a:p>
        </p:txBody>
      </p:sp>
      <p:sp>
        <p:nvSpPr>
          <p:cNvPr id="91" name="Rectangle 90"/>
          <p:cNvSpPr/>
          <p:nvPr/>
        </p:nvSpPr>
        <p:spPr>
          <a:xfrm>
            <a:off x="5794168" y="5120640"/>
            <a:ext cx="64008" cy="64008"/>
          </a:xfrm>
          <a:prstGeom prst="rect">
            <a:avLst/>
          </a:prstGeom>
          <a:solidFill>
            <a:srgbClr val="FFFFFF"/>
          </a:solidFill>
          <a:ln w="6350">
            <a:solidFill>
              <a:srgbClr val="1A1A1A"/>
            </a:solidFill>
          </a:ln>
          <a:effectLst/>
        </p:spPr>
        <p:txBody>
          <a:bodyPr rtlCol="0" anchor="ctr"/>
          <a:lstStyle/>
          <a:p>
            <a:pPr algn="ctr"/>
          </a:p>
        </p:txBody>
      </p:sp>
      <p:sp>
        <p:nvSpPr>
          <p:cNvPr id="92" name="TextBox 91"/>
          <p:cNvSpPr txBox="1"/>
          <p:nvPr/>
        </p:nvSpPr>
        <p:spPr>
          <a:xfrm>
            <a:off x="4459144" y="5065776"/>
            <a:ext cx="1234440" cy="164592"/>
          </a:xfrm>
          <a:prstGeom prst="rect">
            <a:avLst/>
          </a:prstGeom>
          <a:noFill/>
        </p:spPr>
        <p:txBody>
          <a:bodyPr wrap="square" anchor="t" lIns="0" rIns="0" tIns="18288" bIns="18288">
            <a:spAutoFit/>
          </a:bodyPr>
          <a:lstStyle/>
          <a:p>
            <a:pPr algn="r"/>
            <a:r>
              <a:rPr sz="650" b="0" i="0">
                <a:solidFill>
                  <a:srgbClr val="1A1A1A"/>
                </a:solidFill>
                <a:latin typeface="Arial"/>
              </a:rPr>
              <a:t>20  USB D+</a:t>
            </a:r>
          </a:p>
        </p:txBody>
      </p:sp>
      <p:sp>
        <p:nvSpPr>
          <p:cNvPr id="93" name="Rectangle 92"/>
          <p:cNvSpPr/>
          <p:nvPr/>
        </p:nvSpPr>
        <p:spPr>
          <a:xfrm>
            <a:off x="5794168" y="5303520"/>
            <a:ext cx="64008" cy="64008"/>
          </a:xfrm>
          <a:prstGeom prst="rect">
            <a:avLst/>
          </a:prstGeom>
          <a:solidFill>
            <a:srgbClr val="FFFFFF"/>
          </a:solidFill>
          <a:ln w="6350">
            <a:solidFill>
              <a:srgbClr val="1A1A1A"/>
            </a:solidFill>
          </a:ln>
          <a:effectLst/>
        </p:spPr>
        <p:txBody>
          <a:bodyPr rtlCol="0" anchor="ctr"/>
          <a:lstStyle/>
          <a:p>
            <a:pPr algn="ctr"/>
          </a:p>
        </p:txBody>
      </p:sp>
      <p:sp>
        <p:nvSpPr>
          <p:cNvPr id="94" name="TextBox 93"/>
          <p:cNvSpPr txBox="1"/>
          <p:nvPr/>
        </p:nvSpPr>
        <p:spPr>
          <a:xfrm>
            <a:off x="4459144" y="5248656"/>
            <a:ext cx="1234440" cy="164592"/>
          </a:xfrm>
          <a:prstGeom prst="rect">
            <a:avLst/>
          </a:prstGeom>
          <a:noFill/>
        </p:spPr>
        <p:txBody>
          <a:bodyPr wrap="square" anchor="t" lIns="0" rIns="0" tIns="18288" bIns="18288">
            <a:spAutoFit/>
          </a:bodyPr>
          <a:lstStyle/>
          <a:p>
            <a:pPr algn="r"/>
            <a:r>
              <a:rPr sz="650" b="0" i="0">
                <a:solidFill>
                  <a:srgbClr val="1A1A1A"/>
                </a:solidFill>
                <a:latin typeface="Arial"/>
              </a:rPr>
              <a:t>19  USB D-</a:t>
            </a:r>
          </a:p>
        </p:txBody>
      </p:sp>
      <p:sp>
        <p:nvSpPr>
          <p:cNvPr id="95" name="Rectangle 94"/>
          <p:cNvSpPr/>
          <p:nvPr/>
        </p:nvSpPr>
        <p:spPr>
          <a:xfrm>
            <a:off x="5794168" y="5486400"/>
            <a:ext cx="64008" cy="64008"/>
          </a:xfrm>
          <a:prstGeom prst="rect">
            <a:avLst/>
          </a:prstGeom>
          <a:solidFill>
            <a:srgbClr val="FFFFFF"/>
          </a:solidFill>
          <a:ln w="6350">
            <a:solidFill>
              <a:srgbClr val="1A1A1A"/>
            </a:solidFill>
          </a:ln>
          <a:effectLst/>
        </p:spPr>
        <p:txBody>
          <a:bodyPr rtlCol="0" anchor="ctr"/>
          <a:lstStyle/>
          <a:p>
            <a:pPr algn="ctr"/>
          </a:p>
        </p:txBody>
      </p:sp>
      <p:sp>
        <p:nvSpPr>
          <p:cNvPr id="96" name="TextBox 95"/>
          <p:cNvSpPr txBox="1"/>
          <p:nvPr/>
        </p:nvSpPr>
        <p:spPr>
          <a:xfrm>
            <a:off x="4459144" y="5431536"/>
            <a:ext cx="1234440" cy="164592"/>
          </a:xfrm>
          <a:prstGeom prst="rect">
            <a:avLst/>
          </a:prstGeom>
          <a:noFill/>
        </p:spPr>
        <p:txBody>
          <a:bodyPr wrap="square" anchor="t" lIns="0" rIns="0" tIns="18288" bIns="18288">
            <a:spAutoFit/>
          </a:bodyPr>
          <a:lstStyle/>
          <a:p>
            <a:pPr algn="r"/>
            <a:r>
              <a:rPr sz="650" b="0" i="0">
                <a:solidFill>
                  <a:srgbClr val="595959"/>
                </a:solidFill>
                <a:latin typeface="Arial"/>
              </a:rPr>
              <a:t>GND</a:t>
            </a:r>
          </a:p>
        </p:txBody>
      </p:sp>
      <p:sp>
        <p:nvSpPr>
          <p:cNvPr id="97" name="Rectangle 96"/>
          <p:cNvSpPr/>
          <p:nvPr/>
        </p:nvSpPr>
        <p:spPr>
          <a:xfrm>
            <a:off x="5794168" y="5669280"/>
            <a:ext cx="64008" cy="64008"/>
          </a:xfrm>
          <a:prstGeom prst="rect">
            <a:avLst/>
          </a:prstGeom>
          <a:solidFill>
            <a:srgbClr val="FFFFFF"/>
          </a:solidFill>
          <a:ln w="6350">
            <a:solidFill>
              <a:srgbClr val="1A1A1A"/>
            </a:solidFill>
          </a:ln>
          <a:effectLst/>
        </p:spPr>
        <p:txBody>
          <a:bodyPr rtlCol="0" anchor="ctr"/>
          <a:lstStyle/>
          <a:p>
            <a:pPr algn="ctr"/>
          </a:p>
        </p:txBody>
      </p:sp>
      <p:sp>
        <p:nvSpPr>
          <p:cNvPr id="98" name="TextBox 97"/>
          <p:cNvSpPr txBox="1"/>
          <p:nvPr/>
        </p:nvSpPr>
        <p:spPr>
          <a:xfrm>
            <a:off x="4459144" y="5614416"/>
            <a:ext cx="1234440" cy="164592"/>
          </a:xfrm>
          <a:prstGeom prst="rect">
            <a:avLst/>
          </a:prstGeom>
          <a:noFill/>
        </p:spPr>
        <p:txBody>
          <a:bodyPr wrap="square" anchor="t" lIns="0" rIns="0" tIns="18288" bIns="18288">
            <a:spAutoFit/>
          </a:bodyPr>
          <a:lstStyle/>
          <a:p>
            <a:pPr algn="r"/>
            <a:r>
              <a:rPr sz="650" b="0" i="0">
                <a:solidFill>
                  <a:srgbClr val="595959"/>
                </a:solidFill>
                <a:latin typeface="Arial"/>
              </a:rPr>
              <a:t>GND</a:t>
            </a:r>
          </a:p>
        </p:txBody>
      </p:sp>
      <p:sp>
        <p:nvSpPr>
          <p:cNvPr id="99" name="Oval 98"/>
          <p:cNvSpPr/>
          <p:nvPr/>
        </p:nvSpPr>
        <p:spPr>
          <a:xfrm>
            <a:off x="3343576" y="3485692"/>
            <a:ext cx="128016" cy="128016"/>
          </a:xfrm>
          <a:prstGeom prst="ellipse">
            <a:avLst/>
          </a:prstGeom>
          <a:solidFill>
            <a:srgbClr val="1F4E79"/>
          </a:solidFill>
          <a:ln>
            <a:noFill/>
          </a:ln>
          <a:effectLst/>
        </p:spPr>
        <p:txBody>
          <a:bodyPr rtlCol="0" anchor="ctr"/>
          <a:lstStyle/>
          <a:p>
            <a:pPr algn="ctr"/>
          </a:p>
        </p:txBody>
      </p:sp>
      <p:sp>
        <p:nvSpPr>
          <p:cNvPr id="100" name="TextBox 99"/>
          <p:cNvSpPr txBox="1"/>
          <p:nvPr/>
        </p:nvSpPr>
        <p:spPr>
          <a:xfrm>
            <a:off x="2356024" y="3631996"/>
            <a:ext cx="2103119" cy="182880"/>
          </a:xfrm>
          <a:prstGeom prst="rect">
            <a:avLst/>
          </a:prstGeom>
          <a:noFill/>
        </p:spPr>
        <p:txBody>
          <a:bodyPr wrap="square" anchor="t" lIns="0" rIns="0" tIns="18288" bIns="18288">
            <a:spAutoFit/>
          </a:bodyPr>
          <a:lstStyle/>
          <a:p>
            <a:pPr algn="ctr"/>
            <a:r>
              <a:rPr sz="800" b="0" i="0">
                <a:solidFill>
                  <a:srgbClr val="1F4E79"/>
                </a:solidFill>
                <a:latin typeface="Arial"/>
              </a:rPr>
              <a:t>RGB LED  GPIO 48 or 38</a:t>
            </a:r>
          </a:p>
        </p:txBody>
      </p:sp>
      <p:sp>
        <p:nvSpPr>
          <p:cNvPr id="101" name="Rectangle 100"/>
          <p:cNvSpPr/>
          <p:nvPr/>
        </p:nvSpPr>
        <p:spPr>
          <a:xfrm>
            <a:off x="2401744" y="4983480"/>
            <a:ext cx="502920" cy="237744"/>
          </a:xfrm>
          <a:prstGeom prst="rect">
            <a:avLst/>
          </a:prstGeom>
          <a:noFill/>
          <a:ln w="9525">
            <a:solidFill>
              <a:srgbClr val="1A1A1A"/>
            </a:solidFill>
          </a:ln>
          <a:effectLst/>
        </p:spPr>
        <p:txBody>
          <a:bodyPr rtlCol="0" anchor="ctr" wrap="square" lIns="45720" rIns="45720" tIns="18288" bIns="18288"/>
          <a:lstStyle/>
          <a:p>
            <a:pPr algn="ctr"/>
            <a:r>
              <a:rPr sz="800" b="0" i="0">
                <a:solidFill>
                  <a:srgbClr val="1A1A1A"/>
                </a:solidFill>
                <a:latin typeface="Arial"/>
              </a:rPr>
              <a:t>RST</a:t>
            </a:r>
          </a:p>
        </p:txBody>
      </p:sp>
      <p:sp>
        <p:nvSpPr>
          <p:cNvPr id="102" name="Rectangle 101"/>
          <p:cNvSpPr/>
          <p:nvPr/>
        </p:nvSpPr>
        <p:spPr>
          <a:xfrm>
            <a:off x="3910504" y="4983480"/>
            <a:ext cx="502920" cy="237744"/>
          </a:xfrm>
          <a:prstGeom prst="rect">
            <a:avLst/>
          </a:prstGeom>
          <a:noFill/>
          <a:ln w="9525">
            <a:solidFill>
              <a:srgbClr val="1A1A1A"/>
            </a:solidFill>
          </a:ln>
          <a:effectLst/>
        </p:spPr>
        <p:txBody>
          <a:bodyPr rtlCol="0" anchor="ctr" wrap="square" lIns="45720" rIns="45720" tIns="18288" bIns="18288"/>
          <a:lstStyle/>
          <a:p>
            <a:pPr algn="ctr"/>
            <a:r>
              <a:rPr sz="800" b="0" i="0">
                <a:solidFill>
                  <a:srgbClr val="1A1A1A"/>
                </a:solidFill>
                <a:latin typeface="Arial"/>
              </a:rPr>
              <a:t>BOOT</a:t>
            </a:r>
          </a:p>
        </p:txBody>
      </p:sp>
      <p:sp>
        <p:nvSpPr>
          <p:cNvPr id="103" name="TextBox 102"/>
          <p:cNvSpPr txBox="1"/>
          <p:nvPr/>
        </p:nvSpPr>
        <p:spPr>
          <a:xfrm>
            <a:off x="3636184" y="5230368"/>
            <a:ext cx="777240" cy="164592"/>
          </a:xfrm>
          <a:prstGeom prst="rect">
            <a:avLst/>
          </a:prstGeom>
          <a:noFill/>
        </p:spPr>
        <p:txBody>
          <a:bodyPr wrap="square" anchor="t" lIns="0" rIns="0" tIns="18288" bIns="18288">
            <a:spAutoFit/>
          </a:bodyPr>
          <a:lstStyle/>
          <a:p>
            <a:pPr algn="r"/>
            <a:r>
              <a:rPr sz="700" b="0" i="0">
                <a:solidFill>
                  <a:srgbClr val="595959"/>
                </a:solidFill>
                <a:latin typeface="Arial"/>
              </a:rPr>
              <a:t>→ GPIO 0</a:t>
            </a:r>
          </a:p>
        </p:txBody>
      </p:sp>
      <p:sp>
        <p:nvSpPr>
          <p:cNvPr id="104" name="Rectangle 103"/>
          <p:cNvSpPr/>
          <p:nvPr/>
        </p:nvSpPr>
        <p:spPr>
          <a:xfrm>
            <a:off x="3133264" y="4956048"/>
            <a:ext cx="548640" cy="274320"/>
          </a:xfrm>
          <a:prstGeom prst="rect">
            <a:avLst/>
          </a:prstGeom>
          <a:noFill/>
          <a:ln w="9525">
            <a:solidFill>
              <a:srgbClr val="1A1A1A"/>
            </a:solidFill>
          </a:ln>
          <a:effectLst/>
        </p:spPr>
        <p:txBody>
          <a:bodyPr rtlCol="0" anchor="ctr" wrap="square" lIns="45720" rIns="45720" tIns="18288" bIns="18288"/>
          <a:lstStyle/>
          <a:p>
            <a:pPr algn="ctr"/>
            <a:r>
              <a:rPr sz="600" b="0" i="0">
                <a:solidFill>
                  <a:srgbClr val="1A1A1A"/>
                </a:solidFill>
                <a:latin typeface="Arial"/>
              </a:rPr>
              <a:t>CP2102N</a:t>
            </a:r>
          </a:p>
          <a:p>
            <a:pPr algn="ctr"/>
            <a:r>
              <a:rPr sz="600" b="0" i="0">
                <a:solidFill>
                  <a:srgbClr val="1A1A1A"/>
                </a:solidFill>
                <a:latin typeface="Arial"/>
              </a:rPr>
              <a:t>USB–UART</a:t>
            </a:r>
          </a:p>
        </p:txBody>
      </p:sp>
      <p:sp>
        <p:nvSpPr>
          <p:cNvPr id="105" name="Rectangle 104"/>
          <p:cNvSpPr/>
          <p:nvPr/>
        </p:nvSpPr>
        <p:spPr>
          <a:xfrm>
            <a:off x="2447464" y="5614416"/>
            <a:ext cx="777240" cy="237744"/>
          </a:xfrm>
          <a:prstGeom prst="rect">
            <a:avLst/>
          </a:prstGeom>
          <a:solidFill>
            <a:srgbClr val="F2F2F2"/>
          </a:solidFill>
          <a:ln w="9525">
            <a:solidFill>
              <a:srgbClr val="1A1A1A"/>
            </a:solidFill>
          </a:ln>
          <a:effectLst/>
        </p:spPr>
        <p:txBody>
          <a:bodyPr rtlCol="0" anchor="ctr" wrap="square" lIns="45720" rIns="45720" tIns="18288" bIns="18288"/>
          <a:lstStyle/>
          <a:p>
            <a:pPr algn="ctr"/>
            <a:r>
              <a:rPr sz="700" b="1" i="0">
                <a:solidFill>
                  <a:srgbClr val="1A1A1A"/>
                </a:solidFill>
                <a:latin typeface="Arial"/>
              </a:rPr>
              <a:t>USB-C  UART</a:t>
            </a:r>
          </a:p>
        </p:txBody>
      </p:sp>
      <p:sp>
        <p:nvSpPr>
          <p:cNvPr id="106" name="Rectangle 105"/>
          <p:cNvSpPr/>
          <p:nvPr/>
        </p:nvSpPr>
        <p:spPr>
          <a:xfrm>
            <a:off x="3590464" y="5614416"/>
            <a:ext cx="777240" cy="237744"/>
          </a:xfrm>
          <a:prstGeom prst="rect">
            <a:avLst/>
          </a:prstGeom>
          <a:solidFill>
            <a:srgbClr val="FFFFFF"/>
          </a:solidFill>
          <a:ln w="9525">
            <a:solidFill>
              <a:srgbClr val="1A1A1A"/>
            </a:solidFill>
          </a:ln>
          <a:effectLst/>
        </p:spPr>
        <p:txBody>
          <a:bodyPr rtlCol="0" anchor="ctr" wrap="square" lIns="45720" rIns="45720" tIns="18288" bIns="18288"/>
          <a:lstStyle/>
          <a:p>
            <a:pPr algn="ctr"/>
            <a:r>
              <a:rPr sz="700" b="0" i="0">
                <a:solidFill>
                  <a:srgbClr val="1A1A1A"/>
                </a:solidFill>
                <a:latin typeface="Arial"/>
              </a:rPr>
              <a:t>USB-C  USB</a:t>
            </a:r>
          </a:p>
        </p:txBody>
      </p:sp>
      <p:sp>
        <p:nvSpPr>
          <p:cNvPr id="107" name="TextBox 106"/>
          <p:cNvSpPr txBox="1"/>
          <p:nvPr/>
        </p:nvSpPr>
        <p:spPr>
          <a:xfrm>
            <a:off x="2401744" y="5449824"/>
            <a:ext cx="914400" cy="164592"/>
          </a:xfrm>
          <a:prstGeom prst="rect">
            <a:avLst/>
          </a:prstGeom>
          <a:noFill/>
        </p:spPr>
        <p:txBody>
          <a:bodyPr wrap="square" anchor="t" lIns="0" rIns="0" tIns="18288" bIns="18288">
            <a:spAutoFit/>
          </a:bodyPr>
          <a:lstStyle/>
          <a:p>
            <a:pPr algn="l"/>
            <a:r>
              <a:rPr sz="700" b="0" i="0">
                <a:solidFill>
                  <a:srgbClr val="1A1A1A"/>
                </a:solidFill>
                <a:latin typeface="Arial"/>
              </a:rPr>
              <a:t>use this one</a:t>
            </a:r>
          </a:p>
        </p:txBody>
      </p:sp>
      <p:sp>
        <p:nvSpPr>
          <p:cNvPr id="108" name="TextBox 107"/>
          <p:cNvSpPr txBox="1"/>
          <p:nvPr/>
        </p:nvSpPr>
        <p:spPr>
          <a:xfrm>
            <a:off x="3361864" y="5449824"/>
            <a:ext cx="1097280" cy="164592"/>
          </a:xfrm>
          <a:prstGeom prst="rect">
            <a:avLst/>
          </a:prstGeom>
          <a:noFill/>
        </p:spPr>
        <p:txBody>
          <a:bodyPr wrap="square" anchor="t" lIns="0" rIns="0" tIns="18288" bIns="18288">
            <a:spAutoFit/>
          </a:bodyPr>
          <a:lstStyle/>
          <a:p>
            <a:pPr algn="r"/>
            <a:r>
              <a:rPr sz="700" b="0" i="0">
                <a:solidFill>
                  <a:srgbClr val="595959"/>
                </a:solidFill>
                <a:latin typeface="Arial"/>
              </a:rPr>
              <a:t>native USB / JTAG</a:t>
            </a:r>
          </a:p>
        </p:txBody>
      </p:sp>
      <p:sp>
        <p:nvSpPr>
          <p:cNvPr id="109" name="TextBox 108"/>
          <p:cNvSpPr txBox="1"/>
          <p:nvPr/>
        </p:nvSpPr>
        <p:spPr>
          <a:xfrm>
            <a:off x="6495129" y="1417320"/>
            <a:ext cx="5010765" cy="4251198"/>
          </a:xfrm>
          <a:prstGeom prst="rect">
            <a:avLst/>
          </a:prstGeom>
          <a:noFill/>
        </p:spPr>
        <p:txBody>
          <a:bodyPr wrap="square" anchor="t" lIns="0" rIns="0" tIns="18288" bIns="18288">
            <a:spAutoFit/>
          </a:bodyPr>
          <a:lstStyle/>
          <a:p>
            <a:pPr>
              <a:spcAft>
                <a:spcPts val="500"/>
              </a:spcAft>
            </a:pPr>
            <a:r>
              <a:rPr sz="1500" b="0" i="0">
                <a:solidFill>
                  <a:srgbClr val="595959"/>
                </a:solidFill>
                <a:latin typeface="Arial"/>
              </a:rPr>
              <a:t>–  </a:t>
            </a:r>
            <a:r>
              <a:rPr sz="1500" b="0" i="0">
                <a:solidFill>
                  <a:srgbClr val="1A1A1A"/>
                </a:solidFill>
                <a:latin typeface="Arial"/>
              </a:rPr>
              <a:t>Two USB-C connectors. </a:t>
            </a:r>
            <a:r>
              <a:rPr sz="1500" b="1" i="0">
                <a:solidFill>
                  <a:srgbClr val="1A1A1A"/>
                </a:solidFill>
                <a:latin typeface="Arial"/>
              </a:rPr>
              <a:t>UART</a:t>
            </a:r>
            <a:r>
              <a:rPr sz="1500" b="0" i="0">
                <a:solidFill>
                  <a:srgbClr val="1A1A1A"/>
                </a:solidFill>
                <a:latin typeface="Arial"/>
              </a:rPr>
              <a:t> goes through the CP2102N serial chip: use it. </a:t>
            </a:r>
            <a:r>
              <a:rPr sz="1500" b="1" i="0">
                <a:solidFill>
                  <a:srgbClr val="1A1A1A"/>
                </a:solidFill>
                <a:latin typeface="Arial"/>
              </a:rPr>
              <a:t>USB</a:t>
            </a:r>
            <a:r>
              <a:rPr sz="1500" b="0" i="0">
                <a:solidFill>
                  <a:srgbClr val="1A1A1A"/>
                </a:solidFill>
                <a:latin typeface="Arial"/>
              </a:rPr>
              <a:t> is the chip's native USB: uploads work, Serial output does not appear unless you enable *USB CDC On Boot*.</a:t>
            </a:r>
          </a:p>
          <a:p>
            <a:pPr>
              <a:spcAft>
                <a:spcPts val="500"/>
              </a:spcAft>
            </a:pPr>
            <a:r>
              <a:rPr sz="1500" b="0" i="0">
                <a:solidFill>
                  <a:srgbClr val="595959"/>
                </a:solidFill>
                <a:latin typeface="Arial"/>
              </a:rPr>
              <a:t>–  </a:t>
            </a:r>
            <a:r>
              <a:rPr sz="1500" b="1" i="0">
                <a:solidFill>
                  <a:srgbClr val="1A1A1A"/>
                </a:solidFill>
                <a:latin typeface="Arial"/>
              </a:rPr>
              <a:t>RST</a:t>
            </a:r>
            <a:r>
              <a:rPr sz="1500" b="0" i="0">
                <a:solidFill>
                  <a:srgbClr val="1A1A1A"/>
                </a:solidFill>
                <a:latin typeface="Arial"/>
              </a:rPr>
              <a:t> resets the chip. </a:t>
            </a:r>
            <a:r>
              <a:rPr sz="1500" b="1" i="0">
                <a:solidFill>
                  <a:srgbClr val="1A1A1A"/>
                </a:solidFill>
                <a:latin typeface="Arial"/>
              </a:rPr>
              <a:t>BOOT</a:t>
            </a:r>
            <a:r>
              <a:rPr sz="1500" b="0" i="0">
                <a:solidFill>
                  <a:srgbClr val="1A1A1A"/>
                </a:solidFill>
                <a:latin typeface="Arial"/>
              </a:rPr>
              <a:t> connects GPIO 0 to ground.</a:t>
            </a:r>
          </a:p>
          <a:p>
            <a:pPr>
              <a:spcAft>
                <a:spcPts val="500"/>
              </a:spcAft>
            </a:pPr>
            <a:r>
              <a:rPr sz="1500" b="0" i="0">
                <a:solidFill>
                  <a:srgbClr val="595959"/>
                </a:solidFill>
                <a:latin typeface="Arial"/>
              </a:rPr>
              <a:t>–  </a:t>
            </a:r>
            <a:r>
              <a:rPr sz="1500" b="0" i="0">
                <a:solidFill>
                  <a:srgbClr val="1A1A1A"/>
                </a:solidFill>
                <a:latin typeface="Arial"/>
              </a:rPr>
              <a:t>The LED is an addressable </a:t>
            </a:r>
            <a:r>
              <a:rPr sz="1500" b="1" i="0">
                <a:solidFill>
                  <a:srgbClr val="1A1A1A"/>
                </a:solidFill>
                <a:latin typeface="Arial"/>
              </a:rPr>
              <a:t>RGB LED</a:t>
            </a:r>
            <a:r>
              <a:rPr sz="1500" b="0" i="0">
                <a:solidFill>
                  <a:srgbClr val="1A1A1A"/>
                </a:solidFill>
                <a:latin typeface="Arial"/>
              </a:rPr>
              <a:t> (WS2812 type) on one data pin: </a:t>
            </a:r>
            <a:r>
              <a:rPr sz="1500" b="1" i="0">
                <a:solidFill>
                  <a:srgbClr val="1A1A1A"/>
                </a:solidFill>
                <a:latin typeface="Arial"/>
              </a:rPr>
              <a:t>GPIO 48</a:t>
            </a:r>
            <a:r>
              <a:rPr sz="1500" b="0" i="0">
                <a:solidFill>
                  <a:srgbClr val="1A1A1A"/>
                </a:solidFill>
                <a:latin typeface="Arial"/>
              </a:rPr>
              <a:t> on the original board, </a:t>
            </a:r>
            <a:r>
              <a:rPr sz="1500" b="1" i="0">
                <a:solidFill>
                  <a:srgbClr val="1A1A1A"/>
                </a:solidFill>
                <a:latin typeface="Arial"/>
              </a:rPr>
              <a:t>GPIO 38</a:t>
            </a:r>
            <a:r>
              <a:rPr sz="1500" b="0" i="0">
                <a:solidFill>
                  <a:srgbClr val="1A1A1A"/>
                </a:solidFill>
                <a:latin typeface="Arial"/>
              </a:rPr>
              <a:t> on v1.1. Both are in circulation and look identical. The red LED next to the connectors is power.</a:t>
            </a:r>
          </a:p>
          <a:p>
            <a:pPr>
              <a:spcAft>
                <a:spcPts val="500"/>
              </a:spcAft>
            </a:pPr>
            <a:r>
              <a:rPr sz="1500" b="0" i="0">
                <a:solidFill>
                  <a:srgbClr val="595959"/>
                </a:solidFill>
                <a:latin typeface="Arial"/>
              </a:rPr>
              <a:t>–  </a:t>
            </a:r>
            <a:r>
              <a:rPr sz="1500" b="1" i="0">
                <a:solidFill>
                  <a:srgbClr val="1A1A1A"/>
                </a:solidFill>
                <a:latin typeface="Arial"/>
              </a:rPr>
              <a:t>3V3</a:t>
            </a:r>
            <a:r>
              <a:rPr sz="1500" b="0" i="0">
                <a:solidFill>
                  <a:srgbClr val="1A1A1A"/>
                </a:solidFill>
                <a:latin typeface="Arial"/>
              </a:rPr>
              <a:t> and </a:t>
            </a:r>
            <a:r>
              <a:rPr sz="1500" b="1" i="0">
                <a:solidFill>
                  <a:srgbClr val="1A1A1A"/>
                </a:solidFill>
                <a:latin typeface="Arial"/>
              </a:rPr>
              <a:t>GND</a:t>
            </a:r>
            <a:r>
              <a:rPr sz="1500" b="0" i="0">
                <a:solidFill>
                  <a:srgbClr val="1A1A1A"/>
                </a:solidFill>
                <a:latin typeface="Arial"/>
              </a:rPr>
              <a:t> power external parts. </a:t>
            </a:r>
            <a:r>
              <a:rPr sz="1500" b="1" i="0">
                <a:solidFill>
                  <a:srgbClr val="1A1A1A"/>
                </a:solidFill>
                <a:latin typeface="Arial"/>
              </a:rPr>
              <a:t>5V</a:t>
            </a:r>
            <a:r>
              <a:rPr sz="1500" b="0" i="0">
                <a:solidFill>
                  <a:srgbClr val="1A1A1A"/>
                </a:solidFill>
                <a:latin typeface="Arial"/>
              </a:rPr>
              <a:t> is the USB input.</a:t>
            </a:r>
          </a:p>
          <a:p>
            <a:pPr>
              <a:spcAft>
                <a:spcPts val="500"/>
              </a:spcAft>
            </a:pPr>
            <a:r>
              <a:rPr sz="1500" b="0" i="0">
                <a:solidFill>
                  <a:srgbClr val="595959"/>
                </a:solidFill>
                <a:latin typeface="Arial"/>
              </a:rPr>
              <a:t>–  </a:t>
            </a:r>
            <a:r>
              <a:rPr sz="1500" b="0" i="0">
                <a:solidFill>
                  <a:srgbClr val="1A1A1A"/>
                </a:solidFill>
                <a:latin typeface="Arial"/>
              </a:rPr>
              <a:t>All pins are </a:t>
            </a:r>
            <a:r>
              <a:rPr sz="1500" b="1" i="0">
                <a:solidFill>
                  <a:srgbClr val="1A1A1A"/>
                </a:solidFill>
                <a:latin typeface="Arial"/>
              </a:rPr>
              <a:t>3.3 V logic</a:t>
            </a:r>
            <a:r>
              <a:rPr sz="1500" b="0" i="0">
                <a:solidFill>
                  <a:srgbClr val="1A1A1A"/>
                </a:solidFill>
                <a:latin typeface="Arial"/>
              </a:rPr>
              <a:t>. 5 V on an input can damage the chip.</a:t>
            </a:r>
          </a:p>
          <a:p>
            <a:pPr>
              <a:spcAft>
                <a:spcPts val="500"/>
              </a:spcAft>
            </a:pPr>
            <a:r>
              <a:rPr sz="1500" b="0" i="0">
                <a:solidFill>
                  <a:srgbClr val="595959"/>
                </a:solidFill>
                <a:latin typeface="Arial"/>
              </a:rPr>
              <a:t>–  </a:t>
            </a:r>
            <a:r>
              <a:rPr sz="1500" b="0" i="0">
                <a:solidFill>
                  <a:srgbClr val="1A1A1A"/>
                </a:solidFill>
                <a:latin typeface="Arial"/>
              </a:rPr>
              <a:t>A pin sources about 12 mA by default (up to 40 mA configured): an LED with a resistor, not a motor.</a:t>
            </a:r>
          </a:p>
          <a:p>
            <a:pPr>
              <a:spcAft>
                <a:spcPts val="500"/>
              </a:spcAft>
            </a:pPr>
            <a:r>
              <a:rPr sz="1500" b="0" i="0">
                <a:solidFill>
                  <a:srgbClr val="595959"/>
                </a:solidFill>
                <a:latin typeface="Arial"/>
              </a:rPr>
              <a:t>–  </a:t>
            </a:r>
            <a:r>
              <a:rPr sz="1500" b="0" i="0">
                <a:solidFill>
                  <a:srgbClr val="1A1A1A"/>
                </a:solidFill>
                <a:latin typeface="Arial"/>
              </a:rPr>
              <a:t>Trust the GPIO number printed on the board, not the position.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0"/>
            <a:ext cx="7315200" cy="274320"/>
          </a:xfrm>
          <a:prstGeom prst="rect">
            <a:avLst/>
          </a:prstGeom>
          <a:noFill/>
        </p:spPr>
        <p:txBody>
          <a:bodyPr wrap="square" anchor="t" lIns="0" rIns="0" tIns="18288" bIns="18288">
            <a:spAutoFit/>
          </a:bodyPr>
          <a:lstStyle/>
          <a:p>
            <a:pPr algn="l"/>
            <a:r>
              <a:rPr sz="1000" b="0" i="0">
                <a:solidFill>
                  <a:srgbClr val="595959"/>
                </a:solidFill>
                <a:latin typeface="Arial"/>
              </a:rPr>
              <a:t>HackHardware · Getting started with the ESP32</a:t>
            </a:r>
          </a:p>
        </p:txBody>
      </p:sp>
      <p:sp>
        <p:nvSpPr>
          <p:cNvPr id="3" name="TextBox 2"/>
          <p:cNvSpPr txBox="1"/>
          <p:nvPr/>
        </p:nvSpPr>
        <p:spPr>
          <a:xfrm>
            <a:off x="10134295" y="6400800"/>
            <a:ext cx="1371600" cy="274320"/>
          </a:xfrm>
          <a:prstGeom prst="rect">
            <a:avLst/>
          </a:prstGeom>
          <a:noFill/>
        </p:spPr>
        <p:txBody>
          <a:bodyPr wrap="square" anchor="t" lIns="0" rIns="0" tIns="18288" bIns="18288">
            <a:spAutoFit/>
          </a:bodyPr>
          <a:lstStyle/>
          <a:p>
            <a:pPr algn="r"/>
            <a:r>
              <a:rPr sz="1000" b="0" i="0">
                <a:solidFill>
                  <a:srgbClr val="595959"/>
                </a:solidFill>
                <a:latin typeface="Arial"/>
              </a:rPr>
              <a:t>8</a:t>
            </a:r>
          </a:p>
        </p:txBody>
      </p:sp>
      <p:sp>
        <p:nvSpPr>
          <p:cNvPr id="4" name="TextBox 3"/>
          <p:cNvSpPr txBox="1"/>
          <p:nvPr/>
        </p:nvSpPr>
        <p:spPr>
          <a:xfrm>
            <a:off x="685800" y="457200"/>
            <a:ext cx="10820095" cy="822960"/>
          </a:xfrm>
          <a:prstGeom prst="rect">
            <a:avLst/>
          </a:prstGeom>
          <a:noFill/>
        </p:spPr>
        <p:txBody>
          <a:bodyPr wrap="square" anchor="b" lIns="0" rIns="0" tIns="18288" bIns="18288">
            <a:spAutoFit/>
          </a:bodyPr>
          <a:lstStyle/>
          <a:p>
            <a:pPr algn="l"/>
            <a:r>
              <a:rPr sz="3000" b="1" i="0">
                <a:solidFill>
                  <a:srgbClr val="1A1A1A"/>
                </a:solidFill>
                <a:latin typeface="Arial"/>
              </a:rPr>
              <a:t>Which pins you can actually use</a:t>
            </a:r>
          </a:p>
        </p:txBody>
      </p:sp>
      <p:cxnSp>
        <p:nvCxnSpPr>
          <p:cNvPr id="5" name="Connector 4"/>
          <p:cNvCxnSpPr/>
          <p:nvPr/>
        </p:nvCxnSpPr>
        <p:spPr>
          <a:xfrm>
            <a:off x="685800" y="1298448"/>
            <a:ext cx="10820095" cy="0"/>
          </a:xfrm>
          <a:prstGeom prst="line">
            <a:avLst/>
          </a:prstGeom>
          <a:ln w="9525">
            <a:solidFill>
              <a:srgbClr val="BFBFBF"/>
            </a:solidFill>
          </a:ln>
        </p:spPr>
      </p:cxnSp>
      <p:graphicFrame>
        <p:nvGraphicFramePr>
          <p:cNvPr id="6" name="Table 5"/>
          <p:cNvGraphicFramePr>
            <a:graphicFrameLocks noGrp="1"/>
          </p:cNvGraphicFramePr>
          <p:nvPr/>
        </p:nvGraphicFramePr>
        <p:xfrm>
          <a:off x="685800" y="1417320"/>
          <a:ext cx="10820094" cy="2841975"/>
        </p:xfrm>
        <a:graphic>
          <a:graphicData uri="http://schemas.openxmlformats.org/drawingml/2006/table">
            <a:tbl>
              <a:tblPr firstRow="1" bandRow="0">
                <a:tableStyleId>{2D5ABB26-0587-4C30-8999-92F81FD0307C}</a:tableStyleId>
              </a:tblPr>
              <a:tblGrid>
                <a:gridCol w="1839416"/>
                <a:gridCol w="2921425"/>
                <a:gridCol w="6059253"/>
              </a:tblGrid>
              <a:tr h="315775">
                <a:tc>
                  <a:txBody>
                    <a:bodyPr wrap="square"/>
                    <a:lstStyle/>
                    <a:p>
                      <a:r>
                        <a:rPr sz="1252" b="1" i="0">
                          <a:solidFill>
                            <a:srgbClr val="1A1A1A"/>
                          </a:solidFill>
                          <a:latin typeface="Arial"/>
                        </a:rPr>
                        <a:t>GPIO</a:t>
                      </a:r>
                    </a:p>
                  </a:txBody>
                  <a:tcPr marL="73152" marR="73152" marT="27432" marB="27432" anchor="ctr">
                    <a:solidFill>
                      <a:srgbClr val="F2F2F2"/>
                    </a:solidFill>
                    <a:lnB w="9525" cap="flat" cmpd="sng" algn="ctr">
                      <a:solidFill>
                        <a:srgbClr val="BFBFBF"/>
                      </a:solidFill>
                      <a:prstDash val="solid"/>
                    </a:lnB>
                    <a:lnT w="9525"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52" b="1" i="0">
                          <a:solidFill>
                            <a:srgbClr val="1A1A1A"/>
                          </a:solidFill>
                          <a:latin typeface="Arial"/>
                        </a:rPr>
                        <a:t>Restriction</a:t>
                      </a:r>
                    </a:p>
                  </a:txBody>
                  <a:tcPr marL="73152" marR="73152" marT="27432" marB="27432" anchor="ctr">
                    <a:solidFill>
                      <a:srgbClr val="F2F2F2"/>
                    </a:solidFill>
                    <a:lnB w="9525" cap="flat" cmpd="sng" algn="ctr">
                      <a:solidFill>
                        <a:srgbClr val="BFBFBF"/>
                      </a:solidFill>
                      <a:prstDash val="solid"/>
                    </a:lnB>
                    <a:lnT w="9525"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52" b="1" i="0">
                          <a:solidFill>
                            <a:srgbClr val="1A1A1A"/>
                          </a:solidFill>
                          <a:latin typeface="Arial"/>
                        </a:rPr>
                        <a:t>Why</a:t>
                      </a:r>
                    </a:p>
                  </a:txBody>
                  <a:tcPr marL="73152" marR="73152" marT="27432" marB="27432" anchor="ctr">
                    <a:solidFill>
                      <a:srgbClr val="F2F2F2"/>
                    </a:solidFill>
                    <a:lnB w="9525" cap="flat" cmpd="sng" algn="ctr">
                      <a:solidFill>
                        <a:srgbClr val="BFBFBF"/>
                      </a:solidFill>
                      <a:prstDash val="solid"/>
                    </a:lnB>
                    <a:lnT w="9525"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15775">
                <a:tc>
                  <a:txBody>
                    <a:bodyPr wrap="square"/>
                    <a:lstStyle/>
                    <a:p>
                      <a:r>
                        <a:rPr sz="1252" b="0" i="0">
                          <a:solidFill>
                            <a:srgbClr val="1A1A1A"/>
                          </a:solidFill>
                          <a:latin typeface="Arial"/>
                        </a:rPr>
                        <a:t>26–32</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52" b="1" i="0">
                          <a:solidFill>
                            <a:srgbClr val="1A1A1A"/>
                          </a:solidFill>
                          <a:latin typeface="Arial"/>
                        </a:rPr>
                        <a:t>Never use</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52" b="0" i="0">
                          <a:solidFill>
                            <a:srgbClr val="1A1A1A"/>
                          </a:solidFill>
                          <a:latin typeface="Arial"/>
                        </a:rPr>
                        <a:t>Wired to the flash inside the module. Not on the headers, but you will see them in code.</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15775">
                <a:tc>
                  <a:txBody>
                    <a:bodyPr wrap="square"/>
                    <a:lstStyle/>
                    <a:p>
                      <a:r>
                        <a:rPr sz="1252" b="0" i="0">
                          <a:solidFill>
                            <a:srgbClr val="1A1A1A"/>
                          </a:solidFill>
                          <a:latin typeface="Arial"/>
                        </a:rPr>
                        <a:t>35, 36, 37</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52" b="0" i="0">
                          <a:solidFill>
                            <a:srgbClr val="1A1A1A"/>
                          </a:solidFill>
                          <a:latin typeface="Arial"/>
                        </a:rPr>
                        <a:t>Avoid on R8 / N16R8 boards</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52" b="0" i="0">
                          <a:solidFill>
                            <a:srgbClr val="1A1A1A"/>
                          </a:solidFill>
                          <a:latin typeface="Arial"/>
                        </a:rPr>
                        <a:t>Used by the 8 MB octal PSRAM. They are on the header; driving them corrupts memory.</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15775">
                <a:tc>
                  <a:txBody>
                    <a:bodyPr wrap="square"/>
                    <a:lstStyle/>
                    <a:p>
                      <a:r>
                        <a:rPr sz="1252" b="0" i="0">
                          <a:solidFill>
                            <a:srgbClr val="1A1A1A"/>
                          </a:solidFill>
                          <a:latin typeface="Arial"/>
                        </a:rPr>
                        <a:t>0, 3, 45, 46</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52" b="0" i="0">
                          <a:solidFill>
                            <a:srgbClr val="1A1A1A"/>
                          </a:solidFill>
                          <a:latin typeface="Arial"/>
                        </a:rPr>
                        <a:t>Strapping pins: careful at boot</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52" b="0" i="0">
                          <a:solidFill>
                            <a:srgbClr val="1A1A1A"/>
                          </a:solidFill>
                          <a:latin typeface="Arial"/>
                        </a:rPr>
                        <a:t>Sampled at reset. 0 low = download mode (that is BOOT). 45 high = 1.8 V flash setting → will not boot. 46 must be low. Usable after boot.</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15775">
                <a:tc>
                  <a:txBody>
                    <a:bodyPr wrap="square"/>
                    <a:lstStyle/>
                    <a:p>
                      <a:r>
                        <a:rPr sz="1252" b="0" i="0">
                          <a:solidFill>
                            <a:srgbClr val="1A1A1A"/>
                          </a:solidFill>
                          <a:latin typeface="Arial"/>
                        </a:rPr>
                        <a:t>19, 20</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52" b="0" i="0">
                          <a:solidFill>
                            <a:srgbClr val="1A1A1A"/>
                          </a:solidFill>
                          <a:latin typeface="Arial"/>
                        </a:rPr>
                        <a:t>USB D− / D+</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52" b="0" i="0">
                          <a:solidFill>
                            <a:srgbClr val="1A1A1A"/>
                          </a:solidFill>
                          <a:latin typeface="Arial"/>
                        </a:rPr>
                        <a:t>The second USB-C connector and the built-in debugger live here. Leave them alone.</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15775">
                <a:tc>
                  <a:txBody>
                    <a:bodyPr wrap="square"/>
                    <a:lstStyle/>
                    <a:p>
                      <a:r>
                        <a:rPr sz="1252" b="0" i="0">
                          <a:solidFill>
                            <a:srgbClr val="1A1A1A"/>
                          </a:solidFill>
                          <a:latin typeface="Arial"/>
                        </a:rPr>
                        <a:t>43, 44</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52" b="0" i="0">
                          <a:solidFill>
                            <a:srgbClr val="1A1A1A"/>
                          </a:solidFill>
                          <a:latin typeface="Arial"/>
                        </a:rPr>
                        <a:t>TX0 / RX0</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52" b="0" i="0">
                          <a:solidFill>
                            <a:srgbClr val="1A1A1A"/>
                          </a:solidFill>
                          <a:latin typeface="Arial"/>
                        </a:rPr>
                        <a:t>This is </a:t>
                      </a:r>
                      <a:r>
                        <a:rPr sz="1190" b="0" i="0">
                          <a:solidFill>
                            <a:srgbClr val="1A1A1A"/>
                          </a:solidFill>
                          <a:latin typeface="Courier New"/>
                        </a:rPr>
                        <a:t>Serial</a:t>
                      </a:r>
                      <a:r>
                        <a:rPr sz="1252" b="0" i="0">
                          <a:solidFill>
                            <a:srgbClr val="1A1A1A"/>
                          </a:solidFill>
                          <a:latin typeface="Arial"/>
                        </a:rPr>
                        <a:t>, via the UART connector. Using them for anything else kills your Serial Monitor.</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15775">
                <a:tc>
                  <a:txBody>
                    <a:bodyPr wrap="square"/>
                    <a:lstStyle/>
                    <a:p>
                      <a:r>
                        <a:rPr sz="1252" b="0" i="0">
                          <a:solidFill>
                            <a:srgbClr val="1A1A1A"/>
                          </a:solidFill>
                          <a:latin typeface="Arial"/>
                        </a:rPr>
                        <a:t>38 or 48</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52" b="0" i="0">
                          <a:solidFill>
                            <a:srgbClr val="1A1A1A"/>
                          </a:solidFill>
                          <a:latin typeface="Arial"/>
                        </a:rPr>
                        <a:t>RGB LED</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52" b="0" i="0">
                          <a:solidFill>
                            <a:srgbClr val="1A1A1A"/>
                          </a:solidFill>
                          <a:latin typeface="Arial"/>
                        </a:rPr>
                        <a:t>Whichever your board revision uses. The other one is free.</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15775">
                <a:tc>
                  <a:txBody>
                    <a:bodyPr wrap="square"/>
                    <a:lstStyle/>
                    <a:p>
                      <a:r>
                        <a:rPr sz="1252" b="0" i="0">
                          <a:solidFill>
                            <a:srgbClr val="1A1A1A"/>
                          </a:solidFill>
                          <a:latin typeface="Arial"/>
                        </a:rPr>
                        <a:t>11–20</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52" b="0" i="0">
                          <a:solidFill>
                            <a:srgbClr val="1A1A1A"/>
                          </a:solidFill>
                          <a:latin typeface="Arial"/>
                        </a:rPr>
                        <a:t>ADC2: unreliable while Wi-Fi is on</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52" b="0" i="0">
                          <a:solidFill>
                            <a:srgbClr val="1A1A1A"/>
                          </a:solidFill>
                          <a:latin typeface="Arial"/>
                        </a:rPr>
                        <a:t>ADC2 is shared with the radio driver. For </a:t>
                      </a:r>
                      <a:r>
                        <a:rPr sz="1190" b="0" i="0">
                          <a:solidFill>
                            <a:srgbClr val="1A1A1A"/>
                          </a:solidFill>
                          <a:latin typeface="Courier New"/>
                        </a:rPr>
                        <a:t>analogRead</a:t>
                      </a:r>
                      <a:r>
                        <a:rPr sz="1252" b="0" i="0">
                          <a:solidFill>
                            <a:srgbClr val="1A1A1A"/>
                          </a:solidFill>
                          <a:latin typeface="Arial"/>
                        </a:rPr>
                        <a:t> use ADC1 = GPIO 1–10.</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15775">
                <a:tc>
                  <a:txBody>
                    <a:bodyPr wrap="square"/>
                    <a:lstStyle/>
                    <a:p>
                      <a:r>
                        <a:rPr sz="1252" b="0" i="0">
                          <a:solidFill>
                            <a:srgbClr val="1A1A1A"/>
                          </a:solidFill>
                          <a:latin typeface="Arial"/>
                        </a:rPr>
                        <a:t>1, 2, 4–18, 21, 39–42, 47</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52" b="0" i="0">
                          <a:solidFill>
                            <a:srgbClr val="1A1A1A"/>
                          </a:solidFill>
                          <a:latin typeface="Arial"/>
                        </a:rPr>
                        <a:t>Free for outputs and inputs</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52" b="0" i="0">
                          <a:solidFill>
                            <a:srgbClr val="1A1A1A"/>
                          </a:solidFill>
                          <a:latin typeface="Arial"/>
                        </a:rPr>
                        <a:t>The list to reach for. 8/9 are the default I²C pins, 10–13 the default SPI pins, 1–14 are the touch pads T1–T14. No input-only pins on this chip.</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bl>
          </a:graphicData>
        </a:graphic>
      </p:graphicFrame>
      <p:sp>
        <p:nvSpPr>
          <p:cNvPr id="7" name="TextBox 6"/>
          <p:cNvSpPr txBox="1"/>
          <p:nvPr/>
        </p:nvSpPr>
        <p:spPr>
          <a:xfrm>
            <a:off x="685800" y="5568738"/>
            <a:ext cx="10820095" cy="292611"/>
          </a:xfrm>
          <a:prstGeom prst="rect">
            <a:avLst/>
          </a:prstGeom>
          <a:noFill/>
        </p:spPr>
        <p:txBody>
          <a:bodyPr wrap="square" anchor="t" lIns="0" rIns="0" tIns="18288" bIns="18288">
            <a:spAutoFit/>
          </a:bodyPr>
          <a:lstStyle/>
          <a:p>
            <a:r>
              <a:rPr sz="1342" b="0" i="0">
                <a:solidFill>
                  <a:srgbClr val="595959"/>
                </a:solidFill>
                <a:latin typeface="Arial"/>
              </a:rPr>
              <a:t>Source: ESP32-S3 datasheet and hardware design guidelines, ESP32-S3-DevKitC-1 user guide. This table is on the cheat sheet in the repo.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0"/>
            <a:ext cx="7315200" cy="274320"/>
          </a:xfrm>
          <a:prstGeom prst="rect">
            <a:avLst/>
          </a:prstGeom>
          <a:noFill/>
        </p:spPr>
        <p:txBody>
          <a:bodyPr wrap="square" anchor="t" lIns="0" rIns="0" tIns="18288" bIns="18288">
            <a:spAutoFit/>
          </a:bodyPr>
          <a:lstStyle/>
          <a:p>
            <a:pPr algn="l"/>
            <a:r>
              <a:rPr sz="1000" b="0" i="0">
                <a:solidFill>
                  <a:srgbClr val="595959"/>
                </a:solidFill>
                <a:latin typeface="Arial"/>
              </a:rPr>
              <a:t>HackHardware · Getting started with the ESP32</a:t>
            </a:r>
          </a:p>
        </p:txBody>
      </p:sp>
      <p:sp>
        <p:nvSpPr>
          <p:cNvPr id="3" name="TextBox 2"/>
          <p:cNvSpPr txBox="1"/>
          <p:nvPr/>
        </p:nvSpPr>
        <p:spPr>
          <a:xfrm>
            <a:off x="10134295" y="6400800"/>
            <a:ext cx="1371600" cy="274320"/>
          </a:xfrm>
          <a:prstGeom prst="rect">
            <a:avLst/>
          </a:prstGeom>
          <a:noFill/>
        </p:spPr>
        <p:txBody>
          <a:bodyPr wrap="square" anchor="t" lIns="0" rIns="0" tIns="18288" bIns="18288">
            <a:spAutoFit/>
          </a:bodyPr>
          <a:lstStyle/>
          <a:p>
            <a:pPr algn="r"/>
            <a:r>
              <a:rPr sz="1000" b="0" i="0">
                <a:solidFill>
                  <a:srgbClr val="595959"/>
                </a:solidFill>
                <a:latin typeface="Arial"/>
              </a:rPr>
              <a:t>9</a:t>
            </a:r>
          </a:p>
        </p:txBody>
      </p:sp>
      <p:sp>
        <p:nvSpPr>
          <p:cNvPr id="4" name="TextBox 3"/>
          <p:cNvSpPr txBox="1"/>
          <p:nvPr/>
        </p:nvSpPr>
        <p:spPr>
          <a:xfrm>
            <a:off x="685800" y="457200"/>
            <a:ext cx="10820095" cy="822960"/>
          </a:xfrm>
          <a:prstGeom prst="rect">
            <a:avLst/>
          </a:prstGeom>
          <a:noFill/>
        </p:spPr>
        <p:txBody>
          <a:bodyPr wrap="square" anchor="b" lIns="0" rIns="0" tIns="18288" bIns="18288">
            <a:spAutoFit/>
          </a:bodyPr>
          <a:lstStyle/>
          <a:p>
            <a:pPr algn="l"/>
            <a:r>
              <a:rPr sz="3000" b="1" i="0">
                <a:solidFill>
                  <a:srgbClr val="1A1A1A"/>
                </a:solidFill>
                <a:latin typeface="Arial"/>
              </a:rPr>
              <a:t>Power: what the board draws and why uploads fail on hubs</a:t>
            </a:r>
          </a:p>
        </p:txBody>
      </p:sp>
      <p:cxnSp>
        <p:nvCxnSpPr>
          <p:cNvPr id="5" name="Connector 4"/>
          <p:cNvCxnSpPr/>
          <p:nvPr/>
        </p:nvCxnSpPr>
        <p:spPr>
          <a:xfrm>
            <a:off x="685800" y="1298448"/>
            <a:ext cx="10820095" cy="0"/>
          </a:xfrm>
          <a:prstGeom prst="line">
            <a:avLst/>
          </a:prstGeom>
          <a:ln w="9525">
            <a:solidFill>
              <a:srgbClr val="BFBFBF"/>
            </a:solidFill>
          </a:ln>
        </p:spPr>
      </p:cxnSp>
      <p:graphicFrame>
        <p:nvGraphicFramePr>
          <p:cNvPr id="6" name="Table 5"/>
          <p:cNvGraphicFramePr>
            <a:graphicFrameLocks noGrp="1"/>
          </p:cNvGraphicFramePr>
          <p:nvPr/>
        </p:nvGraphicFramePr>
        <p:xfrm>
          <a:off x="685800" y="1417320"/>
          <a:ext cx="5443569" cy="2713136"/>
        </p:xfrm>
        <a:graphic>
          <a:graphicData uri="http://schemas.openxmlformats.org/drawingml/2006/table">
            <a:tbl>
              <a:tblPr firstRow="1" bandRow="0">
                <a:tableStyleId>{2D5ABB26-0587-4C30-8999-92F81FD0307C}</a:tableStyleId>
              </a:tblPr>
              <a:tblGrid>
                <a:gridCol w="1959685"/>
                <a:gridCol w="1959685"/>
                <a:gridCol w="1524199"/>
              </a:tblGrid>
              <a:tr h="339142">
                <a:tc>
                  <a:txBody>
                    <a:bodyPr wrap="square"/>
                    <a:lstStyle/>
                    <a:p>
                      <a:r>
                        <a:rPr sz="1408" b="1" i="0">
                          <a:solidFill>
                            <a:srgbClr val="1A1A1A"/>
                          </a:solidFill>
                          <a:latin typeface="Arial"/>
                        </a:rPr>
                        <a:t>Mode</a:t>
                      </a:r>
                    </a:p>
                  </a:txBody>
                  <a:tcPr marL="73152" marR="73152" marT="27432" marB="27432" anchor="ctr">
                    <a:solidFill>
                      <a:srgbClr val="F2F2F2"/>
                    </a:solidFill>
                    <a:lnB w="9525" cap="flat" cmpd="sng" algn="ctr">
                      <a:solidFill>
                        <a:srgbClr val="BFBFBF"/>
                      </a:solidFill>
                      <a:prstDash val="solid"/>
                    </a:lnB>
                    <a:lnT w="9525"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08" b="1" i="0">
                          <a:solidFill>
                            <a:srgbClr val="1A1A1A"/>
                          </a:solidFill>
                          <a:latin typeface="Arial"/>
                        </a:rPr>
                        <a:t>What is on</a:t>
                      </a:r>
                    </a:p>
                  </a:txBody>
                  <a:tcPr marL="73152" marR="73152" marT="27432" marB="27432" anchor="ctr">
                    <a:solidFill>
                      <a:srgbClr val="F2F2F2"/>
                    </a:solidFill>
                    <a:lnB w="9525" cap="flat" cmpd="sng" algn="ctr">
                      <a:solidFill>
                        <a:srgbClr val="BFBFBF"/>
                      </a:solidFill>
                      <a:prstDash val="solid"/>
                    </a:lnB>
                    <a:lnT w="9525"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08" b="1" i="0">
                          <a:solidFill>
                            <a:srgbClr val="1A1A1A"/>
                          </a:solidFill>
                          <a:latin typeface="Arial"/>
                        </a:rPr>
                        <a:t>Current (chip only)</a:t>
                      </a:r>
                    </a:p>
                  </a:txBody>
                  <a:tcPr marL="73152" marR="73152" marT="27432" marB="27432" anchor="ctr">
                    <a:solidFill>
                      <a:srgbClr val="F2F2F2"/>
                    </a:solidFill>
                    <a:lnB w="9525" cap="flat" cmpd="sng" algn="ctr">
                      <a:solidFill>
                        <a:srgbClr val="BFBFBF"/>
                      </a:solidFill>
                      <a:prstDash val="solid"/>
                    </a:lnB>
                    <a:lnT w="9525"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39142">
                <a:tc>
                  <a:txBody>
                    <a:bodyPr wrap="square"/>
                    <a:lstStyle/>
                    <a:p>
                      <a:r>
                        <a:rPr sz="1408" b="0" i="0">
                          <a:solidFill>
                            <a:srgbClr val="1A1A1A"/>
                          </a:solidFill>
                          <a:latin typeface="Arial"/>
                        </a:rPr>
                        <a:t>Active, Wi-Fi transmitting</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08" b="0" i="0">
                          <a:solidFill>
                            <a:srgbClr val="1A1A1A"/>
                          </a:solidFill>
                          <a:latin typeface="Arial"/>
                        </a:rPr>
                        <a:t>CPU + radio TX</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08" b="0" i="0">
                          <a:solidFill>
                            <a:srgbClr val="1A1A1A"/>
                          </a:solidFill>
                          <a:latin typeface="Arial"/>
                        </a:rPr>
                        <a:t>peaks of 280–340 mA</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39142">
                <a:tc>
                  <a:txBody>
                    <a:bodyPr wrap="square"/>
                    <a:lstStyle/>
                    <a:p>
                      <a:r>
                        <a:rPr sz="1408" b="0" i="0">
                          <a:solidFill>
                            <a:srgbClr val="1A1A1A"/>
                          </a:solidFill>
                          <a:latin typeface="Arial"/>
                        </a:rPr>
                        <a:t>Active, Wi-Fi idle / receiving</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08" b="0" i="0">
                          <a:solidFill>
                            <a:srgbClr val="1A1A1A"/>
                          </a:solidFill>
                          <a:latin typeface="Arial"/>
                        </a:rPr>
                        <a:t>CPU + radio RX</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08" b="0" i="0">
                          <a:solidFill>
                            <a:srgbClr val="1A1A1A"/>
                          </a:solidFill>
                          <a:latin typeface="Arial"/>
                        </a:rPr>
                        <a:t>about 90 mA</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39142">
                <a:tc>
                  <a:txBody>
                    <a:bodyPr wrap="square"/>
                    <a:lstStyle/>
                    <a:p>
                      <a:r>
                        <a:rPr sz="1408" b="0" i="0">
                          <a:solidFill>
                            <a:srgbClr val="1A1A1A"/>
                          </a:solidFill>
                          <a:latin typeface="Arial"/>
                        </a:rPr>
                        <a:t>Active, radio off</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08" b="0" i="0">
                          <a:solidFill>
                            <a:srgbClr val="1A1A1A"/>
                          </a:solidFill>
                          <a:latin typeface="Arial"/>
                        </a:rPr>
                        <a:t>CPU only, 240 MHz</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08" b="0" i="0">
                          <a:solidFill>
                            <a:srgbClr val="1A1A1A"/>
                          </a:solidFill>
                          <a:latin typeface="Arial"/>
                        </a:rPr>
                        <a:t>40–60 mA</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39142">
                <a:tc>
                  <a:txBody>
                    <a:bodyPr wrap="square"/>
                    <a:lstStyle/>
                    <a:p>
                      <a:r>
                        <a:rPr sz="1408" b="0" i="0">
                          <a:solidFill>
                            <a:srgbClr val="1A1A1A"/>
                          </a:solidFill>
                          <a:latin typeface="Arial"/>
                        </a:rPr>
                        <a:t>Modem-sleep, 40 MHz</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08" b="0" i="0">
                          <a:solidFill>
                            <a:srgbClr val="1A1A1A"/>
                          </a:solidFill>
                          <a:latin typeface="Arial"/>
                        </a:rPr>
                        <a:t>CPU idle, radio off</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08" b="0" i="0">
                          <a:solidFill>
                            <a:srgbClr val="1A1A1A"/>
                          </a:solidFill>
                          <a:latin typeface="Arial"/>
                        </a:rPr>
                        <a:t>13–20 mA</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39142">
                <a:tc>
                  <a:txBody>
                    <a:bodyPr wrap="square"/>
                    <a:lstStyle/>
                    <a:p>
                      <a:r>
                        <a:rPr sz="1408" b="0" i="0">
                          <a:solidFill>
                            <a:srgbClr val="1A1A1A"/>
                          </a:solidFill>
                          <a:latin typeface="Arial"/>
                        </a:rPr>
                        <a:t>Light-sleep</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08" b="0" i="0">
                          <a:solidFill>
                            <a:srgbClr val="1A1A1A"/>
                          </a:solidFill>
                          <a:latin typeface="Arial"/>
                        </a:rPr>
                        <a:t>CPU paused, RTC on</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08" b="0" i="0">
                          <a:solidFill>
                            <a:srgbClr val="1A1A1A"/>
                          </a:solidFill>
                          <a:latin typeface="Arial"/>
                        </a:rPr>
                        <a:t>240 µA (+140 µA with PSRAM)</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39142">
                <a:tc>
                  <a:txBody>
                    <a:bodyPr wrap="square"/>
                    <a:lstStyle/>
                    <a:p>
                      <a:r>
                        <a:rPr sz="1408" b="0" i="0">
                          <a:solidFill>
                            <a:srgbClr val="1A1A1A"/>
                          </a:solidFill>
                          <a:latin typeface="Arial"/>
                        </a:rPr>
                        <a:t>Deep-sleep</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08" b="0" i="0">
                          <a:solidFill>
                            <a:srgbClr val="1A1A1A"/>
                          </a:solidFill>
                          <a:latin typeface="Arial"/>
                        </a:rPr>
                        <a:t>RTC + 16 KB RTC memory only</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08" b="0" i="0">
                          <a:solidFill>
                            <a:srgbClr val="1A1A1A"/>
                          </a:solidFill>
                          <a:latin typeface="Arial"/>
                        </a:rPr>
                        <a:t>7–8 µA</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39142">
                <a:tc>
                  <a:txBody>
                    <a:bodyPr wrap="square"/>
                    <a:lstStyle/>
                    <a:p>
                      <a:r>
                        <a:rPr sz="1408" b="0" i="0">
                          <a:solidFill>
                            <a:srgbClr val="1A1A1A"/>
                          </a:solidFill>
                          <a:latin typeface="Arial"/>
                        </a:rPr>
                        <a:t>Power off</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08" b="0" i="0">
                          <a:solidFill>
                            <a:srgbClr val="1A1A1A"/>
                          </a:solidFill>
                          <a:latin typeface="Arial"/>
                        </a:rPr>
                        <a:t>CHIP_PU low</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08" b="0" i="0">
                          <a:solidFill>
                            <a:srgbClr val="1A1A1A"/>
                          </a:solidFill>
                          <a:latin typeface="Arial"/>
                        </a:rPr>
                        <a:t>1 µA</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bl>
          </a:graphicData>
        </a:graphic>
      </p:graphicFrame>
      <p:sp>
        <p:nvSpPr>
          <p:cNvPr id="7" name="TextBox 6"/>
          <p:cNvSpPr txBox="1"/>
          <p:nvPr/>
        </p:nvSpPr>
        <p:spPr>
          <a:xfrm>
            <a:off x="685800" y="5350678"/>
            <a:ext cx="5443569" cy="724818"/>
          </a:xfrm>
          <a:prstGeom prst="rect">
            <a:avLst/>
          </a:prstGeom>
          <a:noFill/>
        </p:spPr>
        <p:txBody>
          <a:bodyPr wrap="square" anchor="t" lIns="0" rIns="0" tIns="18288" bIns="18288">
            <a:spAutoFit/>
          </a:bodyPr>
          <a:lstStyle/>
          <a:p>
            <a:r>
              <a:rPr sz="1408" b="0" i="0">
                <a:solidFill>
                  <a:srgbClr val="595959"/>
                </a:solidFill>
                <a:latin typeface="Arial"/>
              </a:rPr>
              <a:t>ESP32-S3 datasheet figures. A dev board adds 5–20 mA for its regulator, power LED and serial chip, so a board never reaches 8 µA without modification.</a:t>
            </a:r>
          </a:p>
        </p:txBody>
      </p:sp>
      <p:sp>
        <p:nvSpPr>
          <p:cNvPr id="8" name="TextBox 7"/>
          <p:cNvSpPr txBox="1"/>
          <p:nvPr/>
        </p:nvSpPr>
        <p:spPr>
          <a:xfrm>
            <a:off x="6495129" y="1417320"/>
            <a:ext cx="5010765" cy="3181354"/>
          </a:xfrm>
          <a:prstGeom prst="rect">
            <a:avLst/>
          </a:prstGeom>
          <a:noFill/>
        </p:spPr>
        <p:txBody>
          <a:bodyPr wrap="square" anchor="t" lIns="0" rIns="0" tIns="18288" bIns="18288">
            <a:spAutoFit/>
          </a:bodyPr>
          <a:lstStyle/>
          <a:p>
            <a:pPr>
              <a:spcAft>
                <a:spcPts val="500"/>
              </a:spcAft>
            </a:pPr>
            <a:r>
              <a:rPr sz="1496" b="0" i="0">
                <a:solidFill>
                  <a:srgbClr val="595959"/>
                </a:solidFill>
                <a:latin typeface="Arial"/>
              </a:rPr>
              <a:t>–  </a:t>
            </a:r>
            <a:r>
              <a:rPr sz="1496" b="0" i="0">
                <a:solidFill>
                  <a:srgbClr val="1A1A1A"/>
                </a:solidFill>
                <a:latin typeface="Arial"/>
              </a:rPr>
              <a:t>USB gives 5 V. A linear regulator (SGM2212 on this board) drops it to 3.3 V and wastes the difference as heat.</a:t>
            </a:r>
          </a:p>
          <a:p>
            <a:pPr>
              <a:spcAft>
                <a:spcPts val="500"/>
              </a:spcAft>
            </a:pPr>
            <a:r>
              <a:rPr sz="1496" b="0" i="0">
                <a:solidFill>
                  <a:srgbClr val="595959"/>
                </a:solidFill>
                <a:latin typeface="Arial"/>
              </a:rPr>
              <a:t>–  </a:t>
            </a:r>
            <a:r>
              <a:rPr sz="1496" b="0" i="0">
                <a:solidFill>
                  <a:srgbClr val="1A1A1A"/>
                </a:solidFill>
                <a:latin typeface="Arial"/>
              </a:rPr>
              <a:t>Wi-Fi TX draws short spikes near 300 mA. A weak USB port, a long thin cable or an unpowered hub sags below ~2.8 V and the chip resets:
</a:t>
            </a:r>
            <a:r>
              <a:rPr sz="1422" b="0" i="0">
                <a:solidFill>
                  <a:srgbClr val="1A1A1A"/>
                </a:solidFill>
                <a:latin typeface="Courier New"/>
              </a:rPr>
              <a:t>Brownout detector was triggered</a:t>
            </a:r>
          </a:p>
          <a:p>
            <a:pPr>
              <a:spcAft>
                <a:spcPts val="500"/>
              </a:spcAft>
            </a:pPr>
            <a:r>
              <a:rPr sz="1496" b="0" i="0">
                <a:solidFill>
                  <a:srgbClr val="595959"/>
                </a:solidFill>
                <a:latin typeface="Arial"/>
              </a:rPr>
              <a:t>–  </a:t>
            </a:r>
            <a:r>
              <a:rPr sz="1496" b="0" i="0">
                <a:solidFill>
                  <a:srgbClr val="1A1A1A"/>
                </a:solidFill>
                <a:latin typeface="Arial"/>
              </a:rPr>
              <a:t>Fix: a direct port on the laptop, a short cable, or a powered hub. Not a code problem.</a:t>
            </a:r>
          </a:p>
          <a:p>
            <a:pPr>
              <a:spcAft>
                <a:spcPts val="500"/>
              </a:spcAft>
            </a:pPr>
            <a:r>
              <a:rPr sz="1496" b="0" i="0">
                <a:solidFill>
                  <a:srgbClr val="595959"/>
                </a:solidFill>
                <a:latin typeface="Arial"/>
              </a:rPr>
              <a:t>–  </a:t>
            </a:r>
            <a:r>
              <a:rPr sz="1496" b="0" i="0">
                <a:solidFill>
                  <a:srgbClr val="1A1A1A"/>
                </a:solidFill>
                <a:latin typeface="Arial"/>
              </a:rPr>
              <a:t>Deep sleep is how battery projects run for months: wake on a timer or a touch pin, do a few hundred ms of work, sleep again. RTC memory keeps a few variables across sleeps.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0"/>
            <a:ext cx="7315200" cy="274320"/>
          </a:xfrm>
          <a:prstGeom prst="rect">
            <a:avLst/>
          </a:prstGeom>
          <a:noFill/>
        </p:spPr>
        <p:txBody>
          <a:bodyPr wrap="square" anchor="t" lIns="0" rIns="0" tIns="18288" bIns="18288">
            <a:spAutoFit/>
          </a:bodyPr>
          <a:lstStyle/>
          <a:p>
            <a:pPr algn="l"/>
            <a:r>
              <a:rPr sz="1000" b="0" i="0">
                <a:solidFill>
                  <a:srgbClr val="595959"/>
                </a:solidFill>
                <a:latin typeface="Arial"/>
              </a:rPr>
              <a:t>HackHardware · Getting started with the ESP32</a:t>
            </a:r>
          </a:p>
        </p:txBody>
      </p:sp>
      <p:sp>
        <p:nvSpPr>
          <p:cNvPr id="3" name="TextBox 2"/>
          <p:cNvSpPr txBox="1"/>
          <p:nvPr/>
        </p:nvSpPr>
        <p:spPr>
          <a:xfrm>
            <a:off x="10134295" y="6400800"/>
            <a:ext cx="1371600" cy="274320"/>
          </a:xfrm>
          <a:prstGeom prst="rect">
            <a:avLst/>
          </a:prstGeom>
          <a:noFill/>
        </p:spPr>
        <p:txBody>
          <a:bodyPr wrap="square" anchor="t" lIns="0" rIns="0" tIns="18288" bIns="18288">
            <a:spAutoFit/>
          </a:bodyPr>
          <a:lstStyle/>
          <a:p>
            <a:pPr algn="r"/>
            <a:r>
              <a:rPr sz="1000" b="0" i="0">
                <a:solidFill>
                  <a:srgbClr val="595959"/>
                </a:solidFill>
                <a:latin typeface="Arial"/>
              </a:rPr>
              <a:t>10</a:t>
            </a:r>
          </a:p>
        </p:txBody>
      </p:sp>
      <p:sp>
        <p:nvSpPr>
          <p:cNvPr id="4" name="TextBox 3"/>
          <p:cNvSpPr txBox="1"/>
          <p:nvPr/>
        </p:nvSpPr>
        <p:spPr>
          <a:xfrm>
            <a:off x="685800" y="457200"/>
            <a:ext cx="10820095" cy="822960"/>
          </a:xfrm>
          <a:prstGeom prst="rect">
            <a:avLst/>
          </a:prstGeom>
          <a:noFill/>
        </p:spPr>
        <p:txBody>
          <a:bodyPr wrap="square" anchor="b" lIns="0" rIns="0" tIns="18288" bIns="18288">
            <a:spAutoFit/>
          </a:bodyPr>
          <a:lstStyle/>
          <a:p>
            <a:pPr algn="l"/>
            <a:r>
              <a:rPr sz="3000" b="1" i="0">
                <a:solidFill>
                  <a:srgbClr val="1A1A1A"/>
                </a:solidFill>
                <a:latin typeface="Arial"/>
              </a:rPr>
              <a:t>How your code gets onto the chip</a:t>
            </a:r>
          </a:p>
        </p:txBody>
      </p:sp>
      <p:cxnSp>
        <p:nvCxnSpPr>
          <p:cNvPr id="5" name="Connector 4"/>
          <p:cNvCxnSpPr/>
          <p:nvPr/>
        </p:nvCxnSpPr>
        <p:spPr>
          <a:xfrm>
            <a:off x="685800" y="1298448"/>
            <a:ext cx="10820095" cy="0"/>
          </a:xfrm>
          <a:prstGeom prst="line">
            <a:avLst/>
          </a:prstGeom>
          <a:ln w="9525">
            <a:solidFill>
              <a:srgbClr val="BFBFBF"/>
            </a:solidFill>
          </a:ln>
        </p:spPr>
      </p:cxnSp>
      <p:sp>
        <p:nvSpPr>
          <p:cNvPr id="6" name="Rectangle 5"/>
          <p:cNvSpPr/>
          <p:nvPr/>
        </p:nvSpPr>
        <p:spPr>
          <a:xfrm>
            <a:off x="685800" y="1463040"/>
            <a:ext cx="2019223" cy="960120"/>
          </a:xfrm>
          <a:prstGeom prst="rect">
            <a:avLst/>
          </a:prstGeom>
          <a:noFill/>
          <a:ln w="12700">
            <a:solidFill>
              <a:srgbClr val="1A1A1A"/>
            </a:solidFill>
          </a:ln>
          <a:effectLst/>
        </p:spPr>
        <p:txBody>
          <a:bodyPr rtlCol="0" anchor="ctr" wrap="square" lIns="45720" rIns="45720" tIns="18288" bIns="18288"/>
          <a:lstStyle/>
          <a:p>
            <a:pPr algn="ctr"/>
            <a:r>
              <a:rPr sz="1100" b="0" i="0">
                <a:solidFill>
                  <a:srgbClr val="1A1A1A"/>
                </a:solidFill>
                <a:latin typeface="Arial"/>
              </a:rPr>
              <a:t>your .ino</a:t>
            </a:r>
          </a:p>
          <a:p>
            <a:pPr algn="ctr"/>
            <a:r>
              <a:rPr sz="1100" b="0" i="0">
                <a:solidFill>
                  <a:srgbClr val="1A1A1A"/>
                </a:solidFill>
                <a:latin typeface="Arial"/>
              </a:rPr>
              <a:t>+ Arduino core</a:t>
            </a:r>
          </a:p>
          <a:p>
            <a:pPr algn="ctr"/>
            <a:r>
              <a:rPr sz="1100" b="0" i="0">
                <a:solidFill>
                  <a:srgbClr val="1A1A1A"/>
                </a:solidFill>
                <a:latin typeface="Arial"/>
              </a:rPr>
              <a:t>+ ESP-IDF</a:t>
            </a:r>
          </a:p>
        </p:txBody>
      </p:sp>
      <p:cxnSp>
        <p:nvCxnSpPr>
          <p:cNvPr id="7" name="Connector 6"/>
          <p:cNvCxnSpPr/>
          <p:nvPr/>
        </p:nvCxnSpPr>
        <p:spPr>
          <a:xfrm>
            <a:off x="2705023" y="1943100"/>
            <a:ext cx="914400" cy="0"/>
          </a:xfrm>
          <a:prstGeom prst="line">
            <a:avLst/>
          </a:prstGeom>
          <a:ln w="12700">
            <a:solidFill>
              <a:srgbClr val="1A1A1A"/>
            </a:solidFill>
            <a:tailEnd type="triangle" w="med" len="med"/>
          </a:ln>
        </p:spPr>
      </p:cxnSp>
      <p:sp>
        <p:nvSpPr>
          <p:cNvPr id="8" name="TextBox 7"/>
          <p:cNvSpPr txBox="1"/>
          <p:nvPr/>
        </p:nvSpPr>
        <p:spPr>
          <a:xfrm>
            <a:off x="2705023" y="1668780"/>
            <a:ext cx="914400" cy="228600"/>
          </a:xfrm>
          <a:prstGeom prst="rect">
            <a:avLst/>
          </a:prstGeom>
          <a:noFill/>
        </p:spPr>
        <p:txBody>
          <a:bodyPr wrap="square" anchor="t" lIns="0" rIns="0" tIns="18288" bIns="18288">
            <a:spAutoFit/>
          </a:bodyPr>
          <a:lstStyle/>
          <a:p>
            <a:pPr algn="ctr"/>
            <a:r>
              <a:rPr sz="900" b="0" i="0">
                <a:solidFill>
                  <a:srgbClr val="595959"/>
                </a:solidFill>
                <a:latin typeface="Arial"/>
              </a:rPr>
              <a:t>xtensa-esp-elf-gcc</a:t>
            </a:r>
          </a:p>
        </p:txBody>
      </p:sp>
      <p:sp>
        <p:nvSpPr>
          <p:cNvPr id="9" name="Rectangle 8"/>
          <p:cNvSpPr/>
          <p:nvPr/>
        </p:nvSpPr>
        <p:spPr>
          <a:xfrm>
            <a:off x="3619423" y="1463040"/>
            <a:ext cx="2019223" cy="960120"/>
          </a:xfrm>
          <a:prstGeom prst="rect">
            <a:avLst/>
          </a:prstGeom>
          <a:noFill/>
          <a:ln w="12700">
            <a:solidFill>
              <a:srgbClr val="1A1A1A"/>
            </a:solidFill>
          </a:ln>
          <a:effectLst/>
        </p:spPr>
        <p:txBody>
          <a:bodyPr rtlCol="0" anchor="ctr" wrap="square" lIns="45720" rIns="45720" tIns="18288" bIns="18288"/>
          <a:lstStyle/>
          <a:p>
            <a:pPr algn="ctr"/>
            <a:r>
              <a:rPr sz="1100" b="0" i="0">
                <a:solidFill>
                  <a:srgbClr val="1A1A1A"/>
                </a:solidFill>
                <a:latin typeface="Arial"/>
              </a:rPr>
              <a:t>firmware.bin</a:t>
            </a:r>
          </a:p>
        </p:txBody>
      </p:sp>
      <p:cxnSp>
        <p:nvCxnSpPr>
          <p:cNvPr id="10" name="Connector 9"/>
          <p:cNvCxnSpPr/>
          <p:nvPr/>
        </p:nvCxnSpPr>
        <p:spPr>
          <a:xfrm>
            <a:off x="5638647" y="1943100"/>
            <a:ext cx="914400" cy="0"/>
          </a:xfrm>
          <a:prstGeom prst="line">
            <a:avLst/>
          </a:prstGeom>
          <a:ln w="12700">
            <a:solidFill>
              <a:srgbClr val="1A1A1A"/>
            </a:solidFill>
            <a:tailEnd type="triangle" w="med" len="med"/>
          </a:ln>
        </p:spPr>
      </p:cxnSp>
      <p:sp>
        <p:nvSpPr>
          <p:cNvPr id="11" name="TextBox 10"/>
          <p:cNvSpPr txBox="1"/>
          <p:nvPr/>
        </p:nvSpPr>
        <p:spPr>
          <a:xfrm>
            <a:off x="5638647" y="1668780"/>
            <a:ext cx="914400" cy="228600"/>
          </a:xfrm>
          <a:prstGeom prst="rect">
            <a:avLst/>
          </a:prstGeom>
          <a:noFill/>
        </p:spPr>
        <p:txBody>
          <a:bodyPr wrap="square" anchor="t" lIns="0" rIns="0" tIns="18288" bIns="18288">
            <a:spAutoFit/>
          </a:bodyPr>
          <a:lstStyle/>
          <a:p>
            <a:pPr algn="ctr"/>
            <a:r>
              <a:rPr sz="900" b="0" i="0">
                <a:solidFill>
                  <a:srgbClr val="595959"/>
                </a:solidFill>
                <a:latin typeface="Arial"/>
              </a:rPr>
              <a:t>esptool.py</a:t>
            </a:r>
          </a:p>
        </p:txBody>
      </p:sp>
      <p:sp>
        <p:nvSpPr>
          <p:cNvPr id="12" name="Rectangle 11"/>
          <p:cNvSpPr/>
          <p:nvPr/>
        </p:nvSpPr>
        <p:spPr>
          <a:xfrm>
            <a:off x="6553047" y="1463040"/>
            <a:ext cx="2019223" cy="960120"/>
          </a:xfrm>
          <a:prstGeom prst="rect">
            <a:avLst/>
          </a:prstGeom>
          <a:noFill/>
          <a:ln w="12700">
            <a:solidFill>
              <a:srgbClr val="1A1A1A"/>
            </a:solidFill>
          </a:ln>
          <a:effectLst/>
        </p:spPr>
        <p:txBody>
          <a:bodyPr rtlCol="0" anchor="ctr" wrap="square" lIns="45720" rIns="45720" tIns="18288" bIns="18288"/>
          <a:lstStyle/>
          <a:p>
            <a:pPr algn="ctr"/>
            <a:r>
              <a:rPr sz="1100" b="0" i="0">
                <a:solidFill>
                  <a:srgbClr val="1A1A1A"/>
                </a:solidFill>
                <a:latin typeface="Arial"/>
              </a:rPr>
              <a:t>SPI flash</a:t>
            </a:r>
          </a:p>
          <a:p>
            <a:pPr algn="ctr"/>
            <a:r>
              <a:rPr sz="1100" b="0" i="0">
                <a:solidFill>
                  <a:srgbClr val="1A1A1A"/>
                </a:solidFill>
                <a:latin typeface="Arial"/>
              </a:rPr>
              <a:t>on the module</a:t>
            </a:r>
          </a:p>
        </p:txBody>
      </p:sp>
      <p:cxnSp>
        <p:nvCxnSpPr>
          <p:cNvPr id="13" name="Connector 12"/>
          <p:cNvCxnSpPr/>
          <p:nvPr/>
        </p:nvCxnSpPr>
        <p:spPr>
          <a:xfrm>
            <a:off x="8572271" y="1943100"/>
            <a:ext cx="914400" cy="0"/>
          </a:xfrm>
          <a:prstGeom prst="line">
            <a:avLst/>
          </a:prstGeom>
          <a:ln w="12700">
            <a:solidFill>
              <a:srgbClr val="1A1A1A"/>
            </a:solidFill>
            <a:tailEnd type="triangle" w="med" len="med"/>
          </a:ln>
        </p:spPr>
      </p:cxnSp>
      <p:sp>
        <p:nvSpPr>
          <p:cNvPr id="14" name="TextBox 13"/>
          <p:cNvSpPr txBox="1"/>
          <p:nvPr/>
        </p:nvSpPr>
        <p:spPr>
          <a:xfrm>
            <a:off x="8572271" y="1668780"/>
            <a:ext cx="914400" cy="228600"/>
          </a:xfrm>
          <a:prstGeom prst="rect">
            <a:avLst/>
          </a:prstGeom>
          <a:noFill/>
        </p:spPr>
        <p:txBody>
          <a:bodyPr wrap="square" anchor="t" lIns="0" rIns="0" tIns="18288" bIns="18288">
            <a:spAutoFit/>
          </a:bodyPr>
          <a:lstStyle/>
          <a:p>
            <a:pPr algn="ctr"/>
            <a:r>
              <a:rPr sz="900" b="0" i="0">
                <a:solidFill>
                  <a:srgbClr val="595959"/>
                </a:solidFill>
                <a:latin typeface="Arial"/>
              </a:rPr>
              <a:t>reset</a:t>
            </a:r>
          </a:p>
        </p:txBody>
      </p:sp>
      <p:sp>
        <p:nvSpPr>
          <p:cNvPr id="15" name="Rectangle 14"/>
          <p:cNvSpPr/>
          <p:nvPr/>
        </p:nvSpPr>
        <p:spPr>
          <a:xfrm>
            <a:off x="9486671" y="1463040"/>
            <a:ext cx="2019223" cy="960120"/>
          </a:xfrm>
          <a:prstGeom prst="rect">
            <a:avLst/>
          </a:prstGeom>
          <a:noFill/>
          <a:ln w="12700">
            <a:solidFill>
              <a:srgbClr val="1A1A1A"/>
            </a:solidFill>
          </a:ln>
          <a:effectLst/>
        </p:spPr>
        <p:txBody>
          <a:bodyPr rtlCol="0" anchor="ctr" wrap="square" lIns="45720" rIns="45720" tIns="18288" bIns="18288"/>
          <a:lstStyle/>
          <a:p>
            <a:pPr algn="ctr"/>
            <a:r>
              <a:rPr sz="1100" b="0" i="0">
                <a:solidFill>
                  <a:srgbClr val="1A1A1A"/>
                </a:solidFill>
                <a:latin typeface="Arial"/>
              </a:rPr>
              <a:t>ROM bootloader</a:t>
            </a:r>
          </a:p>
          <a:p>
            <a:pPr algn="ctr"/>
            <a:r>
              <a:rPr sz="1100" b="0" i="0">
                <a:solidFill>
                  <a:srgbClr val="1A1A1A"/>
                </a:solidFill>
                <a:latin typeface="Arial"/>
              </a:rPr>
              <a:t>→ 2nd-stage bootloader</a:t>
            </a:r>
          </a:p>
          <a:p>
            <a:pPr algn="ctr"/>
            <a:r>
              <a:rPr sz="1100" b="0" i="0">
                <a:solidFill>
                  <a:srgbClr val="1A1A1A"/>
                </a:solidFill>
                <a:latin typeface="Arial"/>
              </a:rPr>
              <a:t>→ your app</a:t>
            </a:r>
          </a:p>
        </p:txBody>
      </p:sp>
      <p:sp>
        <p:nvSpPr>
          <p:cNvPr id="16" name="TextBox 15"/>
          <p:cNvSpPr txBox="1"/>
          <p:nvPr/>
        </p:nvSpPr>
        <p:spPr>
          <a:xfrm>
            <a:off x="685800" y="2496312"/>
            <a:ext cx="10820095" cy="228600"/>
          </a:xfrm>
          <a:prstGeom prst="rect">
            <a:avLst/>
          </a:prstGeom>
          <a:noFill/>
        </p:spPr>
        <p:txBody>
          <a:bodyPr wrap="square" anchor="t" lIns="0" rIns="0" tIns="18288" bIns="18288">
            <a:spAutoFit/>
          </a:bodyPr>
          <a:lstStyle/>
          <a:p>
            <a:pPr algn="l"/>
            <a:r>
              <a:rPr sz="1100" b="0" i="0">
                <a:solidFill>
                  <a:srgbClr val="595959"/>
                </a:solidFill>
                <a:latin typeface="Arial"/>
              </a:rPr>
              <a:t>Upload = compile, then write ~1 MB over the USB serial link at 921 600 baud (about 10 s), then reset.</a:t>
            </a:r>
          </a:p>
        </p:txBody>
      </p:sp>
      <p:sp>
        <p:nvSpPr>
          <p:cNvPr id="17" name="TextBox 16"/>
          <p:cNvSpPr txBox="1"/>
          <p:nvPr/>
        </p:nvSpPr>
        <p:spPr>
          <a:xfrm>
            <a:off x="685800" y="2880360"/>
            <a:ext cx="10820095" cy="228600"/>
          </a:xfrm>
          <a:prstGeom prst="rect">
            <a:avLst/>
          </a:prstGeom>
          <a:noFill/>
        </p:spPr>
        <p:txBody>
          <a:bodyPr wrap="square" anchor="t" lIns="0" rIns="0" tIns="18288" bIns="18288">
            <a:spAutoFit/>
          </a:bodyPr>
          <a:lstStyle/>
          <a:p>
            <a:pPr algn="l"/>
            <a:r>
              <a:rPr sz="1100" b="0" i="0">
                <a:solidFill>
                  <a:srgbClr val="1A1A1A"/>
                </a:solidFill>
                <a:latin typeface="Arial"/>
              </a:rPr>
              <a:t>Default 4 MB flash layout (“Default 4MB with spiffs” in Tools → Partition Scheme):</a:t>
            </a:r>
          </a:p>
        </p:txBody>
      </p:sp>
      <p:sp>
        <p:nvSpPr>
          <p:cNvPr id="18" name="Rectangle 17"/>
          <p:cNvSpPr/>
          <p:nvPr/>
        </p:nvSpPr>
        <p:spPr>
          <a:xfrm>
            <a:off x="685800" y="3154680"/>
            <a:ext cx="474830" cy="384048"/>
          </a:xfrm>
          <a:prstGeom prst="rect">
            <a:avLst/>
          </a:prstGeom>
          <a:solidFill>
            <a:srgbClr val="F2F2F2"/>
          </a:solidFill>
          <a:ln w="9525">
            <a:solidFill>
              <a:srgbClr val="1A1A1A"/>
            </a:solidFill>
          </a:ln>
          <a:effectLst/>
        </p:spPr>
        <p:txBody>
          <a:bodyPr rtlCol="0" anchor="ctr" wrap="square" lIns="45720" rIns="45720" tIns="18288" bIns="18288"/>
          <a:lstStyle/>
          <a:p>
            <a:pPr algn="ctr"/>
            <a:r>
              <a:rPr sz="800" b="0" i="0">
                <a:solidFill>
                  <a:srgbClr val="1A1A1A"/>
                </a:solidFill>
                <a:latin typeface="Arial"/>
              </a:rPr>
              <a:t>boot</a:t>
            </a:r>
          </a:p>
        </p:txBody>
      </p:sp>
      <p:sp>
        <p:nvSpPr>
          <p:cNvPr id="19" name="TextBox 18"/>
          <p:cNvSpPr txBox="1"/>
          <p:nvPr/>
        </p:nvSpPr>
        <p:spPr>
          <a:xfrm>
            <a:off x="685800" y="3557016"/>
            <a:ext cx="474830" cy="182880"/>
          </a:xfrm>
          <a:prstGeom prst="rect">
            <a:avLst/>
          </a:prstGeom>
          <a:noFill/>
        </p:spPr>
        <p:txBody>
          <a:bodyPr wrap="square" anchor="t" lIns="0" rIns="0" tIns="18288" bIns="18288">
            <a:spAutoFit/>
          </a:bodyPr>
          <a:lstStyle/>
          <a:p>
            <a:pPr algn="ctr"/>
            <a:r>
              <a:rPr sz="665" b="0" i="0">
                <a:solidFill>
                  <a:srgbClr val="595959"/>
                </a:solidFill>
                <a:latin typeface="Courier New"/>
              </a:rPr>
              <a:t>0x1000</a:t>
            </a:r>
          </a:p>
        </p:txBody>
      </p:sp>
      <p:sp>
        <p:nvSpPr>
          <p:cNvPr id="20" name="Rectangle 19"/>
          <p:cNvSpPr/>
          <p:nvPr/>
        </p:nvSpPr>
        <p:spPr>
          <a:xfrm>
            <a:off x="1160630" y="3154680"/>
            <a:ext cx="474830" cy="384048"/>
          </a:xfrm>
          <a:prstGeom prst="rect">
            <a:avLst/>
          </a:prstGeom>
          <a:solidFill>
            <a:srgbClr val="F2F2F2"/>
          </a:solidFill>
          <a:ln w="9525">
            <a:solidFill>
              <a:srgbClr val="1A1A1A"/>
            </a:solidFill>
          </a:ln>
          <a:effectLst/>
        </p:spPr>
        <p:txBody>
          <a:bodyPr rtlCol="0" anchor="ctr" wrap="square" lIns="45720" rIns="45720" tIns="18288" bIns="18288"/>
          <a:lstStyle/>
          <a:p>
            <a:pPr algn="ctr"/>
            <a:r>
              <a:rPr sz="800" b="0" i="0">
                <a:solidFill>
                  <a:srgbClr val="1A1A1A"/>
                </a:solidFill>
                <a:latin typeface="Arial"/>
              </a:rPr>
              <a:t>table</a:t>
            </a:r>
          </a:p>
        </p:txBody>
      </p:sp>
      <p:sp>
        <p:nvSpPr>
          <p:cNvPr id="21" name="TextBox 20"/>
          <p:cNvSpPr txBox="1"/>
          <p:nvPr/>
        </p:nvSpPr>
        <p:spPr>
          <a:xfrm>
            <a:off x="1160630" y="3557016"/>
            <a:ext cx="474830" cy="182880"/>
          </a:xfrm>
          <a:prstGeom prst="rect">
            <a:avLst/>
          </a:prstGeom>
          <a:noFill/>
        </p:spPr>
        <p:txBody>
          <a:bodyPr wrap="square" anchor="t" lIns="0" rIns="0" tIns="18288" bIns="18288">
            <a:spAutoFit/>
          </a:bodyPr>
          <a:lstStyle/>
          <a:p>
            <a:pPr algn="ctr"/>
            <a:r>
              <a:rPr sz="665" b="0" i="0">
                <a:solidFill>
                  <a:srgbClr val="595959"/>
                </a:solidFill>
                <a:latin typeface="Courier New"/>
              </a:rPr>
              <a:t>0x8000</a:t>
            </a:r>
          </a:p>
        </p:txBody>
      </p:sp>
      <p:sp>
        <p:nvSpPr>
          <p:cNvPr id="22" name="Rectangle 21"/>
          <p:cNvSpPr/>
          <p:nvPr/>
        </p:nvSpPr>
        <p:spPr>
          <a:xfrm>
            <a:off x="1635461" y="3154680"/>
            <a:ext cx="474830" cy="384048"/>
          </a:xfrm>
          <a:prstGeom prst="rect">
            <a:avLst/>
          </a:prstGeom>
          <a:solidFill>
            <a:srgbClr val="F2F2F2"/>
          </a:solidFill>
          <a:ln w="9525">
            <a:solidFill>
              <a:srgbClr val="1A1A1A"/>
            </a:solidFill>
          </a:ln>
          <a:effectLst/>
        </p:spPr>
        <p:txBody>
          <a:bodyPr rtlCol="0" anchor="ctr" wrap="square" lIns="45720" rIns="45720" tIns="18288" bIns="18288"/>
          <a:lstStyle/>
          <a:p>
            <a:pPr algn="ctr"/>
            <a:r>
              <a:rPr sz="800" b="0" i="0">
                <a:solidFill>
                  <a:srgbClr val="1A1A1A"/>
                </a:solidFill>
                <a:latin typeface="Arial"/>
              </a:rPr>
              <a:t>nvs</a:t>
            </a:r>
          </a:p>
        </p:txBody>
      </p:sp>
      <p:sp>
        <p:nvSpPr>
          <p:cNvPr id="23" name="TextBox 22"/>
          <p:cNvSpPr txBox="1"/>
          <p:nvPr/>
        </p:nvSpPr>
        <p:spPr>
          <a:xfrm>
            <a:off x="1635461" y="3557016"/>
            <a:ext cx="474830" cy="182880"/>
          </a:xfrm>
          <a:prstGeom prst="rect">
            <a:avLst/>
          </a:prstGeom>
          <a:noFill/>
        </p:spPr>
        <p:txBody>
          <a:bodyPr wrap="square" anchor="t" lIns="0" rIns="0" tIns="18288" bIns="18288">
            <a:spAutoFit/>
          </a:bodyPr>
          <a:lstStyle/>
          <a:p>
            <a:pPr algn="ctr"/>
            <a:r>
              <a:rPr sz="665" b="0" i="0">
                <a:solidFill>
                  <a:srgbClr val="595959"/>
                </a:solidFill>
                <a:latin typeface="Courier New"/>
              </a:rPr>
              <a:t>0x9000</a:t>
            </a:r>
          </a:p>
        </p:txBody>
      </p:sp>
      <p:sp>
        <p:nvSpPr>
          <p:cNvPr id="24" name="Rectangle 23"/>
          <p:cNvSpPr/>
          <p:nvPr/>
        </p:nvSpPr>
        <p:spPr>
          <a:xfrm>
            <a:off x="2110291" y="3154680"/>
            <a:ext cx="474830" cy="384048"/>
          </a:xfrm>
          <a:prstGeom prst="rect">
            <a:avLst/>
          </a:prstGeom>
          <a:solidFill>
            <a:srgbClr val="F2F2F2"/>
          </a:solidFill>
          <a:ln w="9525">
            <a:solidFill>
              <a:srgbClr val="1A1A1A"/>
            </a:solidFill>
          </a:ln>
          <a:effectLst/>
        </p:spPr>
        <p:txBody>
          <a:bodyPr rtlCol="0" anchor="ctr" wrap="square" lIns="45720" rIns="45720" tIns="18288" bIns="18288"/>
          <a:lstStyle/>
          <a:p>
            <a:pPr algn="ctr"/>
            <a:r>
              <a:rPr sz="800" b="0" i="0">
                <a:solidFill>
                  <a:srgbClr val="1A1A1A"/>
                </a:solidFill>
                <a:latin typeface="Arial"/>
              </a:rPr>
              <a:t>ota</a:t>
            </a:r>
          </a:p>
        </p:txBody>
      </p:sp>
      <p:sp>
        <p:nvSpPr>
          <p:cNvPr id="25" name="TextBox 24"/>
          <p:cNvSpPr txBox="1"/>
          <p:nvPr/>
        </p:nvSpPr>
        <p:spPr>
          <a:xfrm>
            <a:off x="2110291" y="3557016"/>
            <a:ext cx="474830" cy="182880"/>
          </a:xfrm>
          <a:prstGeom prst="rect">
            <a:avLst/>
          </a:prstGeom>
          <a:noFill/>
        </p:spPr>
        <p:txBody>
          <a:bodyPr wrap="square" anchor="t" lIns="0" rIns="0" tIns="18288" bIns="18288">
            <a:spAutoFit/>
          </a:bodyPr>
          <a:lstStyle/>
          <a:p>
            <a:pPr algn="ctr"/>
            <a:r>
              <a:rPr sz="665" b="0" i="0">
                <a:solidFill>
                  <a:srgbClr val="595959"/>
                </a:solidFill>
                <a:latin typeface="Courier New"/>
              </a:rPr>
              <a:t>0xE000</a:t>
            </a:r>
          </a:p>
        </p:txBody>
      </p:sp>
      <p:sp>
        <p:nvSpPr>
          <p:cNvPr id="26" name="Rectangle 25"/>
          <p:cNvSpPr/>
          <p:nvPr/>
        </p:nvSpPr>
        <p:spPr>
          <a:xfrm>
            <a:off x="2585122" y="3154680"/>
            <a:ext cx="2831991" cy="384048"/>
          </a:xfrm>
          <a:prstGeom prst="rect">
            <a:avLst/>
          </a:prstGeom>
          <a:solidFill>
            <a:srgbClr val="FFFFFF"/>
          </a:solidFill>
          <a:ln w="9525">
            <a:solidFill>
              <a:srgbClr val="1A1A1A"/>
            </a:solidFill>
          </a:ln>
          <a:effectLst/>
        </p:spPr>
        <p:txBody>
          <a:bodyPr rtlCol="0" anchor="ctr" wrap="square" lIns="45720" rIns="45720" tIns="18288" bIns="18288"/>
          <a:lstStyle/>
          <a:p>
            <a:pPr algn="ctr"/>
            <a:r>
              <a:rPr sz="800" b="0" i="0">
                <a:solidFill>
                  <a:srgbClr val="1A1A1A"/>
                </a:solidFill>
                <a:latin typeface="Arial"/>
              </a:rPr>
              <a:t>app0  1.25 MB</a:t>
            </a:r>
          </a:p>
        </p:txBody>
      </p:sp>
      <p:sp>
        <p:nvSpPr>
          <p:cNvPr id="27" name="TextBox 26"/>
          <p:cNvSpPr txBox="1"/>
          <p:nvPr/>
        </p:nvSpPr>
        <p:spPr>
          <a:xfrm>
            <a:off x="2585122" y="3557016"/>
            <a:ext cx="2831991" cy="182880"/>
          </a:xfrm>
          <a:prstGeom prst="rect">
            <a:avLst/>
          </a:prstGeom>
          <a:noFill/>
        </p:spPr>
        <p:txBody>
          <a:bodyPr wrap="square" anchor="t" lIns="0" rIns="0" tIns="18288" bIns="18288">
            <a:spAutoFit/>
          </a:bodyPr>
          <a:lstStyle/>
          <a:p>
            <a:pPr algn="ctr"/>
            <a:r>
              <a:rPr sz="665" b="0" i="0">
                <a:solidFill>
                  <a:srgbClr val="595959"/>
                </a:solidFill>
                <a:latin typeface="Courier New"/>
              </a:rPr>
              <a:t>0x10000</a:t>
            </a:r>
          </a:p>
        </p:txBody>
      </p:sp>
      <p:sp>
        <p:nvSpPr>
          <p:cNvPr id="28" name="Rectangle 27"/>
          <p:cNvSpPr/>
          <p:nvPr/>
        </p:nvSpPr>
        <p:spPr>
          <a:xfrm>
            <a:off x="5417113" y="3154680"/>
            <a:ext cx="2831991" cy="384048"/>
          </a:xfrm>
          <a:prstGeom prst="rect">
            <a:avLst/>
          </a:prstGeom>
          <a:solidFill>
            <a:srgbClr val="FFFFFF"/>
          </a:solidFill>
          <a:ln w="9525">
            <a:solidFill>
              <a:srgbClr val="1A1A1A"/>
            </a:solidFill>
          </a:ln>
          <a:effectLst/>
        </p:spPr>
        <p:txBody>
          <a:bodyPr rtlCol="0" anchor="ctr" wrap="square" lIns="45720" rIns="45720" tIns="18288" bIns="18288"/>
          <a:lstStyle/>
          <a:p>
            <a:pPr algn="ctr"/>
            <a:r>
              <a:rPr sz="800" b="0" i="0">
                <a:solidFill>
                  <a:srgbClr val="1A1A1A"/>
                </a:solidFill>
                <a:latin typeface="Arial"/>
              </a:rPr>
              <a:t>app1  1.25 MB</a:t>
            </a:r>
          </a:p>
        </p:txBody>
      </p:sp>
      <p:sp>
        <p:nvSpPr>
          <p:cNvPr id="29" name="TextBox 28"/>
          <p:cNvSpPr txBox="1"/>
          <p:nvPr/>
        </p:nvSpPr>
        <p:spPr>
          <a:xfrm>
            <a:off x="5417113" y="3557016"/>
            <a:ext cx="2831991" cy="182880"/>
          </a:xfrm>
          <a:prstGeom prst="rect">
            <a:avLst/>
          </a:prstGeom>
          <a:noFill/>
        </p:spPr>
        <p:txBody>
          <a:bodyPr wrap="square" anchor="t" lIns="0" rIns="0" tIns="18288" bIns="18288">
            <a:spAutoFit/>
          </a:bodyPr>
          <a:lstStyle/>
          <a:p>
            <a:pPr algn="ctr"/>
            <a:r>
              <a:rPr sz="665" b="0" i="0">
                <a:solidFill>
                  <a:srgbClr val="595959"/>
                </a:solidFill>
                <a:latin typeface="Courier New"/>
              </a:rPr>
              <a:t>0x150000</a:t>
            </a:r>
          </a:p>
        </p:txBody>
      </p:sp>
      <p:sp>
        <p:nvSpPr>
          <p:cNvPr id="30" name="Rectangle 29"/>
          <p:cNvSpPr/>
          <p:nvPr/>
        </p:nvSpPr>
        <p:spPr>
          <a:xfrm>
            <a:off x="8249105" y="3154680"/>
            <a:ext cx="3256790" cy="384048"/>
          </a:xfrm>
          <a:prstGeom prst="rect">
            <a:avLst/>
          </a:prstGeom>
          <a:solidFill>
            <a:srgbClr val="F2F2F2"/>
          </a:solidFill>
          <a:ln w="9525">
            <a:solidFill>
              <a:srgbClr val="1A1A1A"/>
            </a:solidFill>
          </a:ln>
          <a:effectLst/>
        </p:spPr>
        <p:txBody>
          <a:bodyPr rtlCol="0" anchor="ctr" wrap="square" lIns="45720" rIns="45720" tIns="18288" bIns="18288"/>
          <a:lstStyle/>
          <a:p>
            <a:pPr algn="ctr"/>
            <a:r>
              <a:rPr sz="800" b="0" i="0">
                <a:solidFill>
                  <a:srgbClr val="1A1A1A"/>
                </a:solidFill>
                <a:latin typeface="Arial"/>
              </a:rPr>
              <a:t>spiffs  1.5 MB</a:t>
            </a:r>
          </a:p>
        </p:txBody>
      </p:sp>
      <p:sp>
        <p:nvSpPr>
          <p:cNvPr id="31" name="TextBox 30"/>
          <p:cNvSpPr txBox="1"/>
          <p:nvPr/>
        </p:nvSpPr>
        <p:spPr>
          <a:xfrm>
            <a:off x="8249105" y="3557016"/>
            <a:ext cx="3256790" cy="182880"/>
          </a:xfrm>
          <a:prstGeom prst="rect">
            <a:avLst/>
          </a:prstGeom>
          <a:noFill/>
        </p:spPr>
        <p:txBody>
          <a:bodyPr wrap="square" anchor="t" lIns="0" rIns="0" tIns="18288" bIns="18288">
            <a:spAutoFit/>
          </a:bodyPr>
          <a:lstStyle/>
          <a:p>
            <a:pPr algn="ctr"/>
            <a:r>
              <a:rPr sz="665" b="0" i="0">
                <a:solidFill>
                  <a:srgbClr val="595959"/>
                </a:solidFill>
                <a:latin typeface="Courier New"/>
              </a:rPr>
              <a:t>0x290000</a:t>
            </a:r>
          </a:p>
        </p:txBody>
      </p:sp>
      <p:sp>
        <p:nvSpPr>
          <p:cNvPr id="32" name="TextBox 31"/>
          <p:cNvSpPr txBox="1"/>
          <p:nvPr/>
        </p:nvSpPr>
        <p:spPr>
          <a:xfrm>
            <a:off x="685800" y="3931920"/>
            <a:ext cx="10820095" cy="1684020"/>
          </a:xfrm>
          <a:prstGeom prst="rect">
            <a:avLst/>
          </a:prstGeom>
          <a:noFill/>
        </p:spPr>
        <p:txBody>
          <a:bodyPr wrap="square" anchor="t" lIns="0" rIns="0" tIns="18288" bIns="18288">
            <a:spAutoFit/>
          </a:bodyPr>
          <a:lstStyle/>
          <a:p>
            <a:pPr>
              <a:spcAft>
                <a:spcPts val="500"/>
              </a:spcAft>
            </a:pPr>
            <a:r>
              <a:rPr sz="1700" b="0" i="0">
                <a:solidFill>
                  <a:srgbClr val="595959"/>
                </a:solidFill>
                <a:latin typeface="Arial"/>
              </a:rPr>
              <a:t>–  </a:t>
            </a:r>
            <a:r>
              <a:rPr sz="1700" b="1" i="0">
                <a:solidFill>
                  <a:srgbClr val="1A1A1A"/>
                </a:solidFill>
                <a:latin typeface="Arial"/>
              </a:rPr>
              <a:t>Verify (✓)</a:t>
            </a:r>
            <a:r>
              <a:rPr sz="1700" b="0" i="0">
                <a:solidFill>
                  <a:srgbClr val="1A1A1A"/>
                </a:solidFill>
                <a:latin typeface="Arial"/>
              </a:rPr>
              <a:t> does step one only. </a:t>
            </a:r>
            <a:r>
              <a:rPr sz="1700" b="1" i="0">
                <a:solidFill>
                  <a:srgbClr val="1A1A1A"/>
                </a:solidFill>
                <a:latin typeface="Arial"/>
              </a:rPr>
              <a:t>Upload (→)</a:t>
            </a:r>
            <a:r>
              <a:rPr sz="1700" b="0" i="0">
                <a:solidFill>
                  <a:srgbClr val="1A1A1A"/>
                </a:solidFill>
                <a:latin typeface="Arial"/>
              </a:rPr>
              <a:t> does all of it. The first compile builds the whole core and takes 1–3 minutes; later ones take seconds.</a:t>
            </a:r>
          </a:p>
          <a:p>
            <a:pPr>
              <a:spcAft>
                <a:spcPts val="500"/>
              </a:spcAft>
            </a:pPr>
            <a:r>
              <a:rPr sz="1700" b="0" i="0">
                <a:solidFill>
                  <a:srgbClr val="595959"/>
                </a:solidFill>
                <a:latin typeface="Arial"/>
              </a:rPr>
              <a:t>–  </a:t>
            </a:r>
            <a:r>
              <a:rPr sz="1700" b="0" i="0">
                <a:solidFill>
                  <a:srgbClr val="1A1A1A"/>
                </a:solidFill>
                <a:latin typeface="Arial"/>
              </a:rPr>
              <a:t>Two copies of the app (</a:t>
            </a:r>
            <a:r>
              <a:rPr sz="1614" b="0" i="0">
                <a:solidFill>
                  <a:srgbClr val="1A1A1A"/>
                </a:solidFill>
                <a:latin typeface="Courier New"/>
              </a:rPr>
              <a:t>app0</a:t>
            </a:r>
            <a:r>
              <a:rPr sz="1700" b="0" i="0">
                <a:solidFill>
                  <a:srgbClr val="1A1A1A"/>
                </a:solidFill>
                <a:latin typeface="Arial"/>
              </a:rPr>
              <a:t>, </a:t>
            </a:r>
            <a:r>
              <a:rPr sz="1614" b="0" i="0">
                <a:solidFill>
                  <a:srgbClr val="1A1A1A"/>
                </a:solidFill>
                <a:latin typeface="Courier New"/>
              </a:rPr>
              <a:t>app1</a:t>
            </a:r>
            <a:r>
              <a:rPr sz="1700" b="0" i="0">
                <a:solidFill>
                  <a:srgbClr val="1A1A1A"/>
                </a:solidFill>
                <a:latin typeface="Arial"/>
              </a:rPr>
              <a:t>) exist so a future over-the-air update can be written to one while the other runs. </a:t>
            </a:r>
            <a:r>
              <a:rPr sz="1614" b="0" i="0">
                <a:solidFill>
                  <a:srgbClr val="1A1A1A"/>
                </a:solidFill>
                <a:latin typeface="Courier New"/>
              </a:rPr>
              <a:t>nvs</a:t>
            </a:r>
            <a:r>
              <a:rPr sz="1700" b="0" i="0">
                <a:solidFill>
                  <a:srgbClr val="1A1A1A"/>
                </a:solidFill>
                <a:latin typeface="Arial"/>
              </a:rPr>
              <a:t> is a small key-value store; </a:t>
            </a:r>
            <a:r>
              <a:rPr sz="1614" b="0" i="0">
                <a:solidFill>
                  <a:srgbClr val="1A1A1A"/>
                </a:solidFill>
                <a:latin typeface="Courier New"/>
              </a:rPr>
              <a:t>Preferences.h</a:t>
            </a:r>
            <a:r>
              <a:rPr sz="1700" b="0" i="0">
                <a:solidFill>
                  <a:srgbClr val="1A1A1A"/>
                </a:solidFill>
                <a:latin typeface="Arial"/>
              </a:rPr>
              <a:t> writes there. </a:t>
            </a:r>
            <a:r>
              <a:rPr sz="1614" b="0" i="0">
                <a:solidFill>
                  <a:srgbClr val="1A1A1A"/>
                </a:solidFill>
                <a:latin typeface="Courier New"/>
              </a:rPr>
              <a:t>spiffs</a:t>
            </a:r>
            <a:r>
              <a:rPr sz="1700" b="0" i="0">
                <a:solidFill>
                  <a:srgbClr val="1A1A1A"/>
                </a:solidFill>
                <a:latin typeface="Arial"/>
              </a:rPr>
              <a:t> is a filesystem you can put web pages in. Your board has 8 MB; the IDE default only lays out the first 4. Tools → Flash Size / Partition Scheme changes that when you need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0"/>
            <a:ext cx="7315200" cy="274320"/>
          </a:xfrm>
          <a:prstGeom prst="rect">
            <a:avLst/>
          </a:prstGeom>
          <a:noFill/>
        </p:spPr>
        <p:txBody>
          <a:bodyPr wrap="square" anchor="t" lIns="0" rIns="0" tIns="18288" bIns="18288">
            <a:spAutoFit/>
          </a:bodyPr>
          <a:lstStyle/>
          <a:p>
            <a:pPr algn="l"/>
            <a:r>
              <a:rPr sz="1000" b="0" i="0">
                <a:solidFill>
                  <a:srgbClr val="595959"/>
                </a:solidFill>
                <a:latin typeface="Arial"/>
              </a:rPr>
              <a:t>HackHardware · Getting started with the ESP32</a:t>
            </a:r>
          </a:p>
        </p:txBody>
      </p:sp>
      <p:sp>
        <p:nvSpPr>
          <p:cNvPr id="3" name="TextBox 2"/>
          <p:cNvSpPr txBox="1"/>
          <p:nvPr/>
        </p:nvSpPr>
        <p:spPr>
          <a:xfrm>
            <a:off x="10134295" y="6400800"/>
            <a:ext cx="1371600" cy="274320"/>
          </a:xfrm>
          <a:prstGeom prst="rect">
            <a:avLst/>
          </a:prstGeom>
          <a:noFill/>
        </p:spPr>
        <p:txBody>
          <a:bodyPr wrap="square" anchor="t" lIns="0" rIns="0" tIns="18288" bIns="18288">
            <a:spAutoFit/>
          </a:bodyPr>
          <a:lstStyle/>
          <a:p>
            <a:pPr algn="r"/>
            <a:r>
              <a:rPr sz="1000" b="0" i="0">
                <a:solidFill>
                  <a:srgbClr val="595959"/>
                </a:solidFill>
                <a:latin typeface="Arial"/>
              </a:rPr>
              <a:t>11</a:t>
            </a:r>
          </a:p>
        </p:txBody>
      </p:sp>
      <p:sp>
        <p:nvSpPr>
          <p:cNvPr id="4" name="TextBox 3"/>
          <p:cNvSpPr txBox="1"/>
          <p:nvPr/>
        </p:nvSpPr>
        <p:spPr>
          <a:xfrm>
            <a:off x="685800" y="457200"/>
            <a:ext cx="10820095" cy="822960"/>
          </a:xfrm>
          <a:prstGeom prst="rect">
            <a:avLst/>
          </a:prstGeom>
          <a:noFill/>
        </p:spPr>
        <p:txBody>
          <a:bodyPr wrap="square" anchor="b" lIns="0" rIns="0" tIns="18288" bIns="18288">
            <a:spAutoFit/>
          </a:bodyPr>
          <a:lstStyle/>
          <a:p>
            <a:pPr algn="l"/>
            <a:r>
              <a:rPr sz="3000" b="1" i="0">
                <a:solidFill>
                  <a:srgbClr val="1A1A1A"/>
                </a:solidFill>
                <a:latin typeface="Arial"/>
              </a:rPr>
              <a:t>Why “hold BOOT” works</a:t>
            </a:r>
          </a:p>
        </p:txBody>
      </p:sp>
      <p:cxnSp>
        <p:nvCxnSpPr>
          <p:cNvPr id="5" name="Connector 4"/>
          <p:cNvCxnSpPr/>
          <p:nvPr/>
        </p:nvCxnSpPr>
        <p:spPr>
          <a:xfrm>
            <a:off x="685800" y="1298448"/>
            <a:ext cx="10820095" cy="0"/>
          </a:xfrm>
          <a:prstGeom prst="line">
            <a:avLst/>
          </a:prstGeom>
          <a:ln w="9525">
            <a:solidFill>
              <a:srgbClr val="BFBFBF"/>
            </a:solidFill>
          </a:ln>
        </p:spPr>
      </p:cxnSp>
      <p:sp>
        <p:nvSpPr>
          <p:cNvPr id="6" name="Rectangle 5"/>
          <p:cNvSpPr/>
          <p:nvPr/>
        </p:nvSpPr>
        <p:spPr>
          <a:xfrm>
            <a:off x="685800" y="1645920"/>
            <a:ext cx="1371600" cy="1005840"/>
          </a:xfrm>
          <a:prstGeom prst="rect">
            <a:avLst/>
          </a:prstGeom>
          <a:noFill/>
          <a:ln w="12700">
            <a:solidFill>
              <a:srgbClr val="1A1A1A"/>
            </a:solidFill>
          </a:ln>
          <a:effectLst/>
        </p:spPr>
        <p:txBody>
          <a:bodyPr rtlCol="0" anchor="ctr" wrap="square" lIns="45720" rIns="45720" tIns="18288" bIns="18288"/>
          <a:lstStyle/>
          <a:p>
            <a:pPr algn="ctr"/>
            <a:r>
              <a:rPr sz="1000" b="0" i="0">
                <a:solidFill>
                  <a:srgbClr val="1A1A1A"/>
                </a:solidFill>
                <a:latin typeface="Arial"/>
              </a:rPr>
              <a:t>CP2102N</a:t>
            </a:r>
          </a:p>
          <a:p>
            <a:pPr algn="ctr"/>
            <a:r>
              <a:rPr sz="1000" b="0" i="0">
                <a:solidFill>
                  <a:srgbClr val="1A1A1A"/>
                </a:solidFill>
                <a:latin typeface="Arial"/>
              </a:rPr>
              <a:t>USB-to-serial</a:t>
            </a:r>
          </a:p>
        </p:txBody>
      </p:sp>
      <p:sp>
        <p:nvSpPr>
          <p:cNvPr id="7" name="Rectangle 6"/>
          <p:cNvSpPr/>
          <p:nvPr/>
        </p:nvSpPr>
        <p:spPr>
          <a:xfrm>
            <a:off x="3425836" y="1645920"/>
            <a:ext cx="1371600" cy="1005840"/>
          </a:xfrm>
          <a:prstGeom prst="rect">
            <a:avLst/>
          </a:prstGeom>
          <a:noFill/>
          <a:ln w="12700">
            <a:solidFill>
              <a:srgbClr val="1A1A1A"/>
            </a:solidFill>
          </a:ln>
          <a:effectLst/>
        </p:spPr>
        <p:txBody>
          <a:bodyPr rtlCol="0" anchor="ctr" wrap="square" lIns="45720" rIns="45720" tIns="18288" bIns="18288"/>
          <a:lstStyle/>
          <a:p>
            <a:pPr algn="ctr"/>
            <a:r>
              <a:rPr sz="1000" b="0" i="0">
                <a:solidFill>
                  <a:srgbClr val="1A1A1A"/>
                </a:solidFill>
                <a:latin typeface="Arial"/>
              </a:rPr>
              <a:t>ESP32-S3</a:t>
            </a:r>
          </a:p>
        </p:txBody>
      </p:sp>
      <p:cxnSp>
        <p:nvCxnSpPr>
          <p:cNvPr id="8" name="Connector 7"/>
          <p:cNvCxnSpPr/>
          <p:nvPr/>
        </p:nvCxnSpPr>
        <p:spPr>
          <a:xfrm>
            <a:off x="2057400" y="1920240"/>
            <a:ext cx="1368436" cy="0"/>
          </a:xfrm>
          <a:prstGeom prst="line">
            <a:avLst/>
          </a:prstGeom>
          <a:ln w="12700">
            <a:solidFill>
              <a:srgbClr val="1A1A1A"/>
            </a:solidFill>
            <a:tailEnd type="triangle" w="med" len="med"/>
          </a:ln>
        </p:spPr>
      </p:cxnSp>
      <p:sp>
        <p:nvSpPr>
          <p:cNvPr id="9" name="TextBox 8"/>
          <p:cNvSpPr txBox="1"/>
          <p:nvPr/>
        </p:nvSpPr>
        <p:spPr>
          <a:xfrm>
            <a:off x="2103120" y="1700784"/>
            <a:ext cx="1463040" cy="182880"/>
          </a:xfrm>
          <a:prstGeom prst="rect">
            <a:avLst/>
          </a:prstGeom>
          <a:noFill/>
        </p:spPr>
        <p:txBody>
          <a:bodyPr wrap="square" anchor="t" lIns="0" rIns="0" tIns="18288" bIns="18288">
            <a:spAutoFit/>
          </a:bodyPr>
          <a:lstStyle/>
          <a:p>
            <a:pPr algn="ctr"/>
            <a:r>
              <a:rPr sz="900" b="0" i="0">
                <a:solidFill>
                  <a:srgbClr val="595959"/>
                </a:solidFill>
                <a:latin typeface="Arial"/>
              </a:rPr>
              <a:t>DTR → GPIO 0</a:t>
            </a:r>
          </a:p>
        </p:txBody>
      </p:sp>
      <p:cxnSp>
        <p:nvCxnSpPr>
          <p:cNvPr id="10" name="Connector 9"/>
          <p:cNvCxnSpPr/>
          <p:nvPr/>
        </p:nvCxnSpPr>
        <p:spPr>
          <a:xfrm>
            <a:off x="2057400" y="2377440"/>
            <a:ext cx="1368436" cy="0"/>
          </a:xfrm>
          <a:prstGeom prst="line">
            <a:avLst/>
          </a:prstGeom>
          <a:ln w="12700">
            <a:solidFill>
              <a:srgbClr val="1A1A1A"/>
            </a:solidFill>
            <a:tailEnd type="triangle" w="med" len="med"/>
          </a:ln>
        </p:spPr>
      </p:cxnSp>
      <p:sp>
        <p:nvSpPr>
          <p:cNvPr id="11" name="TextBox 10"/>
          <p:cNvSpPr txBox="1"/>
          <p:nvPr/>
        </p:nvSpPr>
        <p:spPr>
          <a:xfrm>
            <a:off x="2103120" y="2157984"/>
            <a:ext cx="1463040" cy="182880"/>
          </a:xfrm>
          <a:prstGeom prst="rect">
            <a:avLst/>
          </a:prstGeom>
          <a:noFill/>
        </p:spPr>
        <p:txBody>
          <a:bodyPr wrap="square" anchor="t" lIns="0" rIns="0" tIns="18288" bIns="18288">
            <a:spAutoFit/>
          </a:bodyPr>
          <a:lstStyle/>
          <a:p>
            <a:pPr algn="ctr"/>
            <a:r>
              <a:rPr sz="900" b="0" i="0">
                <a:solidFill>
                  <a:srgbClr val="595959"/>
                </a:solidFill>
                <a:latin typeface="Arial"/>
              </a:rPr>
              <a:t>RTS → EN</a:t>
            </a:r>
          </a:p>
        </p:txBody>
      </p:sp>
      <p:sp>
        <p:nvSpPr>
          <p:cNvPr id="12" name="TextBox 11"/>
          <p:cNvSpPr txBox="1"/>
          <p:nvPr/>
        </p:nvSpPr>
        <p:spPr>
          <a:xfrm>
            <a:off x="685800" y="2743200"/>
            <a:ext cx="4111636" cy="548640"/>
          </a:xfrm>
          <a:prstGeom prst="rect">
            <a:avLst/>
          </a:prstGeom>
          <a:noFill/>
        </p:spPr>
        <p:txBody>
          <a:bodyPr wrap="square" anchor="t" lIns="0" rIns="0" tIns="18288" bIns="18288">
            <a:spAutoFit/>
          </a:bodyPr>
          <a:lstStyle/>
          <a:p>
            <a:pPr algn="l"/>
            <a:r>
              <a:rPr sz="1000" b="0" i="0">
                <a:solidFill>
                  <a:srgbClr val="595959"/>
                </a:solidFill>
                <a:latin typeface="Arial"/>
              </a:rPr>
              <a:t>Two transistors and a capacitor on EN (the RST button) make the sequence work; the BOOT button just shorts GPIO 0 to ground by hand.</a:t>
            </a:r>
          </a:p>
        </p:txBody>
      </p:sp>
      <p:sp>
        <p:nvSpPr>
          <p:cNvPr id="13" name="TextBox 12"/>
          <p:cNvSpPr txBox="1"/>
          <p:nvPr/>
        </p:nvSpPr>
        <p:spPr>
          <a:xfrm>
            <a:off x="5254636" y="1673352"/>
            <a:ext cx="640080" cy="228600"/>
          </a:xfrm>
          <a:prstGeom prst="rect">
            <a:avLst/>
          </a:prstGeom>
          <a:noFill/>
        </p:spPr>
        <p:txBody>
          <a:bodyPr wrap="square" anchor="t" lIns="0" rIns="0" tIns="18288" bIns="18288">
            <a:spAutoFit/>
          </a:bodyPr>
          <a:lstStyle/>
          <a:p>
            <a:pPr algn="l"/>
            <a:r>
              <a:rPr sz="1000" b="1" i="0">
                <a:solidFill>
                  <a:srgbClr val="1A1A1A"/>
                </a:solidFill>
                <a:latin typeface="Arial"/>
              </a:rPr>
              <a:t>EN</a:t>
            </a:r>
          </a:p>
        </p:txBody>
      </p:sp>
      <p:sp>
        <p:nvSpPr>
          <p:cNvPr id="14" name="TextBox 13"/>
          <p:cNvSpPr txBox="1"/>
          <p:nvPr/>
        </p:nvSpPr>
        <p:spPr>
          <a:xfrm>
            <a:off x="5254636" y="2404872"/>
            <a:ext cx="640080" cy="228600"/>
          </a:xfrm>
          <a:prstGeom prst="rect">
            <a:avLst/>
          </a:prstGeom>
          <a:noFill/>
        </p:spPr>
        <p:txBody>
          <a:bodyPr wrap="square" anchor="t" lIns="0" rIns="0" tIns="18288" bIns="18288">
            <a:spAutoFit/>
          </a:bodyPr>
          <a:lstStyle/>
          <a:p>
            <a:pPr algn="l"/>
            <a:r>
              <a:rPr sz="1000" b="1" i="0">
                <a:solidFill>
                  <a:srgbClr val="1A1A1A"/>
                </a:solidFill>
                <a:latin typeface="Arial"/>
              </a:rPr>
              <a:t>GPIO 0</a:t>
            </a:r>
          </a:p>
        </p:txBody>
      </p:sp>
      <p:cxnSp>
        <p:nvCxnSpPr>
          <p:cNvPr id="15" name="Connector 14"/>
          <p:cNvCxnSpPr/>
          <p:nvPr/>
        </p:nvCxnSpPr>
        <p:spPr>
          <a:xfrm>
            <a:off x="5986156" y="1600200"/>
            <a:ext cx="1103947" cy="0"/>
          </a:xfrm>
          <a:prstGeom prst="line">
            <a:avLst/>
          </a:prstGeom>
          <a:ln w="15875">
            <a:solidFill>
              <a:srgbClr val="1A1A1A"/>
            </a:solidFill>
          </a:ln>
        </p:spPr>
      </p:cxnSp>
      <p:cxnSp>
        <p:nvCxnSpPr>
          <p:cNvPr id="16" name="Connector 15"/>
          <p:cNvCxnSpPr/>
          <p:nvPr/>
        </p:nvCxnSpPr>
        <p:spPr>
          <a:xfrm>
            <a:off x="7090103" y="1600200"/>
            <a:ext cx="0" cy="365760"/>
          </a:xfrm>
          <a:prstGeom prst="line">
            <a:avLst/>
          </a:prstGeom>
          <a:ln w="15875">
            <a:solidFill>
              <a:srgbClr val="1A1A1A"/>
            </a:solidFill>
          </a:ln>
        </p:spPr>
      </p:cxnSp>
      <p:cxnSp>
        <p:nvCxnSpPr>
          <p:cNvPr id="17" name="Connector 16"/>
          <p:cNvCxnSpPr/>
          <p:nvPr/>
        </p:nvCxnSpPr>
        <p:spPr>
          <a:xfrm>
            <a:off x="7090103" y="1965960"/>
            <a:ext cx="1103948" cy="0"/>
          </a:xfrm>
          <a:prstGeom prst="line">
            <a:avLst/>
          </a:prstGeom>
          <a:ln w="15875">
            <a:solidFill>
              <a:srgbClr val="1A1A1A"/>
            </a:solidFill>
          </a:ln>
        </p:spPr>
      </p:cxnSp>
      <p:cxnSp>
        <p:nvCxnSpPr>
          <p:cNvPr id="18" name="Connector 17"/>
          <p:cNvCxnSpPr/>
          <p:nvPr/>
        </p:nvCxnSpPr>
        <p:spPr>
          <a:xfrm>
            <a:off x="8194051" y="1965960"/>
            <a:ext cx="1103948" cy="0"/>
          </a:xfrm>
          <a:prstGeom prst="line">
            <a:avLst/>
          </a:prstGeom>
          <a:ln w="15875">
            <a:solidFill>
              <a:srgbClr val="1A1A1A"/>
            </a:solidFill>
          </a:ln>
        </p:spPr>
      </p:cxnSp>
      <p:cxnSp>
        <p:nvCxnSpPr>
          <p:cNvPr id="19" name="Connector 18"/>
          <p:cNvCxnSpPr/>
          <p:nvPr/>
        </p:nvCxnSpPr>
        <p:spPr>
          <a:xfrm flipV="1">
            <a:off x="9297999" y="1600200"/>
            <a:ext cx="0" cy="365760"/>
          </a:xfrm>
          <a:prstGeom prst="line">
            <a:avLst/>
          </a:prstGeom>
          <a:ln w="15875">
            <a:solidFill>
              <a:srgbClr val="1A1A1A"/>
            </a:solidFill>
          </a:ln>
        </p:spPr>
      </p:cxnSp>
      <p:cxnSp>
        <p:nvCxnSpPr>
          <p:cNvPr id="20" name="Connector 19"/>
          <p:cNvCxnSpPr/>
          <p:nvPr/>
        </p:nvCxnSpPr>
        <p:spPr>
          <a:xfrm>
            <a:off x="9297999" y="1600200"/>
            <a:ext cx="1103948" cy="0"/>
          </a:xfrm>
          <a:prstGeom prst="line">
            <a:avLst/>
          </a:prstGeom>
          <a:ln w="15875">
            <a:solidFill>
              <a:srgbClr val="1A1A1A"/>
            </a:solidFill>
          </a:ln>
        </p:spPr>
      </p:cxnSp>
      <p:cxnSp>
        <p:nvCxnSpPr>
          <p:cNvPr id="21" name="Connector 20"/>
          <p:cNvCxnSpPr/>
          <p:nvPr/>
        </p:nvCxnSpPr>
        <p:spPr>
          <a:xfrm>
            <a:off x="10401947" y="1600200"/>
            <a:ext cx="1103948" cy="0"/>
          </a:xfrm>
          <a:prstGeom prst="line">
            <a:avLst/>
          </a:prstGeom>
          <a:ln w="15875">
            <a:solidFill>
              <a:srgbClr val="1A1A1A"/>
            </a:solidFill>
          </a:ln>
        </p:spPr>
      </p:cxnSp>
      <p:cxnSp>
        <p:nvCxnSpPr>
          <p:cNvPr id="22" name="Connector 21"/>
          <p:cNvCxnSpPr/>
          <p:nvPr/>
        </p:nvCxnSpPr>
        <p:spPr>
          <a:xfrm>
            <a:off x="5986156" y="2331720"/>
            <a:ext cx="1103947" cy="0"/>
          </a:xfrm>
          <a:prstGeom prst="line">
            <a:avLst/>
          </a:prstGeom>
          <a:ln w="15875">
            <a:solidFill>
              <a:srgbClr val="1A1A1A"/>
            </a:solidFill>
          </a:ln>
        </p:spPr>
      </p:cxnSp>
      <p:cxnSp>
        <p:nvCxnSpPr>
          <p:cNvPr id="23" name="Connector 22"/>
          <p:cNvCxnSpPr/>
          <p:nvPr/>
        </p:nvCxnSpPr>
        <p:spPr>
          <a:xfrm>
            <a:off x="7090103" y="2331720"/>
            <a:ext cx="1103948" cy="0"/>
          </a:xfrm>
          <a:prstGeom prst="line">
            <a:avLst/>
          </a:prstGeom>
          <a:ln w="15875">
            <a:solidFill>
              <a:srgbClr val="1A1A1A"/>
            </a:solidFill>
          </a:ln>
        </p:spPr>
      </p:cxnSp>
      <p:cxnSp>
        <p:nvCxnSpPr>
          <p:cNvPr id="24" name="Connector 23"/>
          <p:cNvCxnSpPr/>
          <p:nvPr/>
        </p:nvCxnSpPr>
        <p:spPr>
          <a:xfrm>
            <a:off x="8194051" y="2331720"/>
            <a:ext cx="0" cy="365760"/>
          </a:xfrm>
          <a:prstGeom prst="line">
            <a:avLst/>
          </a:prstGeom>
          <a:ln w="15875">
            <a:solidFill>
              <a:srgbClr val="1A1A1A"/>
            </a:solidFill>
          </a:ln>
        </p:spPr>
      </p:cxnSp>
      <p:cxnSp>
        <p:nvCxnSpPr>
          <p:cNvPr id="25" name="Connector 24"/>
          <p:cNvCxnSpPr/>
          <p:nvPr/>
        </p:nvCxnSpPr>
        <p:spPr>
          <a:xfrm>
            <a:off x="8194051" y="2697480"/>
            <a:ext cx="1103948" cy="0"/>
          </a:xfrm>
          <a:prstGeom prst="line">
            <a:avLst/>
          </a:prstGeom>
          <a:ln w="15875">
            <a:solidFill>
              <a:srgbClr val="1A1A1A"/>
            </a:solidFill>
          </a:ln>
        </p:spPr>
      </p:cxnSp>
      <p:cxnSp>
        <p:nvCxnSpPr>
          <p:cNvPr id="26" name="Connector 25"/>
          <p:cNvCxnSpPr/>
          <p:nvPr/>
        </p:nvCxnSpPr>
        <p:spPr>
          <a:xfrm>
            <a:off x="9297999" y="2697480"/>
            <a:ext cx="1103948" cy="0"/>
          </a:xfrm>
          <a:prstGeom prst="line">
            <a:avLst/>
          </a:prstGeom>
          <a:ln w="15875">
            <a:solidFill>
              <a:srgbClr val="1A1A1A"/>
            </a:solidFill>
          </a:ln>
        </p:spPr>
      </p:cxnSp>
      <p:cxnSp>
        <p:nvCxnSpPr>
          <p:cNvPr id="27" name="Connector 26"/>
          <p:cNvCxnSpPr/>
          <p:nvPr/>
        </p:nvCxnSpPr>
        <p:spPr>
          <a:xfrm flipV="1">
            <a:off x="10401947" y="2331720"/>
            <a:ext cx="0" cy="365760"/>
          </a:xfrm>
          <a:prstGeom prst="line">
            <a:avLst/>
          </a:prstGeom>
          <a:ln w="15875">
            <a:solidFill>
              <a:srgbClr val="1A1A1A"/>
            </a:solidFill>
          </a:ln>
        </p:spPr>
      </p:cxnSp>
      <p:cxnSp>
        <p:nvCxnSpPr>
          <p:cNvPr id="28" name="Connector 27"/>
          <p:cNvCxnSpPr/>
          <p:nvPr/>
        </p:nvCxnSpPr>
        <p:spPr>
          <a:xfrm>
            <a:off x="10401947" y="2331720"/>
            <a:ext cx="1103948" cy="0"/>
          </a:xfrm>
          <a:prstGeom prst="line">
            <a:avLst/>
          </a:prstGeom>
          <a:ln w="15875">
            <a:solidFill>
              <a:srgbClr val="1A1A1A"/>
            </a:solidFill>
          </a:ln>
        </p:spPr>
      </p:cxnSp>
      <p:sp>
        <p:nvSpPr>
          <p:cNvPr id="29" name="TextBox 28"/>
          <p:cNvSpPr txBox="1"/>
          <p:nvPr/>
        </p:nvSpPr>
        <p:spPr>
          <a:xfrm>
            <a:off x="5986156" y="2880360"/>
            <a:ext cx="1058227" cy="548640"/>
          </a:xfrm>
          <a:prstGeom prst="rect">
            <a:avLst/>
          </a:prstGeom>
          <a:noFill/>
        </p:spPr>
        <p:txBody>
          <a:bodyPr wrap="square" anchor="t" lIns="0" rIns="0" tIns="18288" bIns="18288">
            <a:spAutoFit/>
          </a:bodyPr>
          <a:lstStyle/>
          <a:p>
            <a:pPr algn="l"/>
            <a:r>
              <a:rPr sz="800" b="0" i="0">
                <a:solidFill>
                  <a:srgbClr val="595959"/>
                </a:solidFill>
                <a:latin typeface="Arial"/>
              </a:rPr>
              <a:t>idle</a:t>
            </a:r>
          </a:p>
        </p:txBody>
      </p:sp>
      <p:sp>
        <p:nvSpPr>
          <p:cNvPr id="30" name="TextBox 29"/>
          <p:cNvSpPr txBox="1"/>
          <p:nvPr/>
        </p:nvSpPr>
        <p:spPr>
          <a:xfrm>
            <a:off x="7090103" y="2880360"/>
            <a:ext cx="1058227" cy="548640"/>
          </a:xfrm>
          <a:prstGeom prst="rect">
            <a:avLst/>
          </a:prstGeom>
          <a:noFill/>
        </p:spPr>
        <p:txBody>
          <a:bodyPr wrap="square" anchor="t" lIns="0" rIns="0" tIns="18288" bIns="18288">
            <a:spAutoFit/>
          </a:bodyPr>
          <a:lstStyle/>
          <a:p>
            <a:pPr algn="l"/>
            <a:r>
              <a:rPr sz="800" b="0" i="0">
                <a:solidFill>
                  <a:srgbClr val="595959"/>
                </a:solidFill>
                <a:latin typeface="Arial"/>
              </a:rPr>
              <a:t>EN low: chip in reset</a:t>
            </a:r>
          </a:p>
        </p:txBody>
      </p:sp>
      <p:sp>
        <p:nvSpPr>
          <p:cNvPr id="31" name="TextBox 30"/>
          <p:cNvSpPr txBox="1"/>
          <p:nvPr/>
        </p:nvSpPr>
        <p:spPr>
          <a:xfrm>
            <a:off x="8194051" y="2880360"/>
            <a:ext cx="1058227" cy="548640"/>
          </a:xfrm>
          <a:prstGeom prst="rect">
            <a:avLst/>
          </a:prstGeom>
          <a:noFill/>
        </p:spPr>
        <p:txBody>
          <a:bodyPr wrap="square" anchor="t" lIns="0" rIns="0" tIns="18288" bIns="18288">
            <a:spAutoFit/>
          </a:bodyPr>
          <a:lstStyle/>
          <a:p>
            <a:pPr algn="l"/>
            <a:r>
              <a:rPr sz="800" b="0" i="0">
                <a:solidFill>
                  <a:srgbClr val="595959"/>
                </a:solidFill>
                <a:latin typeface="Arial"/>
              </a:rPr>
              <a:t>GPIO 0 low</a:t>
            </a:r>
          </a:p>
        </p:txBody>
      </p:sp>
      <p:sp>
        <p:nvSpPr>
          <p:cNvPr id="32" name="TextBox 31"/>
          <p:cNvSpPr txBox="1"/>
          <p:nvPr/>
        </p:nvSpPr>
        <p:spPr>
          <a:xfrm>
            <a:off x="9297999" y="2880360"/>
            <a:ext cx="1058227" cy="548640"/>
          </a:xfrm>
          <a:prstGeom prst="rect">
            <a:avLst/>
          </a:prstGeom>
          <a:noFill/>
        </p:spPr>
        <p:txBody>
          <a:bodyPr wrap="square" anchor="t" lIns="0" rIns="0" tIns="18288" bIns="18288">
            <a:spAutoFit/>
          </a:bodyPr>
          <a:lstStyle/>
          <a:p>
            <a:pPr algn="l"/>
            <a:r>
              <a:rPr sz="800" b="0" i="0">
                <a:solidFill>
                  <a:srgbClr val="595959"/>
                </a:solidFill>
                <a:latin typeface="Arial"/>
              </a:rPr>
              <a:t>EN high: chip boots, samples GPIO 0 = low → download mode</a:t>
            </a:r>
          </a:p>
        </p:txBody>
      </p:sp>
      <p:sp>
        <p:nvSpPr>
          <p:cNvPr id="33" name="TextBox 32"/>
          <p:cNvSpPr txBox="1"/>
          <p:nvPr/>
        </p:nvSpPr>
        <p:spPr>
          <a:xfrm>
            <a:off x="10401947" y="2880360"/>
            <a:ext cx="1058227" cy="548640"/>
          </a:xfrm>
          <a:prstGeom prst="rect">
            <a:avLst/>
          </a:prstGeom>
          <a:noFill/>
        </p:spPr>
        <p:txBody>
          <a:bodyPr wrap="square" anchor="t" lIns="0" rIns="0" tIns="18288" bIns="18288">
            <a:spAutoFit/>
          </a:bodyPr>
          <a:lstStyle/>
          <a:p>
            <a:pPr algn="l"/>
            <a:r>
              <a:rPr sz="800" b="0" i="0">
                <a:solidFill>
                  <a:srgbClr val="595959"/>
                </a:solidFill>
                <a:latin typeface="Arial"/>
              </a:rPr>
              <a:t>release</a:t>
            </a:r>
          </a:p>
        </p:txBody>
      </p:sp>
      <p:sp>
        <p:nvSpPr>
          <p:cNvPr id="34" name="TextBox 33"/>
          <p:cNvSpPr txBox="1"/>
          <p:nvPr/>
        </p:nvSpPr>
        <p:spPr>
          <a:xfrm>
            <a:off x="685800" y="3703320"/>
            <a:ext cx="10820095" cy="2248408"/>
          </a:xfrm>
          <a:prstGeom prst="rect">
            <a:avLst/>
          </a:prstGeom>
          <a:noFill/>
        </p:spPr>
        <p:txBody>
          <a:bodyPr wrap="square" anchor="t" lIns="0" rIns="0" tIns="18288" bIns="18288">
            <a:spAutoFit/>
          </a:bodyPr>
          <a:lstStyle/>
          <a:p>
            <a:pPr>
              <a:spcAft>
                <a:spcPts val="500"/>
              </a:spcAft>
            </a:pPr>
            <a:r>
              <a:rPr sz="1700" b="0" i="0">
                <a:solidFill>
                  <a:srgbClr val="595959"/>
                </a:solidFill>
                <a:latin typeface="Arial"/>
              </a:rPr>
              <a:t>–  </a:t>
            </a:r>
            <a:r>
              <a:rPr sz="1700" b="0" i="0">
                <a:solidFill>
                  <a:srgbClr val="1A1A1A"/>
                </a:solidFill>
                <a:latin typeface="Arial"/>
              </a:rPr>
              <a:t>At every reset the chip samples </a:t>
            </a:r>
            <a:r>
              <a:rPr sz="1700" b="1" i="0">
                <a:solidFill>
                  <a:srgbClr val="1A1A1A"/>
                </a:solidFill>
                <a:latin typeface="Arial"/>
              </a:rPr>
              <a:t>GPIO 0</a:t>
            </a:r>
            <a:r>
              <a:rPr sz="1700" b="0" i="0">
                <a:solidFill>
                  <a:srgbClr val="1A1A1A"/>
                </a:solidFill>
                <a:latin typeface="Arial"/>
              </a:rPr>
              <a:t>. High → run the program in flash. Low → wait for esptool on the serial port (download mode).</a:t>
            </a:r>
          </a:p>
          <a:p>
            <a:pPr>
              <a:spcAft>
                <a:spcPts val="500"/>
              </a:spcAft>
            </a:pPr>
            <a:r>
              <a:rPr sz="1700" b="0" i="0">
                <a:solidFill>
                  <a:srgbClr val="595959"/>
                </a:solidFill>
                <a:latin typeface="Arial"/>
              </a:rPr>
              <a:t>–  </a:t>
            </a:r>
            <a:r>
              <a:rPr sz="1700" b="0" i="0">
                <a:solidFill>
                  <a:srgbClr val="1A1A1A"/>
                </a:solidFill>
                <a:latin typeface="Arial"/>
              </a:rPr>
              <a:t>The CP2102N's flow-control lines are wired so esptool can do this itself: DTR pulls GPIO 0 low, RTS pulses RST (EN). That is the automatic reset you normally never notice. On the other connector the chip's own USB-Serial/JTAG block does the same job with USB commands.</a:t>
            </a:r>
          </a:p>
          <a:p>
            <a:pPr>
              <a:spcAft>
                <a:spcPts val="500"/>
              </a:spcAft>
            </a:pPr>
            <a:r>
              <a:rPr sz="1700" b="0" i="0">
                <a:solidFill>
                  <a:srgbClr val="595959"/>
                </a:solidFill>
                <a:latin typeface="Arial"/>
              </a:rPr>
              <a:t>–  </a:t>
            </a:r>
            <a:r>
              <a:rPr sz="1700" b="0" i="0">
                <a:solidFill>
                  <a:srgbClr val="1A1A1A"/>
                </a:solidFill>
                <a:latin typeface="Arial"/>
              </a:rPr>
              <a:t>When it fails you see </a:t>
            </a:r>
            <a:r>
              <a:rPr sz="1614" b="0" i="0">
                <a:solidFill>
                  <a:srgbClr val="1A1A1A"/>
                </a:solidFill>
                <a:latin typeface="Courier New"/>
              </a:rPr>
              <a:t>Connecting........_____....</a:t>
            </a:r>
            <a:r>
              <a:rPr sz="1700" b="0" i="0">
                <a:solidFill>
                  <a:srgbClr val="1A1A1A"/>
                </a:solidFill>
                <a:latin typeface="Arial"/>
              </a:rPr>
              <a:t> and then </a:t>
            </a:r>
            <a:r>
              <a:rPr sz="1614" b="0" i="0">
                <a:solidFill>
                  <a:srgbClr val="1A1A1A"/>
                </a:solidFill>
                <a:latin typeface="Courier New"/>
              </a:rPr>
              <a:t>Failed to connect to ESP32-S3: Wrong boot mode detected</a:t>
            </a:r>
            <a:r>
              <a:rPr sz="1700" b="0" i="0">
                <a:solidFill>
                  <a:srgbClr val="1A1A1A"/>
                </a:solidFill>
                <a:latin typeface="Arial"/>
              </a:rPr>
              <a:t>. Hold BOOT (you are now the pull-down on GPIO 0) until </a:t>
            </a:r>
            <a:r>
              <a:rPr sz="1614" b="0" i="0">
                <a:solidFill>
                  <a:srgbClr val="1A1A1A"/>
                </a:solidFill>
                <a:latin typeface="Courier New"/>
              </a:rPr>
              <a:t>Writing at 0x00010000...</a:t>
            </a:r>
            <a:r>
              <a:rPr sz="1700" b="0" i="0">
                <a:solidFill>
                  <a:srgbClr val="1A1A1A"/>
                </a:solidFill>
                <a:latin typeface="Arial"/>
              </a:rPr>
              <a:t> appears. Some boards need it every time; that is a timing quirk of their reset circuit, not a fault.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0"/>
            <a:ext cx="7315200" cy="274320"/>
          </a:xfrm>
          <a:prstGeom prst="rect">
            <a:avLst/>
          </a:prstGeom>
          <a:noFill/>
        </p:spPr>
        <p:txBody>
          <a:bodyPr wrap="square" anchor="t" lIns="0" rIns="0" tIns="18288" bIns="18288">
            <a:spAutoFit/>
          </a:bodyPr>
          <a:lstStyle/>
          <a:p>
            <a:pPr algn="l"/>
            <a:r>
              <a:rPr sz="1000" b="0" i="0">
                <a:solidFill>
                  <a:srgbClr val="595959"/>
                </a:solidFill>
                <a:latin typeface="Arial"/>
              </a:rPr>
              <a:t>HackHardware · Getting started with the ESP32</a:t>
            </a:r>
          </a:p>
        </p:txBody>
      </p:sp>
      <p:sp>
        <p:nvSpPr>
          <p:cNvPr id="3" name="TextBox 2"/>
          <p:cNvSpPr txBox="1"/>
          <p:nvPr/>
        </p:nvSpPr>
        <p:spPr>
          <a:xfrm>
            <a:off x="10134295" y="6400800"/>
            <a:ext cx="1371600" cy="274320"/>
          </a:xfrm>
          <a:prstGeom prst="rect">
            <a:avLst/>
          </a:prstGeom>
          <a:noFill/>
        </p:spPr>
        <p:txBody>
          <a:bodyPr wrap="square" anchor="t" lIns="0" rIns="0" tIns="18288" bIns="18288">
            <a:spAutoFit/>
          </a:bodyPr>
          <a:lstStyle/>
          <a:p>
            <a:pPr algn="r"/>
            <a:r>
              <a:rPr sz="1000" b="0" i="0">
                <a:solidFill>
                  <a:srgbClr val="595959"/>
                </a:solidFill>
                <a:latin typeface="Arial"/>
              </a:rPr>
              <a:t>12</a:t>
            </a:r>
          </a:p>
        </p:txBody>
      </p:sp>
      <p:sp>
        <p:nvSpPr>
          <p:cNvPr id="4" name="TextBox 3"/>
          <p:cNvSpPr txBox="1"/>
          <p:nvPr/>
        </p:nvSpPr>
        <p:spPr>
          <a:xfrm>
            <a:off x="685800" y="457200"/>
            <a:ext cx="10820095" cy="822960"/>
          </a:xfrm>
          <a:prstGeom prst="rect">
            <a:avLst/>
          </a:prstGeom>
          <a:noFill/>
        </p:spPr>
        <p:txBody>
          <a:bodyPr wrap="square" anchor="b" lIns="0" rIns="0" tIns="18288" bIns="18288">
            <a:spAutoFit/>
          </a:bodyPr>
          <a:lstStyle/>
          <a:p>
            <a:pPr algn="l"/>
            <a:r>
              <a:rPr sz="3000" b="1" i="0">
                <a:solidFill>
                  <a:srgbClr val="1A1A1A"/>
                </a:solidFill>
                <a:latin typeface="Arial"/>
              </a:rPr>
              <a:t>What is running underneath your sketch</a:t>
            </a:r>
          </a:p>
        </p:txBody>
      </p:sp>
      <p:cxnSp>
        <p:nvCxnSpPr>
          <p:cNvPr id="5" name="Connector 4"/>
          <p:cNvCxnSpPr/>
          <p:nvPr/>
        </p:nvCxnSpPr>
        <p:spPr>
          <a:xfrm>
            <a:off x="685800" y="1298448"/>
            <a:ext cx="10820095" cy="0"/>
          </a:xfrm>
          <a:prstGeom prst="line">
            <a:avLst/>
          </a:prstGeom>
          <a:ln w="9525">
            <a:solidFill>
              <a:srgbClr val="BFBFBF"/>
            </a:solidFill>
          </a:ln>
        </p:spPr>
      </p:cxnSp>
      <p:sp>
        <p:nvSpPr>
          <p:cNvPr id="6" name="Rectangle 5"/>
          <p:cNvSpPr/>
          <p:nvPr/>
        </p:nvSpPr>
        <p:spPr>
          <a:xfrm>
            <a:off x="685800" y="1463040"/>
            <a:ext cx="5181447" cy="1965960"/>
          </a:xfrm>
          <a:prstGeom prst="rect">
            <a:avLst/>
          </a:prstGeom>
          <a:noFill/>
          <a:ln w="12700">
            <a:solidFill>
              <a:srgbClr val="1A1A1A"/>
            </a:solidFill>
          </a:ln>
          <a:effectLst/>
        </p:spPr>
        <p:txBody>
          <a:bodyPr rtlCol="0" anchor="ctr"/>
          <a:lstStyle/>
          <a:p>
            <a:pPr algn="ctr"/>
          </a:p>
        </p:txBody>
      </p:sp>
      <p:sp>
        <p:nvSpPr>
          <p:cNvPr id="7" name="TextBox 6"/>
          <p:cNvSpPr txBox="1"/>
          <p:nvPr/>
        </p:nvSpPr>
        <p:spPr>
          <a:xfrm>
            <a:off x="822960" y="1536192"/>
            <a:ext cx="5181447" cy="274320"/>
          </a:xfrm>
          <a:prstGeom prst="rect">
            <a:avLst/>
          </a:prstGeom>
          <a:noFill/>
        </p:spPr>
        <p:txBody>
          <a:bodyPr wrap="square" anchor="t" lIns="0" rIns="0" tIns="18288" bIns="18288">
            <a:spAutoFit/>
          </a:bodyPr>
          <a:lstStyle/>
          <a:p>
            <a:pPr algn="l"/>
            <a:r>
              <a:rPr sz="1200" b="1" i="0">
                <a:solidFill>
                  <a:srgbClr val="1A1A1A"/>
                </a:solidFill>
                <a:latin typeface="Arial"/>
              </a:rPr>
              <a:t>Core 0  (PRO_CPU)</a:t>
            </a:r>
          </a:p>
        </p:txBody>
      </p:sp>
      <p:sp>
        <p:nvSpPr>
          <p:cNvPr id="8" name="Rectangle 7"/>
          <p:cNvSpPr/>
          <p:nvPr/>
        </p:nvSpPr>
        <p:spPr>
          <a:xfrm>
            <a:off x="822960" y="1874520"/>
            <a:ext cx="4907127" cy="310896"/>
          </a:xfrm>
          <a:prstGeom prst="rect">
            <a:avLst/>
          </a:prstGeom>
          <a:solidFill>
            <a:srgbClr val="F2F2F2"/>
          </a:solidFill>
          <a:ln>
            <a:noFill/>
          </a:ln>
          <a:effectLst/>
        </p:spPr>
        <p:txBody>
          <a:bodyPr rtlCol="0" anchor="ctr" wrap="square" lIns="45720" rIns="45720" tIns="18288" bIns="18288"/>
          <a:lstStyle/>
          <a:p>
            <a:pPr algn="l"/>
            <a:r>
              <a:rPr sz="1000" b="0" i="0">
                <a:solidFill>
                  <a:srgbClr val="1A1A1A"/>
                </a:solidFill>
                <a:latin typeface="Arial"/>
              </a:rPr>
              <a:t>Wi-Fi driver task</a:t>
            </a:r>
          </a:p>
        </p:txBody>
      </p:sp>
      <p:sp>
        <p:nvSpPr>
          <p:cNvPr id="9" name="Rectangle 8"/>
          <p:cNvSpPr/>
          <p:nvPr/>
        </p:nvSpPr>
        <p:spPr>
          <a:xfrm>
            <a:off x="822960" y="2258568"/>
            <a:ext cx="4907127" cy="310896"/>
          </a:xfrm>
          <a:prstGeom prst="rect">
            <a:avLst/>
          </a:prstGeom>
          <a:solidFill>
            <a:srgbClr val="F2F2F2"/>
          </a:solidFill>
          <a:ln>
            <a:noFill/>
          </a:ln>
          <a:effectLst/>
        </p:spPr>
        <p:txBody>
          <a:bodyPr rtlCol="0" anchor="ctr" wrap="square" lIns="45720" rIns="45720" tIns="18288" bIns="18288"/>
          <a:lstStyle/>
          <a:p>
            <a:pPr algn="l"/>
            <a:r>
              <a:rPr sz="1000" b="0" i="0">
                <a:solidFill>
                  <a:srgbClr val="1A1A1A"/>
                </a:solidFill>
                <a:latin typeface="Arial"/>
              </a:rPr>
              <a:t>TCP/IP stack (lwIP)</a:t>
            </a:r>
          </a:p>
        </p:txBody>
      </p:sp>
      <p:sp>
        <p:nvSpPr>
          <p:cNvPr id="10" name="Rectangle 9"/>
          <p:cNvSpPr/>
          <p:nvPr/>
        </p:nvSpPr>
        <p:spPr>
          <a:xfrm>
            <a:off x="822960" y="2642616"/>
            <a:ext cx="4907127" cy="310896"/>
          </a:xfrm>
          <a:prstGeom prst="rect">
            <a:avLst/>
          </a:prstGeom>
          <a:solidFill>
            <a:srgbClr val="F2F2F2"/>
          </a:solidFill>
          <a:ln>
            <a:noFill/>
          </a:ln>
          <a:effectLst/>
        </p:spPr>
        <p:txBody>
          <a:bodyPr rtlCol="0" anchor="ctr" wrap="square" lIns="45720" rIns="45720" tIns="18288" bIns="18288"/>
          <a:lstStyle/>
          <a:p>
            <a:pPr algn="l"/>
            <a:r>
              <a:rPr sz="1000" b="0" i="0">
                <a:solidFill>
                  <a:srgbClr val="1A1A1A"/>
                </a:solidFill>
                <a:latin typeface="Arial"/>
              </a:rPr>
              <a:t>Bluetooth controller</a:t>
            </a:r>
          </a:p>
        </p:txBody>
      </p:sp>
      <p:sp>
        <p:nvSpPr>
          <p:cNvPr id="11" name="Rectangle 10"/>
          <p:cNvSpPr/>
          <p:nvPr/>
        </p:nvSpPr>
        <p:spPr>
          <a:xfrm>
            <a:off x="822960" y="3026664"/>
            <a:ext cx="4907127" cy="310896"/>
          </a:xfrm>
          <a:prstGeom prst="rect">
            <a:avLst/>
          </a:prstGeom>
          <a:solidFill>
            <a:srgbClr val="F2F2F2"/>
          </a:solidFill>
          <a:ln>
            <a:noFill/>
          </a:ln>
          <a:effectLst/>
        </p:spPr>
        <p:txBody>
          <a:bodyPr rtlCol="0" anchor="ctr" wrap="square" lIns="45720" rIns="45720" tIns="18288" bIns="18288"/>
          <a:lstStyle/>
          <a:p>
            <a:pPr algn="l"/>
            <a:r>
              <a:rPr sz="1000" b="0" i="0">
                <a:solidFill>
                  <a:srgbClr val="1A1A1A"/>
                </a:solidFill>
                <a:latin typeface="Arial"/>
              </a:rPr>
              <a:t>event loop, timers</a:t>
            </a:r>
          </a:p>
        </p:txBody>
      </p:sp>
      <p:sp>
        <p:nvSpPr>
          <p:cNvPr id="12" name="Rectangle 11"/>
          <p:cNvSpPr/>
          <p:nvPr/>
        </p:nvSpPr>
        <p:spPr>
          <a:xfrm>
            <a:off x="6324447" y="1463040"/>
            <a:ext cx="5181447" cy="1965960"/>
          </a:xfrm>
          <a:prstGeom prst="rect">
            <a:avLst/>
          </a:prstGeom>
          <a:noFill/>
          <a:ln w="12700">
            <a:solidFill>
              <a:srgbClr val="1A1A1A"/>
            </a:solidFill>
          </a:ln>
          <a:effectLst/>
        </p:spPr>
        <p:txBody>
          <a:bodyPr rtlCol="0" anchor="ctr"/>
          <a:lstStyle/>
          <a:p>
            <a:pPr algn="ctr"/>
          </a:p>
        </p:txBody>
      </p:sp>
      <p:sp>
        <p:nvSpPr>
          <p:cNvPr id="13" name="TextBox 12"/>
          <p:cNvSpPr txBox="1"/>
          <p:nvPr/>
        </p:nvSpPr>
        <p:spPr>
          <a:xfrm>
            <a:off x="6461607" y="1536192"/>
            <a:ext cx="5181447" cy="274320"/>
          </a:xfrm>
          <a:prstGeom prst="rect">
            <a:avLst/>
          </a:prstGeom>
          <a:noFill/>
        </p:spPr>
        <p:txBody>
          <a:bodyPr wrap="square" anchor="t" lIns="0" rIns="0" tIns="18288" bIns="18288">
            <a:spAutoFit/>
          </a:bodyPr>
          <a:lstStyle/>
          <a:p>
            <a:pPr algn="l"/>
            <a:r>
              <a:rPr sz="1200" b="1" i="0">
                <a:solidFill>
                  <a:srgbClr val="1A1A1A"/>
                </a:solidFill>
                <a:latin typeface="Arial"/>
              </a:rPr>
              <a:t>Core 1  (APP_CPU)</a:t>
            </a:r>
          </a:p>
        </p:txBody>
      </p:sp>
      <p:sp>
        <p:nvSpPr>
          <p:cNvPr id="14" name="Rectangle 13"/>
          <p:cNvSpPr/>
          <p:nvPr/>
        </p:nvSpPr>
        <p:spPr>
          <a:xfrm>
            <a:off x="6461607" y="1874520"/>
            <a:ext cx="4907127" cy="310896"/>
          </a:xfrm>
          <a:prstGeom prst="rect">
            <a:avLst/>
          </a:prstGeom>
          <a:solidFill>
            <a:srgbClr val="F2F2F2"/>
          </a:solidFill>
          <a:ln>
            <a:noFill/>
          </a:ln>
          <a:effectLst/>
        </p:spPr>
        <p:txBody>
          <a:bodyPr rtlCol="0" anchor="ctr" wrap="square" lIns="45720" rIns="45720" tIns="18288" bIns="18288"/>
          <a:lstStyle/>
          <a:p>
            <a:pPr algn="l"/>
            <a:r>
              <a:rPr sz="1000" b="0" i="0">
                <a:solidFill>
                  <a:srgbClr val="1A1A1A"/>
                </a:solidFill>
                <a:latin typeface="Arial"/>
              </a:rPr>
              <a:t>loopTask — priority 1, 8 KB stack</a:t>
            </a:r>
          </a:p>
        </p:txBody>
      </p:sp>
      <p:sp>
        <p:nvSpPr>
          <p:cNvPr id="15" name="Rectangle 14"/>
          <p:cNvSpPr/>
          <p:nvPr/>
        </p:nvSpPr>
        <p:spPr>
          <a:xfrm>
            <a:off x="6461607" y="2258568"/>
            <a:ext cx="4907127" cy="310896"/>
          </a:xfrm>
          <a:prstGeom prst="rect">
            <a:avLst/>
          </a:prstGeom>
          <a:solidFill>
            <a:srgbClr val="F2F2F2"/>
          </a:solidFill>
          <a:ln>
            <a:noFill/>
          </a:ln>
          <a:effectLst/>
        </p:spPr>
        <p:txBody>
          <a:bodyPr rtlCol="0" anchor="ctr" wrap="square" lIns="45720" rIns="45720" tIns="18288" bIns="18288"/>
          <a:lstStyle/>
          <a:p>
            <a:pPr algn="l"/>
            <a:r>
              <a:rPr sz="950" b="0" i="0">
                <a:solidFill>
                  <a:srgbClr val="1A1A1A"/>
                </a:solidFill>
                <a:latin typeface="Courier New"/>
              </a:rPr>
              <a:t>   setup()  once</a:t>
            </a:r>
          </a:p>
        </p:txBody>
      </p:sp>
      <p:sp>
        <p:nvSpPr>
          <p:cNvPr id="16" name="Rectangle 15"/>
          <p:cNvSpPr/>
          <p:nvPr/>
        </p:nvSpPr>
        <p:spPr>
          <a:xfrm>
            <a:off x="6461607" y="2642616"/>
            <a:ext cx="4907127" cy="310896"/>
          </a:xfrm>
          <a:prstGeom prst="rect">
            <a:avLst/>
          </a:prstGeom>
          <a:solidFill>
            <a:srgbClr val="F2F2F2"/>
          </a:solidFill>
          <a:ln>
            <a:noFill/>
          </a:ln>
          <a:effectLst/>
        </p:spPr>
        <p:txBody>
          <a:bodyPr rtlCol="0" anchor="ctr" wrap="square" lIns="45720" rIns="45720" tIns="18288" bIns="18288"/>
          <a:lstStyle/>
          <a:p>
            <a:pPr algn="l"/>
            <a:r>
              <a:rPr sz="950" b="0" i="0">
                <a:solidFill>
                  <a:srgbClr val="1A1A1A"/>
                </a:solidFill>
                <a:latin typeface="Courier New"/>
              </a:rPr>
              <a:t>   for(;;) loop();</a:t>
            </a:r>
          </a:p>
        </p:txBody>
      </p:sp>
      <p:sp>
        <p:nvSpPr>
          <p:cNvPr id="17" name="Rectangle 16"/>
          <p:cNvSpPr/>
          <p:nvPr/>
        </p:nvSpPr>
        <p:spPr>
          <a:xfrm>
            <a:off x="6461607" y="3026664"/>
            <a:ext cx="4907127" cy="310896"/>
          </a:xfrm>
          <a:prstGeom prst="rect">
            <a:avLst/>
          </a:prstGeom>
          <a:solidFill>
            <a:srgbClr val="F2F2F2"/>
          </a:solidFill>
          <a:ln>
            <a:noFill/>
          </a:ln>
          <a:effectLst/>
        </p:spPr>
        <p:txBody>
          <a:bodyPr rtlCol="0" anchor="ctr" wrap="square" lIns="45720" rIns="45720" tIns="18288" bIns="18288"/>
          <a:lstStyle/>
          <a:p>
            <a:pPr algn="l"/>
            <a:r>
              <a:rPr sz="1000" b="0" i="0">
                <a:solidFill>
                  <a:srgbClr val="1A1A1A"/>
                </a:solidFill>
                <a:latin typeface="Arial"/>
              </a:rPr>
              <a:t>your own tasks, if you create any</a:t>
            </a:r>
          </a:p>
        </p:txBody>
      </p:sp>
      <p:sp>
        <p:nvSpPr>
          <p:cNvPr id="18" name="Rectangle 17"/>
          <p:cNvSpPr/>
          <p:nvPr/>
        </p:nvSpPr>
        <p:spPr>
          <a:xfrm>
            <a:off x="685800" y="3520440"/>
            <a:ext cx="10820095" cy="365760"/>
          </a:xfrm>
          <a:prstGeom prst="rect">
            <a:avLst/>
          </a:prstGeom>
          <a:noFill/>
          <a:ln w="12700">
            <a:solidFill>
              <a:srgbClr val="1A1A1A"/>
            </a:solidFill>
          </a:ln>
          <a:effectLst/>
        </p:spPr>
        <p:txBody>
          <a:bodyPr rtlCol="0" anchor="ctr" wrap="square" lIns="45720" rIns="45720" tIns="18288" bIns="18288"/>
          <a:lstStyle/>
          <a:p>
            <a:pPr algn="ctr"/>
            <a:r>
              <a:rPr sz="1000" b="0" i="0">
                <a:solidFill>
                  <a:srgbClr val="1A1A1A"/>
                </a:solidFill>
                <a:latin typeface="Arial"/>
              </a:rPr>
              <a:t>shared 512 KB SRAM · FreeRTOS scheduler (1 ms tick) · task watchdog</a:t>
            </a:r>
          </a:p>
        </p:txBody>
      </p:sp>
      <p:sp>
        <p:nvSpPr>
          <p:cNvPr id="19" name="TextBox 18"/>
          <p:cNvSpPr txBox="1"/>
          <p:nvPr/>
        </p:nvSpPr>
        <p:spPr>
          <a:xfrm>
            <a:off x="685800" y="4069080"/>
            <a:ext cx="10820095" cy="1851281"/>
          </a:xfrm>
          <a:prstGeom prst="rect">
            <a:avLst/>
          </a:prstGeom>
          <a:noFill/>
        </p:spPr>
        <p:txBody>
          <a:bodyPr wrap="square" anchor="t" lIns="0" rIns="0" tIns="18288" bIns="18288">
            <a:spAutoFit/>
          </a:bodyPr>
          <a:lstStyle/>
          <a:p>
            <a:pPr>
              <a:spcAft>
                <a:spcPts val="500"/>
              </a:spcAft>
            </a:pPr>
            <a:r>
              <a:rPr sz="1322" b="0" i="0">
                <a:solidFill>
                  <a:srgbClr val="595959"/>
                </a:solidFill>
                <a:latin typeface="Arial"/>
              </a:rPr>
              <a:t>–  </a:t>
            </a:r>
            <a:r>
              <a:rPr sz="1322" b="0" i="0">
                <a:solidFill>
                  <a:srgbClr val="1A1A1A"/>
                </a:solidFill>
                <a:latin typeface="Arial"/>
              </a:rPr>
              <a:t>Arduino's </a:t>
            </a:r>
            <a:r>
              <a:rPr sz="1256" b="0" i="0">
                <a:solidFill>
                  <a:srgbClr val="1A1A1A"/>
                </a:solidFill>
                <a:latin typeface="Courier New"/>
              </a:rPr>
              <a:t>setup()</a:t>
            </a:r>
            <a:r>
              <a:rPr sz="1322" b="0" i="0">
                <a:solidFill>
                  <a:srgbClr val="1A1A1A"/>
                </a:solidFill>
                <a:latin typeface="Arial"/>
              </a:rPr>
              <a:t> and </a:t>
            </a:r>
            <a:r>
              <a:rPr sz="1256" b="0" i="0">
                <a:solidFill>
                  <a:srgbClr val="1A1A1A"/>
                </a:solidFill>
                <a:latin typeface="Courier New"/>
              </a:rPr>
              <a:t>loop()</a:t>
            </a:r>
            <a:r>
              <a:rPr sz="1322" b="0" i="0">
                <a:solidFill>
                  <a:srgbClr val="1A1A1A"/>
                </a:solidFill>
                <a:latin typeface="Arial"/>
              </a:rPr>
              <a:t> are one FreeRTOS task, </a:t>
            </a:r>
            <a:r>
              <a:rPr sz="1322" b="1" i="0">
                <a:solidFill>
                  <a:srgbClr val="1A1A1A"/>
                </a:solidFill>
                <a:latin typeface="Arial"/>
              </a:rPr>
              <a:t>loopTask</a:t>
            </a:r>
            <a:r>
              <a:rPr sz="1322" b="0" i="0">
                <a:solidFill>
                  <a:srgbClr val="1A1A1A"/>
                </a:solidFill>
                <a:latin typeface="Arial"/>
              </a:rPr>
              <a:t>, pinned to core 1 with an 8 KB stack. The Wi-Fi driver and TCP/IP stack run on core 0. That is why Wi-Fi keeps working while your </a:t>
            </a:r>
            <a:r>
              <a:rPr sz="1256" b="0" i="0">
                <a:solidFill>
                  <a:srgbClr val="1A1A1A"/>
                </a:solidFill>
                <a:latin typeface="Courier New"/>
              </a:rPr>
              <a:t>loop()</a:t>
            </a:r>
            <a:r>
              <a:rPr sz="1322" b="0" i="0">
                <a:solidFill>
                  <a:srgbClr val="1A1A1A"/>
                </a:solidFill>
                <a:latin typeface="Arial"/>
              </a:rPr>
              <a:t> is busy, and why a </a:t>
            </a:r>
            <a:r>
              <a:rPr sz="1256" b="0" i="0">
                <a:solidFill>
                  <a:srgbClr val="1A1A1A"/>
                </a:solidFill>
                <a:latin typeface="Courier New"/>
              </a:rPr>
              <a:t>delay()</a:t>
            </a:r>
            <a:r>
              <a:rPr sz="1322" b="0" i="0">
                <a:solidFill>
                  <a:srgbClr val="1A1A1A"/>
                </a:solidFill>
                <a:latin typeface="Arial"/>
              </a:rPr>
              <a:t> in </a:t>
            </a:r>
            <a:r>
              <a:rPr sz="1256" b="0" i="0">
                <a:solidFill>
                  <a:srgbClr val="1A1A1A"/>
                </a:solidFill>
                <a:latin typeface="Courier New"/>
              </a:rPr>
              <a:t>loop()</a:t>
            </a:r>
            <a:r>
              <a:rPr sz="1322" b="0" i="0">
                <a:solidFill>
                  <a:srgbClr val="1A1A1A"/>
                </a:solidFill>
                <a:latin typeface="Arial"/>
              </a:rPr>
              <a:t> does not drop the connection.</a:t>
            </a:r>
          </a:p>
          <a:p>
            <a:pPr>
              <a:spcAft>
                <a:spcPts val="500"/>
              </a:spcAft>
            </a:pPr>
            <a:r>
              <a:rPr sz="1322" b="0" i="0">
                <a:solidFill>
                  <a:srgbClr val="595959"/>
                </a:solidFill>
                <a:latin typeface="Arial"/>
              </a:rPr>
              <a:t>–  </a:t>
            </a:r>
            <a:r>
              <a:rPr sz="1256" b="0" i="0">
                <a:solidFill>
                  <a:srgbClr val="1A1A1A"/>
                </a:solidFill>
                <a:latin typeface="Courier New"/>
              </a:rPr>
              <a:t>delay(ms)</a:t>
            </a:r>
            <a:r>
              <a:rPr sz="1322" b="0" i="0">
                <a:solidFill>
                  <a:srgbClr val="1A1A1A"/>
                </a:solidFill>
                <a:latin typeface="Arial"/>
              </a:rPr>
              <a:t> calls </a:t>
            </a:r>
            <a:r>
              <a:rPr sz="1256" b="0" i="0">
                <a:solidFill>
                  <a:srgbClr val="1A1A1A"/>
                </a:solidFill>
                <a:latin typeface="Courier New"/>
              </a:rPr>
              <a:t>vTaskDelay</a:t>
            </a:r>
            <a:r>
              <a:rPr sz="1322" b="0" i="0">
                <a:solidFill>
                  <a:srgbClr val="1A1A1A"/>
                </a:solidFill>
                <a:latin typeface="Arial"/>
              </a:rPr>
              <a:t>: it yields the core; other tasks run. </a:t>
            </a:r>
            <a:r>
              <a:rPr sz="1256" b="0" i="0">
                <a:solidFill>
                  <a:srgbClr val="1A1A1A"/>
                </a:solidFill>
                <a:latin typeface="Courier New"/>
              </a:rPr>
              <a:t>millis()</a:t>
            </a:r>
            <a:r>
              <a:rPr sz="1322" b="0" i="0">
                <a:solidFill>
                  <a:srgbClr val="1A1A1A"/>
                </a:solidFill>
                <a:latin typeface="Arial"/>
              </a:rPr>
              <a:t> reads a 64-bit microsecond timer (</a:t>
            </a:r>
            <a:r>
              <a:rPr sz="1256" b="0" i="0">
                <a:solidFill>
                  <a:srgbClr val="1A1A1A"/>
                </a:solidFill>
                <a:latin typeface="Courier New"/>
              </a:rPr>
              <a:t>esp_timer</a:t>
            </a:r>
            <a:r>
              <a:rPr sz="1322" b="0" i="0">
                <a:solidFill>
                  <a:srgbClr val="1A1A1A"/>
                </a:solidFill>
                <a:latin typeface="Arial"/>
              </a:rPr>
              <a:t>) and truncates to 32 bits, so it wraps after 49.7 days.</a:t>
            </a:r>
          </a:p>
          <a:p>
            <a:pPr>
              <a:spcAft>
                <a:spcPts val="500"/>
              </a:spcAft>
            </a:pPr>
            <a:r>
              <a:rPr sz="1322" b="0" i="0">
                <a:solidFill>
                  <a:srgbClr val="595959"/>
                </a:solidFill>
                <a:latin typeface="Arial"/>
              </a:rPr>
              <a:t>–  </a:t>
            </a:r>
            <a:r>
              <a:rPr sz="1322" b="0" i="0">
                <a:solidFill>
                  <a:srgbClr val="1A1A1A"/>
                </a:solidFill>
                <a:latin typeface="Arial"/>
              </a:rPr>
              <a:t>A </a:t>
            </a:r>
            <a:r>
              <a:rPr sz="1322" b="1" i="0">
                <a:solidFill>
                  <a:srgbClr val="1A1A1A"/>
                </a:solidFill>
                <a:latin typeface="Arial"/>
              </a:rPr>
              <a:t>task watchdog</a:t>
            </a:r>
            <a:r>
              <a:rPr sz="1322" b="0" i="0">
                <a:solidFill>
                  <a:srgbClr val="1A1A1A"/>
                </a:solidFill>
                <a:latin typeface="Arial"/>
              </a:rPr>
              <a:t> resets the chip if a core is starved. If </a:t>
            </a:r>
            <a:r>
              <a:rPr sz="1256" b="0" i="0">
                <a:solidFill>
                  <a:srgbClr val="1A1A1A"/>
                </a:solidFill>
                <a:latin typeface="Courier New"/>
              </a:rPr>
              <a:t>loop()</a:t>
            </a:r>
            <a:r>
              <a:rPr sz="1322" b="0" i="0">
                <a:solidFill>
                  <a:srgbClr val="1A1A1A"/>
                </a:solidFill>
                <a:latin typeface="Arial"/>
              </a:rPr>
              <a:t> spins for 5 s without yielding (for example </a:t>
            </a:r>
            <a:r>
              <a:rPr sz="1256" b="0" i="0">
                <a:solidFill>
                  <a:srgbClr val="1A1A1A"/>
                </a:solidFill>
                <a:latin typeface="Courier New"/>
              </a:rPr>
              <a:t>while(1){}</a:t>
            </a:r>
            <a:r>
              <a:rPr sz="1322" b="0" i="0">
                <a:solidFill>
                  <a:srgbClr val="1A1A1A"/>
                </a:solidFill>
                <a:latin typeface="Arial"/>
              </a:rPr>
              <a:t> with no </a:t>
            </a:r>
            <a:r>
              <a:rPr sz="1256" b="0" i="0">
                <a:solidFill>
                  <a:srgbClr val="1A1A1A"/>
                </a:solidFill>
                <a:latin typeface="Courier New"/>
              </a:rPr>
              <a:t>delay</a:t>
            </a:r>
            <a:r>
              <a:rPr sz="1322" b="0" i="0">
                <a:solidFill>
                  <a:srgbClr val="1A1A1A"/>
                </a:solidFill>
                <a:latin typeface="Arial"/>
              </a:rPr>
              <a:t>), you get </a:t>
            </a:r>
            <a:r>
              <a:rPr sz="1256" b="0" i="0">
                <a:solidFill>
                  <a:srgbClr val="1A1A1A"/>
                </a:solidFill>
                <a:latin typeface="Courier New"/>
              </a:rPr>
              <a:t>Task watchdog got triggered</a:t>
            </a:r>
            <a:r>
              <a:rPr sz="1322" b="0" i="0">
                <a:solidFill>
                  <a:srgbClr val="1A1A1A"/>
                </a:solidFill>
                <a:latin typeface="Arial"/>
              </a:rPr>
              <a:t> and a reboot.</a:t>
            </a:r>
          </a:p>
          <a:p>
            <a:pPr>
              <a:spcAft>
                <a:spcPts val="500"/>
              </a:spcAft>
            </a:pPr>
            <a:r>
              <a:rPr sz="1322" b="0" i="0">
                <a:solidFill>
                  <a:srgbClr val="595959"/>
                </a:solidFill>
                <a:latin typeface="Arial"/>
              </a:rPr>
              <a:t>–  </a:t>
            </a:r>
            <a:r>
              <a:rPr sz="1322" b="0" i="0">
                <a:solidFill>
                  <a:srgbClr val="1A1A1A"/>
                </a:solidFill>
                <a:latin typeface="Arial"/>
              </a:rPr>
              <a:t>Deep local arrays overflow the 8 KB stack silently → </a:t>
            </a:r>
            <a:r>
              <a:rPr sz="1256" b="0" i="0">
                <a:solidFill>
                  <a:srgbClr val="1A1A1A"/>
                </a:solidFill>
                <a:latin typeface="Courier New"/>
              </a:rPr>
              <a:t>Guru Meditation Error: StackCanary watchpoint triggered</a:t>
            </a:r>
            <a:r>
              <a:rPr sz="1322" b="0" i="0">
                <a:solidFill>
                  <a:srgbClr val="1A1A1A"/>
                </a:solidFill>
                <a:latin typeface="Arial"/>
              </a:rPr>
              <a:t>. Use </a:t>
            </a:r>
            <a:r>
              <a:rPr sz="1256" b="0" i="0">
                <a:solidFill>
                  <a:srgbClr val="1A1A1A"/>
                </a:solidFill>
                <a:latin typeface="Courier New"/>
              </a:rPr>
              <a:t>static</a:t>
            </a:r>
            <a:r>
              <a:rPr sz="1322" b="0" i="0">
                <a:solidFill>
                  <a:srgbClr val="1A1A1A"/>
                </a:solidFill>
                <a:latin typeface="Arial"/>
              </a:rPr>
              <a:t> or heap for big buffers.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0"/>
            <a:ext cx="7315200" cy="274320"/>
          </a:xfrm>
          <a:prstGeom prst="rect">
            <a:avLst/>
          </a:prstGeom>
          <a:noFill/>
        </p:spPr>
        <p:txBody>
          <a:bodyPr wrap="square" anchor="t" lIns="0" rIns="0" tIns="18288" bIns="18288">
            <a:spAutoFit/>
          </a:bodyPr>
          <a:lstStyle/>
          <a:p>
            <a:pPr algn="l"/>
            <a:r>
              <a:rPr sz="1000" b="0" i="0">
                <a:solidFill>
                  <a:srgbClr val="595959"/>
                </a:solidFill>
                <a:latin typeface="Arial"/>
              </a:rPr>
              <a:t>HackHardware · Getting started with the ESP32</a:t>
            </a:r>
          </a:p>
        </p:txBody>
      </p:sp>
      <p:sp>
        <p:nvSpPr>
          <p:cNvPr id="3" name="TextBox 2"/>
          <p:cNvSpPr txBox="1"/>
          <p:nvPr/>
        </p:nvSpPr>
        <p:spPr>
          <a:xfrm>
            <a:off x="10134295" y="6400800"/>
            <a:ext cx="1371600" cy="274320"/>
          </a:xfrm>
          <a:prstGeom prst="rect">
            <a:avLst/>
          </a:prstGeom>
          <a:noFill/>
        </p:spPr>
        <p:txBody>
          <a:bodyPr wrap="square" anchor="t" lIns="0" rIns="0" tIns="18288" bIns="18288">
            <a:spAutoFit/>
          </a:bodyPr>
          <a:lstStyle/>
          <a:p>
            <a:pPr algn="r"/>
            <a:r>
              <a:rPr sz="1000" b="0" i="0">
                <a:solidFill>
                  <a:srgbClr val="595959"/>
                </a:solidFill>
                <a:latin typeface="Arial"/>
              </a:rPr>
              <a:t>13</a:t>
            </a:r>
          </a:p>
        </p:txBody>
      </p:sp>
      <p:sp>
        <p:nvSpPr>
          <p:cNvPr id="4" name="TextBox 3"/>
          <p:cNvSpPr txBox="1"/>
          <p:nvPr/>
        </p:nvSpPr>
        <p:spPr>
          <a:xfrm>
            <a:off x="685800" y="457200"/>
            <a:ext cx="10820095" cy="822960"/>
          </a:xfrm>
          <a:prstGeom prst="rect">
            <a:avLst/>
          </a:prstGeom>
          <a:noFill/>
        </p:spPr>
        <p:txBody>
          <a:bodyPr wrap="square" anchor="b" lIns="0" rIns="0" tIns="18288" bIns="18288">
            <a:spAutoFit/>
          </a:bodyPr>
          <a:lstStyle/>
          <a:p>
            <a:pPr algn="l"/>
            <a:r>
              <a:rPr sz="3000" b="1" i="0">
                <a:solidFill>
                  <a:srgbClr val="1A1A1A"/>
                </a:solidFill>
                <a:latin typeface="Arial"/>
              </a:rPr>
              <a:t>The shape of every sketch</a:t>
            </a:r>
          </a:p>
        </p:txBody>
      </p:sp>
      <p:cxnSp>
        <p:nvCxnSpPr>
          <p:cNvPr id="5" name="Connector 4"/>
          <p:cNvCxnSpPr/>
          <p:nvPr/>
        </p:nvCxnSpPr>
        <p:spPr>
          <a:xfrm>
            <a:off x="685800" y="1298448"/>
            <a:ext cx="10820095" cy="0"/>
          </a:xfrm>
          <a:prstGeom prst="line">
            <a:avLst/>
          </a:prstGeom>
          <a:ln w="9525">
            <a:solidFill>
              <a:srgbClr val="BFBFBF"/>
            </a:solidFill>
          </a:ln>
        </p:spPr>
      </p:cxnSp>
      <p:sp>
        <p:nvSpPr>
          <p:cNvPr id="6" name="Rectangle 5"/>
          <p:cNvSpPr/>
          <p:nvPr/>
        </p:nvSpPr>
        <p:spPr>
          <a:xfrm>
            <a:off x="685800" y="1417320"/>
            <a:ext cx="5443569" cy="4470400"/>
          </a:xfrm>
          <a:prstGeom prst="rect">
            <a:avLst/>
          </a:prstGeom>
          <a:solidFill>
            <a:srgbClr val="F2F2F2"/>
          </a:solidFill>
          <a:ln>
            <a:noFill/>
          </a:ln>
          <a:effectLst/>
        </p:spPr>
        <p:txBody>
          <a:bodyPr rtlCol="0" anchor="ctr"/>
          <a:lstStyle/>
          <a:p>
            <a:pPr algn="ctr"/>
          </a:p>
        </p:txBody>
      </p:sp>
      <p:sp>
        <p:nvSpPr>
          <p:cNvPr id="7" name="TextBox 6"/>
          <p:cNvSpPr txBox="1"/>
          <p:nvPr/>
        </p:nvSpPr>
        <p:spPr>
          <a:xfrm>
            <a:off x="822960" y="1527048"/>
            <a:ext cx="5169249" cy="4287519"/>
          </a:xfrm>
          <a:prstGeom prst="rect">
            <a:avLst/>
          </a:prstGeom>
          <a:noFill/>
        </p:spPr>
        <p:txBody>
          <a:bodyPr wrap="square" anchor="t" lIns="0" rIns="0" tIns="18288" bIns="18288">
            <a:spAutoFit/>
          </a:bodyPr>
          <a:lstStyle/>
          <a:p>
            <a:pPr>
              <a:spcAft>
                <a:spcPts val="0"/>
              </a:spcAft>
            </a:pPr>
            <a:r>
              <a:rPr sz="1330" b="0" i="0">
                <a:solidFill>
                  <a:srgbClr val="1A1A1A"/>
                </a:solidFill>
                <a:latin typeface="Courier New"/>
              </a:rPr>
              <a:t>#include "config.h"  </a:t>
            </a:r>
            <a:r>
              <a:rPr sz="1330" b="0" i="0">
                <a:solidFill>
                  <a:srgbClr val="595959"/>
                </a:solidFill>
                <a:latin typeface="Courier New"/>
              </a:rPr>
              <a:t>// LED_PIN, BOARD_NAME</a:t>
            </a:r>
          </a:p>
          <a:p>
            <a:pPr>
              <a:spcAft>
                <a:spcPts val="0"/>
              </a:spcAft>
            </a:pPr>
            <a:r>
              <a:rPr sz="1330" b="0" i="0">
                <a:solidFill>
                  <a:srgbClr val="1A1A1A"/>
                </a:solidFill>
                <a:latin typeface="Courier New"/>
              </a:rPr>
              <a:t> </a:t>
            </a:r>
          </a:p>
          <a:p>
            <a:pPr>
              <a:spcAft>
                <a:spcPts val="0"/>
              </a:spcAft>
            </a:pPr>
            <a:r>
              <a:rPr sz="1330" b="0" i="0">
                <a:solidFill>
                  <a:srgbClr val="1A1A1A"/>
                </a:solidFill>
                <a:latin typeface="Courier New"/>
              </a:rPr>
              <a:t/>
            </a:r>
            <a:r>
              <a:rPr sz="1330" b="0" i="0">
                <a:solidFill>
                  <a:srgbClr val="595959"/>
                </a:solidFill>
                <a:latin typeface="Courier New"/>
              </a:rPr>
              <a:t>// Runs once, after the bootloader hands over.</a:t>
            </a:r>
          </a:p>
          <a:p>
            <a:pPr>
              <a:spcAft>
                <a:spcPts val="0"/>
              </a:spcAft>
            </a:pPr>
            <a:r>
              <a:rPr sz="1330" b="0" i="0">
                <a:solidFill>
                  <a:srgbClr val="1A1A1A"/>
                </a:solidFill>
                <a:latin typeface="Courier New"/>
              </a:rPr>
              <a:t>void setup() {</a:t>
            </a:r>
          </a:p>
          <a:p>
            <a:pPr>
              <a:spcAft>
                <a:spcPts val="0"/>
              </a:spcAft>
            </a:pPr>
            <a:r>
              <a:rPr sz="1330" b="0" i="0">
                <a:solidFill>
                  <a:srgbClr val="1A1A1A"/>
                </a:solidFill>
                <a:latin typeface="Courier New"/>
              </a:rPr>
              <a:t>  Serial.begin(115200);</a:t>
            </a:r>
          </a:p>
          <a:p>
            <a:pPr>
              <a:spcAft>
                <a:spcPts val="0"/>
              </a:spcAft>
            </a:pPr>
            <a:r>
              <a:rPr sz="1330" b="0" i="0">
                <a:solidFill>
                  <a:srgbClr val="1A1A1A"/>
                </a:solidFill>
                <a:latin typeface="Courier New"/>
              </a:rPr>
              <a:t>}</a:t>
            </a:r>
          </a:p>
          <a:p>
            <a:pPr>
              <a:spcAft>
                <a:spcPts val="0"/>
              </a:spcAft>
            </a:pPr>
            <a:r>
              <a:rPr sz="1330" b="0" i="0">
                <a:solidFill>
                  <a:srgbClr val="1A1A1A"/>
                </a:solidFill>
                <a:latin typeface="Courier New"/>
              </a:rPr>
              <a:t> </a:t>
            </a:r>
          </a:p>
          <a:p>
            <a:pPr>
              <a:spcAft>
                <a:spcPts val="0"/>
              </a:spcAft>
            </a:pPr>
            <a:r>
              <a:rPr sz="1330" b="0" i="0">
                <a:solidFill>
                  <a:srgbClr val="1A1A1A"/>
                </a:solidFill>
                <a:latin typeface="Courier New"/>
              </a:rPr>
              <a:t/>
            </a:r>
            <a:r>
              <a:rPr sz="1330" b="0" i="0">
                <a:solidFill>
                  <a:srgbClr val="595959"/>
                </a:solidFill>
                <a:latin typeface="Courier New"/>
              </a:rPr>
              <a:t>// Called again as soon as it returns, forever.</a:t>
            </a:r>
          </a:p>
          <a:p>
            <a:pPr>
              <a:spcAft>
                <a:spcPts val="0"/>
              </a:spcAft>
            </a:pPr>
            <a:r>
              <a:rPr sz="1330" b="0" i="0">
                <a:solidFill>
                  <a:srgbClr val="1A1A1A"/>
                </a:solidFill>
                <a:latin typeface="Courier New"/>
              </a:rPr>
              <a:t>void loop() {</a:t>
            </a:r>
          </a:p>
          <a:p>
            <a:pPr>
              <a:spcAft>
                <a:spcPts val="0"/>
              </a:spcAft>
            </a:pPr>
            <a:r>
              <a:rPr sz="1330" b="0" i="0">
                <a:solidFill>
                  <a:srgbClr val="1A1A1A"/>
                </a:solidFill>
                <a:latin typeface="Courier New"/>
              </a:rPr>
              <a:t>  setLed(true);</a:t>
            </a:r>
          </a:p>
          <a:p>
            <a:pPr>
              <a:spcAft>
                <a:spcPts val="0"/>
              </a:spcAft>
            </a:pPr>
            <a:r>
              <a:rPr sz="1330" b="0" i="0">
                <a:solidFill>
                  <a:srgbClr val="1A1A1A"/>
                </a:solidFill>
                <a:latin typeface="Courier New"/>
              </a:rPr>
              <a:t>  delay(500);</a:t>
            </a:r>
          </a:p>
          <a:p>
            <a:pPr>
              <a:spcAft>
                <a:spcPts val="0"/>
              </a:spcAft>
            </a:pPr>
            <a:r>
              <a:rPr sz="1330" b="0" i="0">
                <a:solidFill>
                  <a:srgbClr val="1A1A1A"/>
                </a:solidFill>
                <a:latin typeface="Courier New"/>
              </a:rPr>
              <a:t>  setLed(false);</a:t>
            </a:r>
          </a:p>
          <a:p>
            <a:pPr>
              <a:spcAft>
                <a:spcPts val="0"/>
              </a:spcAft>
            </a:pPr>
            <a:r>
              <a:rPr sz="1330" b="0" i="0">
                <a:solidFill>
                  <a:srgbClr val="1A1A1A"/>
                </a:solidFill>
                <a:latin typeface="Courier New"/>
              </a:rPr>
              <a:t>  delay(500);</a:t>
            </a:r>
          </a:p>
          <a:p>
            <a:pPr>
              <a:spcAft>
                <a:spcPts val="0"/>
              </a:spcAft>
            </a:pPr>
            <a:r>
              <a:rPr sz="1330" b="0" i="0">
                <a:solidFill>
                  <a:srgbClr val="1A1A1A"/>
                </a:solidFill>
                <a:latin typeface="Courier New"/>
              </a:rPr>
              <a:t>}</a:t>
            </a:r>
          </a:p>
          <a:p>
            <a:pPr>
              <a:spcAft>
                <a:spcPts val="0"/>
              </a:spcAft>
            </a:pPr>
            <a:r>
              <a:rPr sz="1330" b="0" i="0">
                <a:solidFill>
                  <a:srgbClr val="1A1A1A"/>
                </a:solidFill>
                <a:latin typeface="Courier New"/>
              </a:rPr>
              <a:t> </a:t>
            </a:r>
          </a:p>
          <a:p>
            <a:pPr>
              <a:spcAft>
                <a:spcPts val="0"/>
              </a:spcAft>
            </a:pPr>
            <a:r>
              <a:rPr sz="1330" b="0" i="0">
                <a:solidFill>
                  <a:srgbClr val="1A1A1A"/>
                </a:solidFill>
                <a:latin typeface="Courier New"/>
              </a:rPr>
              <a:t>void setLed(bool on) {     </a:t>
            </a:r>
            <a:r>
              <a:rPr sz="1330" b="0" i="0">
                <a:solidFill>
                  <a:srgbClr val="595959"/>
                </a:solidFill>
                <a:latin typeface="Courier New"/>
              </a:rPr>
              <a:t>// this board: RGB LED</a:t>
            </a:r>
          </a:p>
          <a:p>
            <a:pPr>
              <a:spcAft>
                <a:spcPts val="0"/>
              </a:spcAft>
            </a:pPr>
            <a:r>
              <a:rPr sz="1330" b="0" i="0">
                <a:solidFill>
                  <a:srgbClr val="1A1A1A"/>
                </a:solidFill>
                <a:latin typeface="Courier New"/>
              </a:rPr>
              <a:t>  uint8_t v = on ? 40 : 0;</a:t>
            </a:r>
          </a:p>
          <a:p>
            <a:pPr>
              <a:spcAft>
                <a:spcPts val="0"/>
              </a:spcAft>
            </a:pPr>
            <a:r>
              <a:rPr sz="1330" b="0" i="0">
                <a:solidFill>
                  <a:srgbClr val="1A1A1A"/>
                </a:solidFill>
                <a:latin typeface="Courier New"/>
              </a:rPr>
              <a:t>  rgbLedWrite(LED_PIN, v, v, v);</a:t>
            </a:r>
          </a:p>
          <a:p>
            <a:pPr>
              <a:spcAft>
                <a:spcPts val="0"/>
              </a:spcAft>
            </a:pPr>
            <a:r>
              <a:rPr sz="1330" b="0" i="0">
                <a:solidFill>
                  <a:srgbClr val="1A1A1A"/>
                </a:solidFill>
                <a:latin typeface="Courier New"/>
              </a:rPr>
              <a:t>}</a:t>
            </a:r>
          </a:p>
        </p:txBody>
      </p:sp>
      <p:sp>
        <p:nvSpPr>
          <p:cNvPr id="8" name="TextBox 7"/>
          <p:cNvSpPr txBox="1"/>
          <p:nvPr/>
        </p:nvSpPr>
        <p:spPr>
          <a:xfrm>
            <a:off x="6495129" y="1417320"/>
            <a:ext cx="5010765" cy="4041648"/>
          </a:xfrm>
          <a:prstGeom prst="rect">
            <a:avLst/>
          </a:prstGeom>
          <a:noFill/>
        </p:spPr>
        <p:txBody>
          <a:bodyPr wrap="square" anchor="t" lIns="0" rIns="0" tIns="18288" bIns="18288">
            <a:spAutoFit/>
          </a:bodyPr>
          <a:lstStyle/>
          <a:p>
            <a:pPr>
              <a:spcAft>
                <a:spcPts val="500"/>
              </a:spcAft>
            </a:pPr>
            <a:r>
              <a:rPr sz="1800" b="0" i="0">
                <a:solidFill>
                  <a:srgbClr val="595959"/>
                </a:solidFill>
                <a:latin typeface="Arial"/>
              </a:rPr>
              <a:t>–  </a:t>
            </a:r>
            <a:r>
              <a:rPr sz="1800" b="0" i="0">
                <a:solidFill>
                  <a:srgbClr val="1A1A1A"/>
                </a:solidFill>
                <a:latin typeface="Arial"/>
              </a:rPr>
              <a:t>The language is C++. You need about ten functions today; all of them are on the cheat sheet.</a:t>
            </a:r>
          </a:p>
          <a:p>
            <a:pPr>
              <a:spcAft>
                <a:spcPts val="500"/>
              </a:spcAft>
            </a:pPr>
            <a:r>
              <a:rPr sz="1800" b="0" i="0">
                <a:solidFill>
                  <a:srgbClr val="595959"/>
                </a:solidFill>
                <a:latin typeface="Arial"/>
              </a:rPr>
              <a:t>–  </a:t>
            </a:r>
            <a:r>
              <a:rPr sz="1800" b="0" i="0">
                <a:solidFill>
                  <a:srgbClr val="1A1A1A"/>
                </a:solidFill>
                <a:latin typeface="Arial"/>
              </a:rPr>
              <a:t>There is no </a:t>
            </a:r>
            <a:r>
              <a:rPr sz="1709" b="0" i="0">
                <a:solidFill>
                  <a:srgbClr val="1A1A1A"/>
                </a:solidFill>
                <a:latin typeface="Courier New"/>
              </a:rPr>
              <a:t>main()</a:t>
            </a:r>
            <a:r>
              <a:rPr sz="1800" b="0" i="0">
                <a:solidFill>
                  <a:srgbClr val="1A1A1A"/>
                </a:solidFill>
                <a:latin typeface="Arial"/>
              </a:rPr>
              <a:t> for you to write. The core provides </a:t>
            </a:r>
            <a:r>
              <a:rPr sz="1709" b="0" i="0">
                <a:solidFill>
                  <a:srgbClr val="1A1A1A"/>
                </a:solidFill>
                <a:latin typeface="Courier New"/>
              </a:rPr>
              <a:t>app_main()</a:t>
            </a:r>
            <a:r>
              <a:rPr sz="1800" b="0" i="0">
                <a:solidFill>
                  <a:srgbClr val="1A1A1A"/>
                </a:solidFill>
                <a:latin typeface="Arial"/>
              </a:rPr>
              <a:t>, which starts FreeRTOS, calls </a:t>
            </a:r>
            <a:r>
              <a:rPr sz="1709" b="0" i="0">
                <a:solidFill>
                  <a:srgbClr val="1A1A1A"/>
                </a:solidFill>
                <a:latin typeface="Courier New"/>
              </a:rPr>
              <a:t>setup()</a:t>
            </a:r>
            <a:r>
              <a:rPr sz="1800" b="0" i="0">
                <a:solidFill>
                  <a:srgbClr val="1A1A1A"/>
                </a:solidFill>
                <a:latin typeface="Arial"/>
              </a:rPr>
              <a:t> once, then calls </a:t>
            </a:r>
            <a:r>
              <a:rPr sz="1709" b="0" i="0">
                <a:solidFill>
                  <a:srgbClr val="1A1A1A"/>
                </a:solidFill>
                <a:latin typeface="Courier New"/>
              </a:rPr>
              <a:t>loop()</a:t>
            </a:r>
            <a:r>
              <a:rPr sz="1800" b="0" i="0">
                <a:solidFill>
                  <a:srgbClr val="1A1A1A"/>
                </a:solidFill>
                <a:latin typeface="Arial"/>
              </a:rPr>
              <a:t> in a </a:t>
            </a:r>
            <a:r>
              <a:rPr sz="1709" b="0" i="0">
                <a:solidFill>
                  <a:srgbClr val="1A1A1A"/>
                </a:solidFill>
                <a:latin typeface="Courier New"/>
              </a:rPr>
              <a:t>for(;;)</a:t>
            </a:r>
            <a:r>
              <a:rPr sz="1800" b="0" i="0">
                <a:solidFill>
                  <a:srgbClr val="1A1A1A"/>
                </a:solidFill>
                <a:latin typeface="Arial"/>
              </a:rPr>
              <a:t>.</a:t>
            </a:r>
          </a:p>
          <a:p>
            <a:pPr>
              <a:spcAft>
                <a:spcPts val="500"/>
              </a:spcAft>
            </a:pPr>
            <a:r>
              <a:rPr sz="1800" b="0" i="0">
                <a:solidFill>
                  <a:srgbClr val="595959"/>
                </a:solidFill>
                <a:latin typeface="Arial"/>
              </a:rPr>
              <a:t>–  </a:t>
            </a:r>
            <a:r>
              <a:rPr sz="1709" b="0" i="0">
                <a:solidFill>
                  <a:srgbClr val="1A1A1A"/>
                </a:solidFill>
                <a:latin typeface="Courier New"/>
              </a:rPr>
              <a:t>config.h</a:t>
            </a:r>
            <a:r>
              <a:rPr sz="1800" b="0" i="0">
                <a:solidFill>
                  <a:srgbClr val="1A1A1A"/>
                </a:solidFill>
                <a:latin typeface="Arial"/>
              </a:rPr>
              <a:t> next to each sketch holds the pin numbers and your board's name, so a board with the LED on a different pin is a one-line change.</a:t>
            </a:r>
          </a:p>
          <a:p>
            <a:pPr>
              <a:spcAft>
                <a:spcPts val="500"/>
              </a:spcAft>
            </a:pPr>
            <a:r>
              <a:rPr sz="1800" b="0" i="0">
                <a:solidFill>
                  <a:srgbClr val="595959"/>
                </a:solidFill>
                <a:latin typeface="Arial"/>
              </a:rPr>
              <a:t>–  </a:t>
            </a:r>
            <a:r>
              <a:rPr sz="1800" b="0" i="0">
                <a:solidFill>
                  <a:srgbClr val="1A1A1A"/>
                </a:solidFill>
                <a:latin typeface="Arial"/>
              </a:rPr>
              <a:t>A sketch folder must have the same name as the </a:t>
            </a:r>
            <a:r>
              <a:rPr sz="1709" b="0" i="0">
                <a:solidFill>
                  <a:srgbClr val="1A1A1A"/>
                </a:solidFill>
                <a:latin typeface="Courier New"/>
              </a:rPr>
              <a:t>.ino</a:t>
            </a:r>
            <a:r>
              <a:rPr sz="1800" b="0" i="0">
                <a:solidFill>
                  <a:srgbClr val="1A1A1A"/>
                </a:solidFill>
                <a:latin typeface="Arial"/>
              </a:rPr>
              <a:t> inside it. That is why the repo has </a:t>
            </a:r>
            <a:r>
              <a:rPr sz="1709" b="0" i="0">
                <a:solidFill>
                  <a:srgbClr val="1A1A1A"/>
                </a:solidFill>
                <a:latin typeface="Courier New"/>
              </a:rPr>
              <a:t>01_blink/01_blink.ino</a:t>
            </a:r>
            <a:r>
              <a:rPr sz="1800" b="0" i="0">
                <a:solidFill>
                  <a:srgbClr val="1A1A1A"/>
                </a:solidFill>
                <a:latin typeface="Arial"/>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0"/>
            <a:ext cx="7315200" cy="274320"/>
          </a:xfrm>
          <a:prstGeom prst="rect">
            <a:avLst/>
          </a:prstGeom>
          <a:noFill/>
        </p:spPr>
        <p:txBody>
          <a:bodyPr wrap="square" anchor="t" lIns="0" rIns="0" tIns="18288" bIns="18288">
            <a:spAutoFit/>
          </a:bodyPr>
          <a:lstStyle/>
          <a:p>
            <a:pPr algn="l"/>
            <a:r>
              <a:rPr sz="1000" b="0" i="0">
                <a:solidFill>
                  <a:srgbClr val="595959"/>
                </a:solidFill>
                <a:latin typeface="Arial"/>
              </a:rPr>
              <a:t>HackHardware · Getting started with the ESP32</a:t>
            </a:r>
          </a:p>
        </p:txBody>
      </p:sp>
      <p:sp>
        <p:nvSpPr>
          <p:cNvPr id="3" name="TextBox 2"/>
          <p:cNvSpPr txBox="1"/>
          <p:nvPr/>
        </p:nvSpPr>
        <p:spPr>
          <a:xfrm>
            <a:off x="10134295" y="6400800"/>
            <a:ext cx="1371600" cy="274320"/>
          </a:xfrm>
          <a:prstGeom prst="rect">
            <a:avLst/>
          </a:prstGeom>
          <a:noFill/>
        </p:spPr>
        <p:txBody>
          <a:bodyPr wrap="square" anchor="t" lIns="0" rIns="0" tIns="18288" bIns="18288">
            <a:spAutoFit/>
          </a:bodyPr>
          <a:lstStyle/>
          <a:p>
            <a:pPr algn="r"/>
            <a:r>
              <a:rPr sz="1000" b="0" i="0">
                <a:solidFill>
                  <a:srgbClr val="595959"/>
                </a:solidFill>
                <a:latin typeface="Arial"/>
              </a:rPr>
              <a:t>14</a:t>
            </a:r>
          </a:p>
        </p:txBody>
      </p:sp>
      <p:sp>
        <p:nvSpPr>
          <p:cNvPr id="4" name="TextBox 3"/>
          <p:cNvSpPr txBox="1"/>
          <p:nvPr/>
        </p:nvSpPr>
        <p:spPr>
          <a:xfrm>
            <a:off x="685800" y="457200"/>
            <a:ext cx="10820095" cy="822960"/>
          </a:xfrm>
          <a:prstGeom prst="rect">
            <a:avLst/>
          </a:prstGeom>
          <a:noFill/>
        </p:spPr>
        <p:txBody>
          <a:bodyPr wrap="square" anchor="b" lIns="0" rIns="0" tIns="18288" bIns="18288">
            <a:spAutoFit/>
          </a:bodyPr>
          <a:lstStyle/>
          <a:p>
            <a:pPr algn="l"/>
            <a:r>
              <a:rPr sz="3000" b="1" i="0">
                <a:solidFill>
                  <a:srgbClr val="1A1A1A"/>
                </a:solidFill>
                <a:latin typeface="Arial"/>
              </a:rPr>
              <a:t>Task 1: Blink an LED</a:t>
            </a:r>
          </a:p>
        </p:txBody>
      </p:sp>
      <p:cxnSp>
        <p:nvCxnSpPr>
          <p:cNvPr id="5" name="Connector 4"/>
          <p:cNvCxnSpPr/>
          <p:nvPr/>
        </p:nvCxnSpPr>
        <p:spPr>
          <a:xfrm>
            <a:off x="685800" y="1298448"/>
            <a:ext cx="10820095" cy="0"/>
          </a:xfrm>
          <a:prstGeom prst="line">
            <a:avLst/>
          </a:prstGeom>
          <a:ln w="9525">
            <a:solidFill>
              <a:srgbClr val="BFBFBF"/>
            </a:solidFill>
          </a:ln>
        </p:spPr>
      </p:cxnSp>
      <p:sp>
        <p:nvSpPr>
          <p:cNvPr id="6" name="TextBox 5"/>
          <p:cNvSpPr txBox="1"/>
          <p:nvPr/>
        </p:nvSpPr>
        <p:spPr>
          <a:xfrm>
            <a:off x="685800" y="1453896"/>
            <a:ext cx="10820095" cy="349503"/>
          </a:xfrm>
          <a:prstGeom prst="rect">
            <a:avLst/>
          </a:prstGeom>
          <a:noFill/>
        </p:spPr>
        <p:txBody>
          <a:bodyPr wrap="square" anchor="t" lIns="0" rIns="0" tIns="18288" bIns="18288">
            <a:spAutoFit/>
          </a:bodyPr>
          <a:lstStyle/>
          <a:p>
            <a:r>
              <a:rPr sz="1600" b="1" i="0">
                <a:solidFill>
                  <a:srgbClr val="1A1A1A"/>
                </a:solidFill>
                <a:latin typeface="Arial"/>
              </a:rPr>
              <a:t>Do this</a:t>
            </a:r>
          </a:p>
        </p:txBody>
      </p:sp>
      <p:sp>
        <p:nvSpPr>
          <p:cNvPr id="7" name="TextBox 6"/>
          <p:cNvSpPr txBox="1"/>
          <p:nvPr/>
        </p:nvSpPr>
        <p:spPr>
          <a:xfrm>
            <a:off x="685800" y="1858264"/>
            <a:ext cx="10820095" cy="2522727"/>
          </a:xfrm>
          <a:prstGeom prst="rect">
            <a:avLst/>
          </a:prstGeom>
          <a:noFill/>
        </p:spPr>
        <p:txBody>
          <a:bodyPr wrap="square" anchor="t" lIns="0" rIns="0" tIns="18288" bIns="18288">
            <a:spAutoFit/>
          </a:bodyPr>
          <a:lstStyle/>
          <a:p>
            <a:pPr>
              <a:spcAft>
                <a:spcPts val="600"/>
              </a:spcAft>
            </a:pPr>
            <a:r>
              <a:rPr sz="1700" b="0" i="0">
                <a:solidFill>
                  <a:srgbClr val="595959"/>
                </a:solidFill>
                <a:latin typeface="Arial"/>
              </a:rPr>
              <a:t>1.  </a:t>
            </a:r>
            <a:r>
              <a:rPr sz="1700" b="1" i="0">
                <a:solidFill>
                  <a:srgbClr val="1A1A1A"/>
                </a:solidFill>
                <a:latin typeface="Arial"/>
              </a:rPr>
              <a:t>File → Open</a:t>
            </a:r>
            <a:r>
              <a:rPr sz="1700" b="0" i="0">
                <a:solidFill>
                  <a:srgbClr val="1A1A1A"/>
                </a:solidFill>
                <a:latin typeface="Arial"/>
              </a:rPr>
              <a:t> </a:t>
            </a:r>
            <a:r>
              <a:rPr sz="1614" b="0" i="0">
                <a:solidFill>
                  <a:srgbClr val="1A1A1A"/>
                </a:solidFill>
                <a:latin typeface="Courier New"/>
              </a:rPr>
              <a:t>tasks/01_blink/01_blink.ino</a:t>
            </a:r>
          </a:p>
          <a:p>
            <a:pPr>
              <a:spcAft>
                <a:spcPts val="600"/>
              </a:spcAft>
            </a:pPr>
            <a:r>
              <a:rPr sz="1700" b="0" i="0">
                <a:solidFill>
                  <a:srgbClr val="595959"/>
                </a:solidFill>
                <a:latin typeface="Arial"/>
              </a:rPr>
              <a:t>2.  </a:t>
            </a:r>
            <a:r>
              <a:rPr sz="1700" b="1" i="0">
                <a:solidFill>
                  <a:srgbClr val="1A1A1A"/>
                </a:solidFill>
                <a:latin typeface="Arial"/>
              </a:rPr>
              <a:t>Tools → Board → ESP32S3 Dev Module</a:t>
            </a:r>
            <a:r>
              <a:rPr sz="1700" b="0" i="0">
                <a:solidFill>
                  <a:srgbClr val="1A1A1A"/>
                </a:solidFill>
                <a:latin typeface="Arial"/>
              </a:rPr>
              <a:t>, </a:t>
            </a:r>
            <a:r>
              <a:rPr sz="1700" b="1" i="0">
                <a:solidFill>
                  <a:srgbClr val="1A1A1A"/>
                </a:solidFill>
                <a:latin typeface="Arial"/>
              </a:rPr>
              <a:t>Tools → Port →</a:t>
            </a:r>
            <a:r>
              <a:rPr sz="1700" b="0" i="0">
                <a:solidFill>
                  <a:srgbClr val="1A1A1A"/>
                </a:solidFill>
                <a:latin typeface="Arial"/>
              </a:rPr>
              <a:t> the UART connector's port</a:t>
            </a:r>
          </a:p>
          <a:p>
            <a:pPr>
              <a:spcAft>
                <a:spcPts val="600"/>
              </a:spcAft>
            </a:pPr>
            <a:r>
              <a:rPr sz="1700" b="0" i="0">
                <a:solidFill>
                  <a:srgbClr val="595959"/>
                </a:solidFill>
                <a:latin typeface="Arial"/>
              </a:rPr>
              <a:t>3.  </a:t>
            </a:r>
            <a:r>
              <a:rPr sz="1700" b="0" i="0">
                <a:solidFill>
                  <a:srgbClr val="1A1A1A"/>
                </a:solidFill>
                <a:latin typeface="Arial"/>
              </a:rPr>
              <a:t>Click </a:t>
            </a:r>
            <a:r>
              <a:rPr sz="1700" b="1" i="0">
                <a:solidFill>
                  <a:srgbClr val="1A1A1A"/>
                </a:solidFill>
                <a:latin typeface="Arial"/>
              </a:rPr>
              <a:t>Upload (→)</a:t>
            </a:r>
            <a:r>
              <a:rPr sz="1700" b="0" i="0">
                <a:solidFill>
                  <a:srgbClr val="1A1A1A"/>
                </a:solidFill>
                <a:latin typeface="Arial"/>
              </a:rPr>
              <a:t>. If the output stops at </a:t>
            </a:r>
            <a:r>
              <a:rPr sz="1614" b="0" i="0">
                <a:solidFill>
                  <a:srgbClr val="1A1A1A"/>
                </a:solidFill>
                <a:latin typeface="Courier New"/>
              </a:rPr>
              <a:t>Connecting....</a:t>
            </a:r>
            <a:r>
              <a:rPr sz="1700" b="0" i="0">
                <a:solidFill>
                  <a:srgbClr val="1A1A1A"/>
                </a:solidFill>
                <a:latin typeface="Arial"/>
              </a:rPr>
              <a:t>, hold </a:t>
            </a:r>
            <a:r>
              <a:rPr sz="1700" b="1" i="0">
                <a:solidFill>
                  <a:srgbClr val="1A1A1A"/>
                </a:solidFill>
                <a:latin typeface="Arial"/>
              </a:rPr>
              <a:t>BOOT</a:t>
            </a:r>
            <a:r>
              <a:rPr sz="1700" b="0" i="0">
                <a:solidFill>
                  <a:srgbClr val="1A1A1A"/>
                </a:solidFill>
                <a:latin typeface="Arial"/>
              </a:rPr>
              <a:t> until you see </a:t>
            </a:r>
            <a:r>
              <a:rPr sz="1614" b="0" i="0">
                <a:solidFill>
                  <a:srgbClr val="1A1A1A"/>
                </a:solidFill>
                <a:latin typeface="Courier New"/>
              </a:rPr>
              <a:t>Writing at</a:t>
            </a:r>
            <a:r>
              <a:rPr sz="1700" b="0" i="0">
                <a:solidFill>
                  <a:srgbClr val="1A1A1A"/>
                </a:solidFill>
                <a:latin typeface="Arial"/>
              </a:rPr>
              <a:t>.</a:t>
            </a:r>
          </a:p>
          <a:p>
            <a:pPr>
              <a:spcAft>
                <a:spcPts val="600"/>
              </a:spcAft>
            </a:pPr>
            <a:r>
              <a:rPr sz="1700" b="0" i="0">
                <a:solidFill>
                  <a:srgbClr val="595959"/>
                </a:solidFill>
                <a:latin typeface="Arial"/>
              </a:rPr>
              <a:t>4.  </a:t>
            </a:r>
            <a:r>
              <a:rPr sz="1700" b="0" i="0">
                <a:solidFill>
                  <a:srgbClr val="1A1A1A"/>
                </a:solidFill>
                <a:latin typeface="Arial"/>
              </a:rPr>
              <a:t>The RGB LED (white square in the middle of the board) should blink white once per second. Nothing? In </a:t>
            </a:r>
            <a:r>
              <a:rPr sz="1614" b="0" i="0">
                <a:solidFill>
                  <a:srgbClr val="1A1A1A"/>
                </a:solidFill>
                <a:latin typeface="Courier New"/>
              </a:rPr>
              <a:t>config.h</a:t>
            </a:r>
            <a:r>
              <a:rPr sz="1700" b="0" i="0">
                <a:solidFill>
                  <a:srgbClr val="1A1A1A"/>
                </a:solidFill>
                <a:latin typeface="Arial"/>
              </a:rPr>
              <a:t> change </a:t>
            </a:r>
            <a:r>
              <a:rPr sz="1614" b="0" i="0">
                <a:solidFill>
                  <a:srgbClr val="1A1A1A"/>
                </a:solidFill>
                <a:latin typeface="Courier New"/>
              </a:rPr>
              <a:t>LED_PIN 48</a:t>
            </a:r>
            <a:r>
              <a:rPr sz="1700" b="0" i="0">
                <a:solidFill>
                  <a:srgbClr val="1A1A1A"/>
                </a:solidFill>
                <a:latin typeface="Arial"/>
              </a:rPr>
              <a:t> to </a:t>
            </a:r>
            <a:r>
              <a:rPr sz="1614" b="0" i="0">
                <a:solidFill>
                  <a:srgbClr val="1A1A1A"/>
                </a:solidFill>
                <a:latin typeface="Courier New"/>
              </a:rPr>
              <a:t>38</a:t>
            </a:r>
            <a:r>
              <a:rPr sz="1700" b="0" i="0">
                <a:solidFill>
                  <a:srgbClr val="1A1A1A"/>
                </a:solidFill>
                <a:latin typeface="Arial"/>
              </a:rPr>
              <a:t>, upload again.</a:t>
            </a:r>
          </a:p>
          <a:p>
            <a:pPr>
              <a:spcAft>
                <a:spcPts val="600"/>
              </a:spcAft>
            </a:pPr>
            <a:r>
              <a:rPr sz="1700" b="0" i="0">
                <a:solidFill>
                  <a:srgbClr val="595959"/>
                </a:solidFill>
                <a:latin typeface="Arial"/>
              </a:rPr>
              <a:t>5.  </a:t>
            </a:r>
            <a:r>
              <a:rPr sz="1700" b="0" i="0">
                <a:solidFill>
                  <a:srgbClr val="1A1A1A"/>
                </a:solidFill>
                <a:latin typeface="Arial"/>
              </a:rPr>
              <a:t>In the sketch, change </a:t>
            </a:r>
            <a:r>
              <a:rPr sz="1614" b="0" i="0">
                <a:solidFill>
                  <a:srgbClr val="1A1A1A"/>
                </a:solidFill>
                <a:latin typeface="Courier New"/>
              </a:rPr>
              <a:t>const unsigned long BLINK_MS = 500;</a:t>
            </a:r>
            <a:r>
              <a:rPr sz="1700" b="0" i="0">
                <a:solidFill>
                  <a:srgbClr val="1A1A1A"/>
                </a:solidFill>
                <a:latin typeface="Arial"/>
              </a:rPr>
              <a:t> to </a:t>
            </a:r>
            <a:r>
              <a:rPr sz="1614" b="0" i="0">
                <a:solidFill>
                  <a:srgbClr val="1A1A1A"/>
                </a:solidFill>
                <a:latin typeface="Courier New"/>
              </a:rPr>
              <a:t>100</a:t>
            </a:r>
            <a:r>
              <a:rPr sz="1700" b="0" i="0">
                <a:solidFill>
                  <a:srgbClr val="1A1A1A"/>
                </a:solidFill>
                <a:latin typeface="Arial"/>
              </a:rPr>
              <a:t>, upload again. Then </a:t>
            </a:r>
            <a:r>
              <a:rPr sz="1614" b="0" i="0">
                <a:solidFill>
                  <a:srgbClr val="1A1A1A"/>
                </a:solidFill>
                <a:latin typeface="Courier New"/>
              </a:rPr>
              <a:t>2000</a:t>
            </a:r>
            <a:r>
              <a:rPr sz="1700" b="0" i="0">
                <a:solidFill>
                  <a:srgbClr val="1A1A1A"/>
                </a:solidFill>
                <a:latin typeface="Arial"/>
              </a:rPr>
              <a:t>.</a:t>
            </a:r>
          </a:p>
          <a:p>
            <a:pPr>
              <a:spcAft>
                <a:spcPts val="600"/>
              </a:spcAft>
            </a:pPr>
            <a:r>
              <a:rPr sz="1700" b="0" i="0">
                <a:solidFill>
                  <a:srgbClr val="595959"/>
                </a:solidFill>
                <a:latin typeface="Arial"/>
              </a:rPr>
              <a:t>6.  </a:t>
            </a:r>
            <a:r>
              <a:rPr sz="1700" b="0" i="0">
                <a:solidFill>
                  <a:srgbClr val="1A1A1A"/>
                </a:solidFill>
                <a:latin typeface="Arial"/>
              </a:rPr>
              <a:t>Open </a:t>
            </a:r>
            <a:r>
              <a:rPr sz="1700" b="1" i="0">
                <a:solidFill>
                  <a:srgbClr val="1A1A1A"/>
                </a:solidFill>
                <a:latin typeface="Arial"/>
              </a:rPr>
              <a:t>Serial Monitor</a:t>
            </a:r>
            <a:r>
              <a:rPr sz="1700" b="0" i="0">
                <a:solidFill>
                  <a:srgbClr val="1A1A1A"/>
                </a:solidFill>
                <a:latin typeface="Arial"/>
              </a:rPr>
              <a:t> (icon top-right), set </a:t>
            </a:r>
            <a:r>
              <a:rPr sz="1700" b="1" i="0">
                <a:solidFill>
                  <a:srgbClr val="1A1A1A"/>
                </a:solidFill>
                <a:latin typeface="Arial"/>
              </a:rPr>
              <a:t>115200 baud</a:t>
            </a:r>
            <a:r>
              <a:rPr sz="1700" b="0" i="0">
                <a:solidFill>
                  <a:srgbClr val="1A1A1A"/>
                </a:solidFill>
                <a:latin typeface="Arial"/>
              </a:rPr>
              <a:t>. You should see the line </a:t>
            </a:r>
            <a:r>
              <a:rPr sz="1614" b="0" i="0">
                <a:solidFill>
                  <a:srgbClr val="1A1A1A"/>
                </a:solidFill>
                <a:latin typeface="Courier New"/>
              </a:rPr>
              <a:t>[ESP32-1] Task 1: blink</a:t>
            </a:r>
            <a:r>
              <a:rPr sz="1700" b="0" i="0">
                <a:solidFill>
                  <a:srgbClr val="1A1A1A"/>
                </a:solidFill>
                <a:latin typeface="Arial"/>
              </a:rPr>
              <a:t>.</a:t>
            </a:r>
          </a:p>
        </p:txBody>
      </p:sp>
      <p:sp>
        <p:nvSpPr>
          <p:cNvPr id="8" name="TextBox 7"/>
          <p:cNvSpPr txBox="1"/>
          <p:nvPr/>
        </p:nvSpPr>
        <p:spPr>
          <a:xfrm>
            <a:off x="685800" y="4609592"/>
            <a:ext cx="10820095" cy="346202"/>
          </a:xfrm>
          <a:prstGeom prst="rect">
            <a:avLst/>
          </a:prstGeom>
          <a:noFill/>
        </p:spPr>
        <p:txBody>
          <a:bodyPr wrap="square" anchor="t" lIns="0" rIns="0" tIns="18288" bIns="18288">
            <a:spAutoFit/>
          </a:bodyPr>
          <a:lstStyle/>
          <a:p>
            <a:r>
              <a:rPr sz="1700" b="1" i="0">
                <a:solidFill>
                  <a:srgbClr val="1A1A1A"/>
                </a:solidFill>
                <a:latin typeface="Arial"/>
              </a:rPr>
              <a:t>Check:</a:t>
            </a:r>
            <a:r>
              <a:rPr sz="1700" b="0" i="0">
                <a:solidFill>
                  <a:srgbClr val="1A1A1A"/>
                </a:solidFill>
                <a:latin typeface="Arial"/>
              </a:rPr>
              <a:t> the LED blinks at a rate you chose, and the Serial Monitor shows the start-up line.</a:t>
            </a:r>
          </a:p>
        </p:txBody>
      </p:sp>
      <p:sp>
        <p:nvSpPr>
          <p:cNvPr id="9" name="TextBox 8"/>
          <p:cNvSpPr txBox="1"/>
          <p:nvPr/>
        </p:nvSpPr>
        <p:spPr>
          <a:xfrm>
            <a:off x="685800" y="5156962"/>
            <a:ext cx="10820095" cy="541020"/>
          </a:xfrm>
          <a:prstGeom prst="rect">
            <a:avLst/>
          </a:prstGeom>
          <a:noFill/>
        </p:spPr>
        <p:txBody>
          <a:bodyPr wrap="square" anchor="t" lIns="0" rIns="0" tIns="18288" bIns="18288">
            <a:spAutoFit/>
          </a:bodyPr>
          <a:lstStyle/>
          <a:p>
            <a:r>
              <a:rPr sz="1500" b="0" i="0">
                <a:solidFill>
                  <a:srgbClr val="595959"/>
                </a:solidFill>
                <a:latin typeface="Arial"/>
              </a:rPr>
              <a:t>If you finish early: make it blink SOS (three short, three long, three short); make a heartbeat (two quick blinks, pause); change the colour: </a:t>
            </a:r>
            <a:r>
              <a:rPr sz="1425" b="0" i="0">
                <a:solidFill>
                  <a:srgbClr val="595959"/>
                </a:solidFill>
                <a:latin typeface="Courier New"/>
              </a:rPr>
              <a:t>rgbLedWrite(LED_PIN, 40, 0, 0)</a:t>
            </a:r>
            <a:r>
              <a:rPr sz="1500" b="0" i="0">
                <a:solidFill>
                  <a:srgbClr val="595959"/>
                </a:solidFill>
                <a:latin typeface="Arial"/>
              </a:rPr>
              <a:t> is red; ramp the brightness 0 → 40 → 0 in a loop.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0"/>
            <a:ext cx="7315200" cy="274320"/>
          </a:xfrm>
          <a:prstGeom prst="rect">
            <a:avLst/>
          </a:prstGeom>
          <a:noFill/>
        </p:spPr>
        <p:txBody>
          <a:bodyPr wrap="square" anchor="t" lIns="0" rIns="0" tIns="18288" bIns="18288">
            <a:spAutoFit/>
          </a:bodyPr>
          <a:lstStyle/>
          <a:p>
            <a:pPr algn="l"/>
            <a:r>
              <a:rPr sz="1000" b="0" i="0">
                <a:solidFill>
                  <a:srgbClr val="595959"/>
                </a:solidFill>
                <a:latin typeface="Arial"/>
              </a:rPr>
              <a:t>HackHardware · Getting started with the ESP32</a:t>
            </a:r>
          </a:p>
        </p:txBody>
      </p:sp>
      <p:sp>
        <p:nvSpPr>
          <p:cNvPr id="3" name="TextBox 2"/>
          <p:cNvSpPr txBox="1"/>
          <p:nvPr/>
        </p:nvSpPr>
        <p:spPr>
          <a:xfrm>
            <a:off x="10134295" y="6400800"/>
            <a:ext cx="1371600" cy="274320"/>
          </a:xfrm>
          <a:prstGeom prst="rect">
            <a:avLst/>
          </a:prstGeom>
          <a:noFill/>
        </p:spPr>
        <p:txBody>
          <a:bodyPr wrap="square" anchor="t" lIns="0" rIns="0" tIns="18288" bIns="18288">
            <a:spAutoFit/>
          </a:bodyPr>
          <a:lstStyle/>
          <a:p>
            <a:pPr algn="r"/>
            <a:r>
              <a:rPr sz="1000" b="0" i="0">
                <a:solidFill>
                  <a:srgbClr val="595959"/>
                </a:solidFill>
                <a:latin typeface="Arial"/>
              </a:rPr>
              <a:t>15</a:t>
            </a:r>
          </a:p>
        </p:txBody>
      </p:sp>
      <p:sp>
        <p:nvSpPr>
          <p:cNvPr id="4" name="TextBox 3"/>
          <p:cNvSpPr txBox="1"/>
          <p:nvPr/>
        </p:nvSpPr>
        <p:spPr>
          <a:xfrm>
            <a:off x="685800" y="457200"/>
            <a:ext cx="10820095" cy="822960"/>
          </a:xfrm>
          <a:prstGeom prst="rect">
            <a:avLst/>
          </a:prstGeom>
          <a:noFill/>
        </p:spPr>
        <p:txBody>
          <a:bodyPr wrap="square" anchor="b" lIns="0" rIns="0" tIns="18288" bIns="18288">
            <a:spAutoFit/>
          </a:bodyPr>
          <a:lstStyle/>
          <a:p>
            <a:pPr algn="l"/>
            <a:r>
              <a:rPr sz="3000" b="1" i="0">
                <a:solidFill>
                  <a:srgbClr val="1A1A1A"/>
                </a:solidFill>
                <a:latin typeface="Arial"/>
              </a:rPr>
              <a:t>What digitalWrite does, and why the LED needs more</a:t>
            </a:r>
          </a:p>
        </p:txBody>
      </p:sp>
      <p:cxnSp>
        <p:nvCxnSpPr>
          <p:cNvPr id="5" name="Connector 4"/>
          <p:cNvCxnSpPr/>
          <p:nvPr/>
        </p:nvCxnSpPr>
        <p:spPr>
          <a:xfrm>
            <a:off x="685800" y="1298448"/>
            <a:ext cx="10820095" cy="0"/>
          </a:xfrm>
          <a:prstGeom prst="line">
            <a:avLst/>
          </a:prstGeom>
          <a:ln w="9525">
            <a:solidFill>
              <a:srgbClr val="BFBFBF"/>
            </a:solidFill>
          </a:ln>
        </p:spPr>
      </p:cxnSp>
      <p:sp>
        <p:nvSpPr>
          <p:cNvPr id="6" name="Rectangle 5"/>
          <p:cNvSpPr/>
          <p:nvPr/>
        </p:nvSpPr>
        <p:spPr>
          <a:xfrm>
            <a:off x="685800" y="1417320"/>
            <a:ext cx="6309177" cy="1952752"/>
          </a:xfrm>
          <a:prstGeom prst="rect">
            <a:avLst/>
          </a:prstGeom>
          <a:solidFill>
            <a:srgbClr val="F2F2F2"/>
          </a:solidFill>
          <a:ln>
            <a:noFill/>
          </a:ln>
          <a:effectLst/>
        </p:spPr>
        <p:txBody>
          <a:bodyPr rtlCol="0" anchor="ctr"/>
          <a:lstStyle/>
          <a:p>
            <a:pPr algn="ctr"/>
          </a:p>
        </p:txBody>
      </p:sp>
      <p:sp>
        <p:nvSpPr>
          <p:cNvPr id="7" name="TextBox 6"/>
          <p:cNvSpPr txBox="1"/>
          <p:nvPr/>
        </p:nvSpPr>
        <p:spPr>
          <a:xfrm>
            <a:off x="822960" y="1527048"/>
            <a:ext cx="6034857" cy="1769872"/>
          </a:xfrm>
          <a:prstGeom prst="rect">
            <a:avLst/>
          </a:prstGeom>
          <a:noFill/>
        </p:spPr>
        <p:txBody>
          <a:bodyPr wrap="square" anchor="t" lIns="0" rIns="0" tIns="18288" bIns="18288">
            <a:spAutoFit/>
          </a:bodyPr>
          <a:lstStyle/>
          <a:p>
            <a:pPr>
              <a:spcAft>
                <a:spcPts val="0"/>
              </a:spcAft>
            </a:pPr>
            <a:r>
              <a:rPr sz="1330" b="0" i="0">
                <a:solidFill>
                  <a:srgbClr val="1A1A1A"/>
                </a:solidFill>
                <a:latin typeface="Courier New"/>
              </a:rPr>
              <a:t/>
            </a:r>
            <a:r>
              <a:rPr sz="1330" b="0" i="0">
                <a:solidFill>
                  <a:srgbClr val="595959"/>
                </a:solidFill>
                <a:latin typeface="Courier New"/>
              </a:rPr>
              <a:t>// a plain LED, e.g. on a spare pin with a resistor:</a:t>
            </a:r>
          </a:p>
          <a:p>
            <a:pPr>
              <a:spcAft>
                <a:spcPts val="0"/>
              </a:spcAft>
            </a:pPr>
            <a:r>
              <a:rPr sz="1330" b="0" i="0">
                <a:solidFill>
                  <a:srgbClr val="1A1A1A"/>
                </a:solidFill>
                <a:latin typeface="Courier New"/>
              </a:rPr>
              <a:t>pinMode(pin, OUTPUT);      </a:t>
            </a:r>
            <a:r>
              <a:rPr sz="1330" b="0" i="0">
                <a:solidFill>
                  <a:srgbClr val="595959"/>
                </a:solidFill>
                <a:latin typeface="Courier New"/>
              </a:rPr>
              <a:t>// enable output driver</a:t>
            </a:r>
          </a:p>
          <a:p>
            <a:pPr>
              <a:spcAft>
                <a:spcPts val="0"/>
              </a:spcAft>
            </a:pPr>
            <a:r>
              <a:rPr sz="1330" b="0" i="0">
                <a:solidFill>
                  <a:srgbClr val="1A1A1A"/>
                </a:solidFill>
                <a:latin typeface="Courier New"/>
              </a:rPr>
              <a:t>digitalWrite(pin, HIGH);   </a:t>
            </a:r>
            <a:r>
              <a:rPr sz="1330" b="0" i="0">
                <a:solidFill>
                  <a:srgbClr val="595959"/>
                </a:solidFill>
                <a:latin typeface="Courier New"/>
              </a:rPr>
              <a:t>// pin -&gt; 3.3 V</a:t>
            </a:r>
          </a:p>
          <a:p>
            <a:pPr>
              <a:spcAft>
                <a:spcPts val="0"/>
              </a:spcAft>
            </a:pPr>
            <a:r>
              <a:rPr sz="1330" b="0" i="0">
                <a:solidFill>
                  <a:srgbClr val="1A1A1A"/>
                </a:solidFill>
                <a:latin typeface="Courier New"/>
              </a:rPr>
              <a:t>digitalWrite(pin, LOW);    </a:t>
            </a:r>
            <a:r>
              <a:rPr sz="1330" b="0" i="0">
                <a:solidFill>
                  <a:srgbClr val="595959"/>
                </a:solidFill>
                <a:latin typeface="Courier New"/>
              </a:rPr>
              <a:t>// pin -&gt; 0 V</a:t>
            </a:r>
          </a:p>
          <a:p>
            <a:pPr>
              <a:spcAft>
                <a:spcPts val="0"/>
              </a:spcAft>
            </a:pPr>
            <a:r>
              <a:rPr sz="1330" b="0" i="0">
                <a:solidFill>
                  <a:srgbClr val="1A1A1A"/>
                </a:solidFill>
                <a:latin typeface="Courier New"/>
              </a:rPr>
              <a:t> </a:t>
            </a:r>
          </a:p>
          <a:p>
            <a:pPr>
              <a:spcAft>
                <a:spcPts val="0"/>
              </a:spcAft>
            </a:pPr>
            <a:r>
              <a:rPr sz="1330" b="0" i="0">
                <a:solidFill>
                  <a:srgbClr val="1A1A1A"/>
                </a:solidFill>
                <a:latin typeface="Courier New"/>
              </a:rPr>
              <a:t/>
            </a:r>
            <a:r>
              <a:rPr sz="1330" b="0" i="0">
                <a:solidFill>
                  <a:srgbClr val="595959"/>
                </a:solidFill>
                <a:latin typeface="Courier New"/>
              </a:rPr>
              <a:t>// the board's RGB LED (WS2812): one data pin,</a:t>
            </a:r>
          </a:p>
          <a:p>
            <a:pPr>
              <a:spcAft>
                <a:spcPts val="0"/>
              </a:spcAft>
            </a:pPr>
            <a:r>
              <a:rPr sz="1330" b="0" i="0">
                <a:solidFill>
                  <a:srgbClr val="1A1A1A"/>
                </a:solidFill>
                <a:latin typeface="Courier New"/>
              </a:rPr>
              <a:t/>
            </a:r>
            <a:r>
              <a:rPr sz="1330" b="0" i="0">
                <a:solidFill>
                  <a:srgbClr val="595959"/>
                </a:solidFill>
                <a:latin typeface="Courier New"/>
              </a:rPr>
              <a:t>// 24 bits per LED, each bit an 800 kHz pulse</a:t>
            </a:r>
          </a:p>
          <a:p>
            <a:pPr>
              <a:spcAft>
                <a:spcPts val="0"/>
              </a:spcAft>
            </a:pPr>
            <a:r>
              <a:rPr sz="1330" b="0" i="0">
                <a:solidFill>
                  <a:srgbClr val="1A1A1A"/>
                </a:solidFill>
                <a:latin typeface="Courier New"/>
              </a:rPr>
              <a:t>rgbLedWrite(LED_PIN, r, g, b);  </a:t>
            </a:r>
            <a:r>
              <a:rPr sz="1330" b="0" i="0">
                <a:solidFill>
                  <a:srgbClr val="595959"/>
                </a:solidFill>
                <a:latin typeface="Courier New"/>
              </a:rPr>
              <a:t>// 0..255 each</a:t>
            </a:r>
          </a:p>
        </p:txBody>
      </p:sp>
      <p:sp>
        <p:nvSpPr>
          <p:cNvPr id="8" name="TextBox 7"/>
          <p:cNvSpPr txBox="1"/>
          <p:nvPr/>
        </p:nvSpPr>
        <p:spPr>
          <a:xfrm>
            <a:off x="685800" y="3443224"/>
            <a:ext cx="6309177" cy="2662935"/>
          </a:xfrm>
          <a:prstGeom prst="rect">
            <a:avLst/>
          </a:prstGeom>
          <a:noFill/>
        </p:spPr>
        <p:txBody>
          <a:bodyPr wrap="square" anchor="t" lIns="0" rIns="0" tIns="18288" bIns="18288">
            <a:spAutoFit/>
          </a:bodyPr>
          <a:lstStyle/>
          <a:p>
            <a:pPr>
              <a:spcAft>
                <a:spcPts val="500"/>
              </a:spcAft>
            </a:pPr>
            <a:r>
              <a:rPr sz="1600" b="0" i="0">
                <a:solidFill>
                  <a:srgbClr val="595959"/>
                </a:solidFill>
                <a:latin typeface="Arial"/>
              </a:rPr>
              <a:t>–  </a:t>
            </a:r>
            <a:r>
              <a:rPr sz="1520" b="0" i="0">
                <a:solidFill>
                  <a:srgbClr val="1A1A1A"/>
                </a:solidFill>
                <a:latin typeface="Courier New"/>
              </a:rPr>
              <a:t>pinMode</a:t>
            </a:r>
            <a:r>
              <a:rPr sz="1600" b="0" i="0">
                <a:solidFill>
                  <a:srgbClr val="1A1A1A"/>
                </a:solidFill>
                <a:latin typeface="Arial"/>
              </a:rPr>
              <a:t> routes the pin through the </a:t>
            </a:r>
            <a:r>
              <a:rPr sz="1600" b="1" i="0">
                <a:solidFill>
                  <a:srgbClr val="1A1A1A"/>
                </a:solidFill>
                <a:latin typeface="Arial"/>
              </a:rPr>
              <a:t>GPIO matrix</a:t>
            </a:r>
            <a:r>
              <a:rPr sz="1600" b="0" i="0">
                <a:solidFill>
                  <a:srgbClr val="1A1A1A"/>
                </a:solidFill>
                <a:latin typeface="Arial"/>
              </a:rPr>
              <a:t> to the output driver. Any peripheral can be routed to almost any pin; no fixed “PWM pins” like an Arduino Uno.</a:t>
            </a:r>
          </a:p>
          <a:p>
            <a:pPr>
              <a:spcAft>
                <a:spcPts val="500"/>
              </a:spcAft>
            </a:pPr>
            <a:r>
              <a:rPr sz="1600" b="0" i="0">
                <a:solidFill>
                  <a:srgbClr val="595959"/>
                </a:solidFill>
                <a:latin typeface="Arial"/>
              </a:rPr>
              <a:t>–  </a:t>
            </a:r>
            <a:r>
              <a:rPr sz="1520" b="0" i="0">
                <a:solidFill>
                  <a:srgbClr val="1A1A1A"/>
                </a:solidFill>
                <a:latin typeface="Courier New"/>
              </a:rPr>
              <a:t>digitalWrite</a:t>
            </a:r>
            <a:r>
              <a:rPr sz="1600" b="0" i="0">
                <a:solidFill>
                  <a:srgbClr val="1A1A1A"/>
                </a:solidFill>
                <a:latin typeface="Arial"/>
              </a:rPr>
              <a:t> writes one bit in the </a:t>
            </a:r>
            <a:r>
              <a:rPr sz="1520" b="0" i="0">
                <a:solidFill>
                  <a:srgbClr val="1A1A1A"/>
                </a:solidFill>
                <a:latin typeface="Courier New"/>
              </a:rPr>
              <a:t>GPIO_OUT</a:t>
            </a:r>
            <a:r>
              <a:rPr sz="1600" b="0" i="0">
                <a:solidFill>
                  <a:srgbClr val="1A1A1A"/>
                </a:solidFill>
                <a:latin typeface="Arial"/>
              </a:rPr>
              <a:t> register, about 100 ns.</a:t>
            </a:r>
          </a:p>
          <a:p>
            <a:pPr>
              <a:spcAft>
                <a:spcPts val="500"/>
              </a:spcAft>
            </a:pPr>
            <a:r>
              <a:rPr sz="1600" b="0" i="0">
                <a:solidFill>
                  <a:srgbClr val="595959"/>
                </a:solidFill>
                <a:latin typeface="Arial"/>
              </a:rPr>
              <a:t>–  </a:t>
            </a:r>
            <a:r>
              <a:rPr sz="1600" b="0" i="0">
                <a:solidFill>
                  <a:srgbClr val="1A1A1A"/>
                </a:solidFill>
                <a:latin typeface="Arial"/>
              </a:rPr>
              <a:t>The RGB LED has its own tiny controller. It wants 24 bits (G, R, B) as pulses of 0.4 or 0.8 µs. Too fast for </a:t>
            </a:r>
            <a:r>
              <a:rPr sz="1520" b="0" i="0">
                <a:solidFill>
                  <a:srgbClr val="1A1A1A"/>
                </a:solidFill>
                <a:latin typeface="Courier New"/>
              </a:rPr>
              <a:t>digitalWrite</a:t>
            </a:r>
            <a:r>
              <a:rPr sz="1600" b="0" i="0">
                <a:solidFill>
                  <a:srgbClr val="1A1A1A"/>
                </a:solidFill>
                <a:latin typeface="Arial"/>
              </a:rPr>
              <a:t> in a loop, so </a:t>
            </a:r>
            <a:r>
              <a:rPr sz="1520" b="0" i="0">
                <a:solidFill>
                  <a:srgbClr val="1A1A1A"/>
                </a:solidFill>
                <a:latin typeface="Courier New"/>
              </a:rPr>
              <a:t>rgbLedWrite</a:t>
            </a:r>
            <a:r>
              <a:rPr sz="1600" b="0" i="0">
                <a:solidFill>
                  <a:srgbClr val="1A1A1A"/>
                </a:solidFill>
                <a:latin typeface="Arial"/>
              </a:rPr>
              <a:t> hands the job to the </a:t>
            </a:r>
            <a:r>
              <a:rPr sz="1600" b="1" i="0">
                <a:solidFill>
                  <a:srgbClr val="1A1A1A"/>
                </a:solidFill>
                <a:latin typeface="Arial"/>
              </a:rPr>
              <a:t>RMT</a:t>
            </a:r>
            <a:r>
              <a:rPr sz="1600" b="0" i="0">
                <a:solidFill>
                  <a:srgbClr val="1A1A1A"/>
                </a:solidFill>
                <a:latin typeface="Arial"/>
              </a:rPr>
              <a:t> peripheral, which plays the waveform from hardware.</a:t>
            </a:r>
          </a:p>
          <a:p>
            <a:pPr>
              <a:spcAft>
                <a:spcPts val="500"/>
              </a:spcAft>
            </a:pPr>
            <a:r>
              <a:rPr sz="1600" b="0" i="0">
                <a:solidFill>
                  <a:srgbClr val="595959"/>
                </a:solidFill>
                <a:latin typeface="Arial"/>
              </a:rPr>
              <a:t>–  </a:t>
            </a:r>
            <a:r>
              <a:rPr sz="1600" b="0" i="0">
                <a:solidFill>
                  <a:srgbClr val="1A1A1A"/>
                </a:solidFill>
                <a:latin typeface="Arial"/>
              </a:rPr>
              <a:t>An external plain LED needs a resistor: 220–330 Ω at 3.3 V.</a:t>
            </a:r>
          </a:p>
        </p:txBody>
      </p:sp>
      <p:graphicFrame>
        <p:nvGraphicFramePr>
          <p:cNvPr id="9" name="Table 8"/>
          <p:cNvGraphicFramePr>
            <a:graphicFrameLocks noGrp="1"/>
          </p:cNvGraphicFramePr>
          <p:nvPr/>
        </p:nvGraphicFramePr>
        <p:xfrm>
          <a:off x="7360737" y="1417320"/>
          <a:ext cx="4145157" cy="2574544"/>
        </p:xfrm>
        <a:graphic>
          <a:graphicData uri="http://schemas.openxmlformats.org/drawingml/2006/table">
            <a:tbl>
              <a:tblPr firstRow="1" bandRow="0">
                <a:tableStyleId>{2D5ABB26-0587-4C30-8999-92F81FD0307C}</a:tableStyleId>
              </a:tblPr>
              <a:tblGrid>
                <a:gridCol w="1865321"/>
                <a:gridCol w="2279836"/>
              </a:tblGrid>
              <a:tr h="367792">
                <a:tc>
                  <a:txBody>
                    <a:bodyPr wrap="square"/>
                    <a:lstStyle/>
                    <a:p>
                      <a:r>
                        <a:rPr sz="1600" b="1" i="0">
                          <a:solidFill>
                            <a:srgbClr val="1A1A1A"/>
                          </a:solidFill>
                          <a:latin typeface="Arial"/>
                        </a:rPr>
                        <a:t>Call</a:t>
                      </a:r>
                    </a:p>
                  </a:txBody>
                  <a:tcPr marL="73152" marR="73152" marT="27432" marB="27432" anchor="ctr">
                    <a:solidFill>
                      <a:srgbClr val="F2F2F2"/>
                    </a:solidFill>
                    <a:lnB w="9525" cap="flat" cmpd="sng" algn="ctr">
                      <a:solidFill>
                        <a:srgbClr val="BFBFBF"/>
                      </a:solidFill>
                      <a:prstDash val="solid"/>
                    </a:lnB>
                    <a:lnT w="9525"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600" b="1" i="0">
                          <a:solidFill>
                            <a:srgbClr val="1A1A1A"/>
                          </a:solidFill>
                          <a:latin typeface="Arial"/>
                        </a:rPr>
                        <a:t>Register-level effect</a:t>
                      </a:r>
                    </a:p>
                  </a:txBody>
                  <a:tcPr marL="73152" marR="73152" marT="27432" marB="27432" anchor="ctr">
                    <a:solidFill>
                      <a:srgbClr val="F2F2F2"/>
                    </a:solidFill>
                    <a:lnB w="9525" cap="flat" cmpd="sng" algn="ctr">
                      <a:solidFill>
                        <a:srgbClr val="BFBFBF"/>
                      </a:solidFill>
                      <a:prstDash val="solid"/>
                    </a:lnB>
                    <a:lnT w="9525"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67792">
                <a:tc>
                  <a:txBody>
                    <a:bodyPr wrap="square"/>
                    <a:lstStyle/>
                    <a:p>
                      <a:r>
                        <a:rPr sz="1520" b="0" i="0">
                          <a:solidFill>
                            <a:srgbClr val="1A1A1A"/>
                          </a:solidFill>
                          <a:latin typeface="Courier New"/>
                        </a:rPr>
                        <a:t>pinMode(p, OUTPUT)</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600" b="0" i="0">
                          <a:solidFill>
                            <a:srgbClr val="1A1A1A"/>
                          </a:solidFill>
                          <a:latin typeface="Arial"/>
                        </a:rPr>
                        <a:t>enable output driver, route GPIO signal to pad</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67792">
                <a:tc>
                  <a:txBody>
                    <a:bodyPr wrap="square"/>
                    <a:lstStyle/>
                    <a:p>
                      <a:r>
                        <a:rPr sz="1520" b="0" i="0">
                          <a:solidFill>
                            <a:srgbClr val="1A1A1A"/>
                          </a:solidFill>
                          <a:latin typeface="Courier New"/>
                        </a:rPr>
                        <a:t>pinMode(p, INPUT)</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600" b="0" i="0">
                          <a:solidFill>
                            <a:srgbClr val="1A1A1A"/>
                          </a:solidFill>
                          <a:latin typeface="Arial"/>
                        </a:rPr>
                        <a:t>disable driver, enable input buffer</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67792">
                <a:tc>
                  <a:txBody>
                    <a:bodyPr wrap="square"/>
                    <a:lstStyle/>
                    <a:p>
                      <a:r>
                        <a:rPr sz="1520" b="0" i="0">
                          <a:solidFill>
                            <a:srgbClr val="1A1A1A"/>
                          </a:solidFill>
                          <a:latin typeface="Courier New"/>
                        </a:rPr>
                        <a:t>pinMode(p, INPUT_PULLUP)</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600" b="0" i="0">
                          <a:solidFill>
                            <a:srgbClr val="1A1A1A"/>
                          </a:solidFill>
                          <a:latin typeface="Arial"/>
                        </a:rPr>
                        <a:t>as INPUT, plus 45 kΩ to 3.3 V</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67792">
                <a:tc>
                  <a:txBody>
                    <a:bodyPr wrap="square"/>
                    <a:lstStyle/>
                    <a:p>
                      <a:r>
                        <a:rPr sz="1520" b="0" i="0">
                          <a:solidFill>
                            <a:srgbClr val="1A1A1A"/>
                          </a:solidFill>
                          <a:latin typeface="Courier New"/>
                        </a:rPr>
                        <a:t>digitalWrite(p, HIGH)</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600" b="0" i="0">
                          <a:solidFill>
                            <a:srgbClr val="1A1A1A"/>
                          </a:solidFill>
                          <a:latin typeface="Arial"/>
                        </a:rPr>
                        <a:t>set bit p in </a:t>
                      </a:r>
                      <a:r>
                        <a:rPr sz="1520" b="0" i="0">
                          <a:solidFill>
                            <a:srgbClr val="1A1A1A"/>
                          </a:solidFill>
                          <a:latin typeface="Courier New"/>
                        </a:rPr>
                        <a:t>GPIO_OUT_W1TS</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67792">
                <a:tc>
                  <a:txBody>
                    <a:bodyPr wrap="square"/>
                    <a:lstStyle/>
                    <a:p>
                      <a:r>
                        <a:rPr sz="1520" b="0" i="0">
                          <a:solidFill>
                            <a:srgbClr val="1A1A1A"/>
                          </a:solidFill>
                          <a:latin typeface="Courier New"/>
                        </a:rPr>
                        <a:t>digitalWrite(p, LOW)</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600" b="0" i="0">
                          <a:solidFill>
                            <a:srgbClr val="1A1A1A"/>
                          </a:solidFill>
                          <a:latin typeface="Arial"/>
                        </a:rPr>
                        <a:t>set bit p in </a:t>
                      </a:r>
                      <a:r>
                        <a:rPr sz="1520" b="0" i="0">
                          <a:solidFill>
                            <a:srgbClr val="1A1A1A"/>
                          </a:solidFill>
                          <a:latin typeface="Courier New"/>
                        </a:rPr>
                        <a:t>GPIO_OUT_W1TC</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67792">
                <a:tc>
                  <a:txBody>
                    <a:bodyPr wrap="square"/>
                    <a:lstStyle/>
                    <a:p>
                      <a:r>
                        <a:rPr sz="1520" b="0" i="0">
                          <a:solidFill>
                            <a:srgbClr val="1A1A1A"/>
                          </a:solidFill>
                          <a:latin typeface="Courier New"/>
                        </a:rPr>
                        <a:t>digitalRead(p)</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600" b="0" i="0">
                          <a:solidFill>
                            <a:srgbClr val="1A1A1A"/>
                          </a:solidFill>
                          <a:latin typeface="Arial"/>
                        </a:rPr>
                        <a:t>read bit p of </a:t>
                      </a:r>
                      <a:r>
                        <a:rPr sz="1520" b="0" i="0">
                          <a:solidFill>
                            <a:srgbClr val="1A1A1A"/>
                          </a:solidFill>
                          <a:latin typeface="Courier New"/>
                        </a:rPr>
                        <a:t>GPIO_IN</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0"/>
            <a:ext cx="7315200" cy="274320"/>
          </a:xfrm>
          <a:prstGeom prst="rect">
            <a:avLst/>
          </a:prstGeom>
          <a:noFill/>
        </p:spPr>
        <p:txBody>
          <a:bodyPr wrap="square" anchor="t" lIns="0" rIns="0" tIns="18288" bIns="18288">
            <a:spAutoFit/>
          </a:bodyPr>
          <a:lstStyle/>
          <a:p>
            <a:pPr algn="l"/>
            <a:r>
              <a:rPr sz="1000" b="0" i="0">
                <a:solidFill>
                  <a:srgbClr val="595959"/>
                </a:solidFill>
                <a:latin typeface="Arial"/>
              </a:rPr>
              <a:t>HackHardware · Getting started with the ESP32</a:t>
            </a:r>
          </a:p>
        </p:txBody>
      </p:sp>
      <p:sp>
        <p:nvSpPr>
          <p:cNvPr id="3" name="TextBox 2"/>
          <p:cNvSpPr txBox="1"/>
          <p:nvPr/>
        </p:nvSpPr>
        <p:spPr>
          <a:xfrm>
            <a:off x="10134295" y="6400800"/>
            <a:ext cx="1371600" cy="274320"/>
          </a:xfrm>
          <a:prstGeom prst="rect">
            <a:avLst/>
          </a:prstGeom>
          <a:noFill/>
        </p:spPr>
        <p:txBody>
          <a:bodyPr wrap="square" anchor="t" lIns="0" rIns="0" tIns="18288" bIns="18288">
            <a:spAutoFit/>
          </a:bodyPr>
          <a:lstStyle/>
          <a:p>
            <a:pPr algn="r"/>
            <a:r>
              <a:rPr sz="1000" b="0" i="0">
                <a:solidFill>
                  <a:srgbClr val="595959"/>
                </a:solidFill>
                <a:latin typeface="Arial"/>
              </a:rPr>
              <a:t>16</a:t>
            </a:r>
          </a:p>
        </p:txBody>
      </p:sp>
      <p:sp>
        <p:nvSpPr>
          <p:cNvPr id="4" name="TextBox 3"/>
          <p:cNvSpPr txBox="1"/>
          <p:nvPr/>
        </p:nvSpPr>
        <p:spPr>
          <a:xfrm>
            <a:off x="685800" y="457200"/>
            <a:ext cx="10820095" cy="822960"/>
          </a:xfrm>
          <a:prstGeom prst="rect">
            <a:avLst/>
          </a:prstGeom>
          <a:noFill/>
        </p:spPr>
        <p:txBody>
          <a:bodyPr wrap="square" anchor="b" lIns="0" rIns="0" tIns="18288" bIns="18288">
            <a:spAutoFit/>
          </a:bodyPr>
          <a:lstStyle/>
          <a:p>
            <a:pPr algn="l"/>
            <a:r>
              <a:rPr sz="3000" b="1" i="0">
                <a:solidFill>
                  <a:srgbClr val="1A1A1A"/>
                </a:solidFill>
                <a:latin typeface="Arial"/>
              </a:rPr>
              <a:t>Task 2: Serial output and a button</a:t>
            </a:r>
          </a:p>
        </p:txBody>
      </p:sp>
      <p:cxnSp>
        <p:nvCxnSpPr>
          <p:cNvPr id="5" name="Connector 4"/>
          <p:cNvCxnSpPr/>
          <p:nvPr/>
        </p:nvCxnSpPr>
        <p:spPr>
          <a:xfrm>
            <a:off x="685800" y="1298448"/>
            <a:ext cx="10820095" cy="0"/>
          </a:xfrm>
          <a:prstGeom prst="line">
            <a:avLst/>
          </a:prstGeom>
          <a:ln w="9525">
            <a:solidFill>
              <a:srgbClr val="BFBFBF"/>
            </a:solidFill>
          </a:ln>
        </p:spPr>
      </p:cxnSp>
      <p:sp>
        <p:nvSpPr>
          <p:cNvPr id="6" name="TextBox 5"/>
          <p:cNvSpPr txBox="1"/>
          <p:nvPr/>
        </p:nvSpPr>
        <p:spPr>
          <a:xfrm>
            <a:off x="685800" y="1453896"/>
            <a:ext cx="10820095" cy="349503"/>
          </a:xfrm>
          <a:prstGeom prst="rect">
            <a:avLst/>
          </a:prstGeom>
          <a:noFill/>
        </p:spPr>
        <p:txBody>
          <a:bodyPr wrap="square" anchor="t" lIns="0" rIns="0" tIns="18288" bIns="18288">
            <a:spAutoFit/>
          </a:bodyPr>
          <a:lstStyle/>
          <a:p>
            <a:r>
              <a:rPr sz="1600" b="1" i="0">
                <a:solidFill>
                  <a:srgbClr val="1A1A1A"/>
                </a:solidFill>
                <a:latin typeface="Arial"/>
              </a:rPr>
              <a:t>Do this</a:t>
            </a:r>
          </a:p>
        </p:txBody>
      </p:sp>
      <p:sp>
        <p:nvSpPr>
          <p:cNvPr id="7" name="TextBox 6"/>
          <p:cNvSpPr txBox="1"/>
          <p:nvPr/>
        </p:nvSpPr>
        <p:spPr>
          <a:xfrm>
            <a:off x="685800" y="1858264"/>
            <a:ext cx="10820095" cy="2267966"/>
          </a:xfrm>
          <a:prstGeom prst="rect">
            <a:avLst/>
          </a:prstGeom>
          <a:noFill/>
        </p:spPr>
        <p:txBody>
          <a:bodyPr wrap="square" anchor="t" lIns="0" rIns="0" tIns="18288" bIns="18288">
            <a:spAutoFit/>
          </a:bodyPr>
          <a:lstStyle/>
          <a:p>
            <a:pPr>
              <a:spcAft>
                <a:spcPts val="600"/>
              </a:spcAft>
            </a:pPr>
            <a:r>
              <a:rPr sz="1700" b="0" i="0">
                <a:solidFill>
                  <a:srgbClr val="595959"/>
                </a:solidFill>
                <a:latin typeface="Arial"/>
              </a:rPr>
              <a:t>1.  </a:t>
            </a:r>
            <a:r>
              <a:rPr sz="1700" b="0" i="0">
                <a:solidFill>
                  <a:srgbClr val="1A1A1A"/>
                </a:solidFill>
                <a:latin typeface="Arial"/>
              </a:rPr>
              <a:t>Open </a:t>
            </a:r>
            <a:r>
              <a:rPr sz="1614" b="0" i="0">
                <a:solidFill>
                  <a:srgbClr val="1A1A1A"/>
                </a:solidFill>
                <a:latin typeface="Courier New"/>
              </a:rPr>
              <a:t>tasks/02_serial_button/02_serial_button.ino</a:t>
            </a:r>
            <a:r>
              <a:rPr sz="1700" b="0" i="0">
                <a:solidFill>
                  <a:srgbClr val="1A1A1A"/>
                </a:solidFill>
                <a:latin typeface="Arial"/>
              </a:rPr>
              <a:t>, </a:t>
            </a:r>
            <a:r>
              <a:rPr sz="1700" b="1" i="0">
                <a:solidFill>
                  <a:srgbClr val="1A1A1A"/>
                </a:solidFill>
                <a:latin typeface="Arial"/>
              </a:rPr>
              <a:t>Upload</a:t>
            </a:r>
            <a:r>
              <a:rPr sz="1700" b="0" i="0">
                <a:solidFill>
                  <a:srgbClr val="1A1A1A"/>
                </a:solidFill>
                <a:latin typeface="Arial"/>
              </a:rPr>
              <a:t>.</a:t>
            </a:r>
          </a:p>
          <a:p>
            <a:pPr>
              <a:spcAft>
                <a:spcPts val="600"/>
              </a:spcAft>
            </a:pPr>
            <a:r>
              <a:rPr sz="1700" b="0" i="0">
                <a:solidFill>
                  <a:srgbClr val="595959"/>
                </a:solidFill>
                <a:latin typeface="Arial"/>
              </a:rPr>
              <a:t>2.  </a:t>
            </a:r>
            <a:r>
              <a:rPr sz="1700" b="1" i="0">
                <a:solidFill>
                  <a:srgbClr val="1A1A1A"/>
                </a:solidFill>
                <a:latin typeface="Arial"/>
              </a:rPr>
              <a:t>Serial Monitor</a:t>
            </a:r>
            <a:r>
              <a:rPr sz="1700" b="0" i="0">
                <a:solidFill>
                  <a:srgbClr val="1A1A1A"/>
                </a:solidFill>
                <a:latin typeface="Arial"/>
              </a:rPr>
              <a:t>, 115200 baud. Once a second you get a line like
</a:t>
            </a:r>
            <a:r>
              <a:rPr sz="1614" b="0" i="0">
                <a:solidFill>
                  <a:srgbClr val="1A1A1A"/>
                </a:solidFill>
                <a:latin typeface="Courier New"/>
              </a:rPr>
              <a:t>t=12.3s temp=41.2C touch=24810 button=0 led=1</a:t>
            </a:r>
          </a:p>
          <a:p>
            <a:pPr>
              <a:spcAft>
                <a:spcPts val="600"/>
              </a:spcAft>
            </a:pPr>
            <a:r>
              <a:rPr sz="1700" b="0" i="0">
                <a:solidFill>
                  <a:srgbClr val="595959"/>
                </a:solidFill>
                <a:latin typeface="Arial"/>
              </a:rPr>
              <a:t>3.  </a:t>
            </a:r>
            <a:r>
              <a:rPr sz="1700" b="0" i="0">
                <a:solidFill>
                  <a:srgbClr val="1A1A1A"/>
                </a:solidFill>
                <a:latin typeface="Arial"/>
              </a:rPr>
              <a:t>Press </a:t>
            </a:r>
            <a:r>
              <a:rPr sz="1700" b="1" i="0">
                <a:solidFill>
                  <a:srgbClr val="1A1A1A"/>
                </a:solidFill>
                <a:latin typeface="Arial"/>
              </a:rPr>
              <a:t>BOOT</a:t>
            </a:r>
            <a:r>
              <a:rPr sz="1700" b="0" i="0">
                <a:solidFill>
                  <a:srgbClr val="1A1A1A"/>
                </a:solidFill>
                <a:latin typeface="Arial"/>
              </a:rPr>
              <a:t>. You should see </a:t>
            </a:r>
            <a:r>
              <a:rPr sz="1614" b="0" i="0">
                <a:solidFill>
                  <a:srgbClr val="1A1A1A"/>
                </a:solidFill>
                <a:latin typeface="Courier New"/>
              </a:rPr>
              <a:t>EVENT button pressed</a:t>
            </a:r>
            <a:r>
              <a:rPr sz="1700" b="0" i="0">
                <a:solidFill>
                  <a:srgbClr val="1A1A1A"/>
                </a:solidFill>
                <a:latin typeface="Arial"/>
              </a:rPr>
              <a:t> and the LED stops or starts blinking.</a:t>
            </a:r>
          </a:p>
          <a:p>
            <a:pPr>
              <a:spcAft>
                <a:spcPts val="600"/>
              </a:spcAft>
            </a:pPr>
            <a:r>
              <a:rPr sz="1700" b="0" i="0">
                <a:solidFill>
                  <a:srgbClr val="595959"/>
                </a:solidFill>
                <a:latin typeface="Arial"/>
              </a:rPr>
              <a:t>4.  </a:t>
            </a:r>
            <a:r>
              <a:rPr sz="1700" b="0" i="0">
                <a:solidFill>
                  <a:srgbClr val="1A1A1A"/>
                </a:solidFill>
                <a:latin typeface="Arial"/>
              </a:rPr>
              <a:t>Touch the header pin labelled </a:t>
            </a:r>
            <a:r>
              <a:rPr sz="1700" b="1" i="0">
                <a:solidFill>
                  <a:srgbClr val="1A1A1A"/>
                </a:solidFill>
                <a:latin typeface="Arial"/>
              </a:rPr>
              <a:t>4</a:t>
            </a:r>
            <a:r>
              <a:rPr sz="1700" b="0" i="0">
                <a:solidFill>
                  <a:srgbClr val="1A1A1A"/>
                </a:solidFill>
                <a:latin typeface="Arial"/>
              </a:rPr>
              <a:t> (left side, near RST) with a finger. The </a:t>
            </a:r>
            <a:r>
              <a:rPr sz="1614" b="0" i="0">
                <a:solidFill>
                  <a:srgbClr val="1A1A1A"/>
                </a:solidFill>
                <a:latin typeface="Courier New"/>
              </a:rPr>
              <a:t>touch=</a:t>
            </a:r>
            <a:r>
              <a:rPr sz="1700" b="0" i="0">
                <a:solidFill>
                  <a:srgbClr val="1A1A1A"/>
                </a:solidFill>
                <a:latin typeface="Arial"/>
              </a:rPr>
              <a:t> value jumps up.</a:t>
            </a:r>
          </a:p>
          <a:p>
            <a:pPr>
              <a:spcAft>
                <a:spcPts val="600"/>
              </a:spcAft>
            </a:pPr>
            <a:r>
              <a:rPr sz="1700" b="0" i="0">
                <a:solidFill>
                  <a:srgbClr val="595959"/>
                </a:solidFill>
                <a:latin typeface="Arial"/>
              </a:rPr>
              <a:t>5.  </a:t>
            </a:r>
            <a:r>
              <a:rPr sz="1700" b="0" i="0">
                <a:solidFill>
                  <a:srgbClr val="1A1A1A"/>
                </a:solidFill>
                <a:latin typeface="Arial"/>
              </a:rPr>
              <a:t>Change </a:t>
            </a:r>
            <a:r>
              <a:rPr sz="1614" b="0" i="0">
                <a:solidFill>
                  <a:srgbClr val="1A1A1A"/>
                </a:solidFill>
                <a:latin typeface="Courier New"/>
              </a:rPr>
              <a:t>REPORT_MS</a:t>
            </a:r>
            <a:r>
              <a:rPr sz="1700" b="0" i="0">
                <a:solidFill>
                  <a:srgbClr val="1A1A1A"/>
                </a:solidFill>
                <a:latin typeface="Arial"/>
              </a:rPr>
              <a:t> to 250 and upload. Then look at </a:t>
            </a:r>
            <a:r>
              <a:rPr sz="1614" b="0" i="0">
                <a:solidFill>
                  <a:srgbClr val="1A1A1A"/>
                </a:solidFill>
                <a:latin typeface="Courier New"/>
              </a:rPr>
              <a:t>loop()</a:t>
            </a:r>
            <a:r>
              <a:rPr sz="1700" b="0" i="0">
                <a:solidFill>
                  <a:srgbClr val="1A1A1A"/>
                </a:solidFill>
                <a:latin typeface="Arial"/>
              </a:rPr>
              <a:t>: there is no </a:t>
            </a:r>
            <a:r>
              <a:rPr sz="1614" b="0" i="0">
                <a:solidFill>
                  <a:srgbClr val="1A1A1A"/>
                </a:solidFill>
                <a:latin typeface="Courier New"/>
              </a:rPr>
              <a:t>delay()</a:t>
            </a:r>
            <a:r>
              <a:rPr sz="1700" b="0" i="0">
                <a:solidFill>
                  <a:srgbClr val="1A1A1A"/>
                </a:solidFill>
                <a:latin typeface="Arial"/>
              </a:rPr>
              <a:t> in it.</a:t>
            </a:r>
          </a:p>
          <a:p>
            <a:pPr>
              <a:spcAft>
                <a:spcPts val="600"/>
              </a:spcAft>
            </a:pPr>
            <a:r>
              <a:rPr sz="1700" b="0" i="0">
                <a:solidFill>
                  <a:srgbClr val="595959"/>
                </a:solidFill>
                <a:latin typeface="Arial"/>
              </a:rPr>
              <a:t>6.  </a:t>
            </a:r>
            <a:r>
              <a:rPr sz="1700" b="1" i="0">
                <a:solidFill>
                  <a:srgbClr val="1A1A1A"/>
                </a:solidFill>
                <a:latin typeface="Arial"/>
              </a:rPr>
              <a:t>Tools → Serial Plotter</a:t>
            </a:r>
            <a:r>
              <a:rPr sz="1700" b="0" i="0">
                <a:solidFill>
                  <a:srgbClr val="1A1A1A"/>
                </a:solidFill>
                <a:latin typeface="Arial"/>
              </a:rPr>
              <a:t> graphs the numbers. Touch the pin and watch.</a:t>
            </a:r>
          </a:p>
        </p:txBody>
      </p:sp>
      <p:sp>
        <p:nvSpPr>
          <p:cNvPr id="8" name="TextBox 7"/>
          <p:cNvSpPr txBox="1"/>
          <p:nvPr/>
        </p:nvSpPr>
        <p:spPr>
          <a:xfrm>
            <a:off x="685800" y="4354830"/>
            <a:ext cx="10820095" cy="346202"/>
          </a:xfrm>
          <a:prstGeom prst="rect">
            <a:avLst/>
          </a:prstGeom>
          <a:noFill/>
        </p:spPr>
        <p:txBody>
          <a:bodyPr wrap="square" anchor="t" lIns="0" rIns="0" tIns="18288" bIns="18288">
            <a:spAutoFit/>
          </a:bodyPr>
          <a:lstStyle/>
          <a:p>
            <a:r>
              <a:rPr sz="1700" b="1" i="0">
                <a:solidFill>
                  <a:srgbClr val="1A1A1A"/>
                </a:solidFill>
                <a:latin typeface="Arial"/>
              </a:rPr>
              <a:t>Check:</a:t>
            </a:r>
            <a:r>
              <a:rPr sz="1700" b="0" i="0">
                <a:solidFill>
                  <a:srgbClr val="1A1A1A"/>
                </a:solidFill>
                <a:latin typeface="Arial"/>
              </a:rPr>
              <a:t> pressing BOOT prints a new line in the Serial Monitor.</a:t>
            </a:r>
          </a:p>
        </p:txBody>
      </p:sp>
      <p:sp>
        <p:nvSpPr>
          <p:cNvPr id="9" name="TextBox 8"/>
          <p:cNvSpPr txBox="1"/>
          <p:nvPr/>
        </p:nvSpPr>
        <p:spPr>
          <a:xfrm>
            <a:off x="685800" y="4902200"/>
            <a:ext cx="10820095" cy="541020"/>
          </a:xfrm>
          <a:prstGeom prst="rect">
            <a:avLst/>
          </a:prstGeom>
          <a:noFill/>
        </p:spPr>
        <p:txBody>
          <a:bodyPr wrap="square" anchor="t" lIns="0" rIns="0" tIns="18288" bIns="18288">
            <a:spAutoFit/>
          </a:bodyPr>
          <a:lstStyle/>
          <a:p>
            <a:r>
              <a:rPr sz="1500" b="0" i="0">
                <a:solidFill>
                  <a:srgbClr val="595959"/>
                </a:solidFill>
                <a:latin typeface="Arial"/>
              </a:rPr>
              <a:t>If you finish early: count presses and print the total; make the blink rate change with each press; print </a:t>
            </a:r>
            <a:r>
              <a:rPr sz="1425" b="0" i="0">
                <a:solidFill>
                  <a:srgbClr val="595959"/>
                </a:solidFill>
                <a:latin typeface="Courier New"/>
              </a:rPr>
              <a:t>ESP.getFreeHeap()</a:t>
            </a:r>
            <a:r>
              <a:rPr sz="1500" b="0" i="0">
                <a:solidFill>
                  <a:srgbClr val="595959"/>
                </a:solidFill>
                <a:latin typeface="Arial"/>
              </a:rPr>
              <a:t> in the status line and watch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0"/>
            <a:ext cx="7315200" cy="274320"/>
          </a:xfrm>
          <a:prstGeom prst="rect">
            <a:avLst/>
          </a:prstGeom>
          <a:noFill/>
        </p:spPr>
        <p:txBody>
          <a:bodyPr wrap="square" anchor="t" lIns="0" rIns="0" tIns="18288" bIns="18288">
            <a:spAutoFit/>
          </a:bodyPr>
          <a:lstStyle/>
          <a:p>
            <a:pPr algn="l"/>
            <a:r>
              <a:rPr sz="1000" b="0" i="0">
                <a:solidFill>
                  <a:srgbClr val="595959"/>
                </a:solidFill>
                <a:latin typeface="Arial"/>
              </a:rPr>
              <a:t>HackHardware · Getting started with the ESP32</a:t>
            </a:r>
          </a:p>
        </p:txBody>
      </p:sp>
      <p:sp>
        <p:nvSpPr>
          <p:cNvPr id="3" name="TextBox 2"/>
          <p:cNvSpPr txBox="1"/>
          <p:nvPr/>
        </p:nvSpPr>
        <p:spPr>
          <a:xfrm>
            <a:off x="10134295" y="6400800"/>
            <a:ext cx="1371600" cy="274320"/>
          </a:xfrm>
          <a:prstGeom prst="rect">
            <a:avLst/>
          </a:prstGeom>
          <a:noFill/>
        </p:spPr>
        <p:txBody>
          <a:bodyPr wrap="square" anchor="t" lIns="0" rIns="0" tIns="18288" bIns="18288">
            <a:spAutoFit/>
          </a:bodyPr>
          <a:lstStyle/>
          <a:p>
            <a:pPr algn="r"/>
            <a:r>
              <a:rPr sz="1000" b="0" i="0">
                <a:solidFill>
                  <a:srgbClr val="595959"/>
                </a:solidFill>
                <a:latin typeface="Arial"/>
              </a:rPr>
              <a:t>17</a:t>
            </a:r>
          </a:p>
        </p:txBody>
      </p:sp>
      <p:sp>
        <p:nvSpPr>
          <p:cNvPr id="4" name="TextBox 3"/>
          <p:cNvSpPr txBox="1"/>
          <p:nvPr/>
        </p:nvSpPr>
        <p:spPr>
          <a:xfrm>
            <a:off x="685800" y="457200"/>
            <a:ext cx="10820095" cy="822960"/>
          </a:xfrm>
          <a:prstGeom prst="rect">
            <a:avLst/>
          </a:prstGeom>
          <a:noFill/>
        </p:spPr>
        <p:txBody>
          <a:bodyPr wrap="square" anchor="b" lIns="0" rIns="0" tIns="18288" bIns="18288">
            <a:spAutoFit/>
          </a:bodyPr>
          <a:lstStyle/>
          <a:p>
            <a:pPr algn="l"/>
            <a:r>
              <a:rPr sz="3000" b="1" i="0">
                <a:solidFill>
                  <a:srgbClr val="1A1A1A"/>
                </a:solidFill>
                <a:latin typeface="Arial"/>
              </a:rPr>
              <a:t>Serial: the console you do not have</a:t>
            </a:r>
          </a:p>
        </p:txBody>
      </p:sp>
      <p:cxnSp>
        <p:nvCxnSpPr>
          <p:cNvPr id="5" name="Connector 4"/>
          <p:cNvCxnSpPr/>
          <p:nvPr/>
        </p:nvCxnSpPr>
        <p:spPr>
          <a:xfrm>
            <a:off x="685800" y="1298448"/>
            <a:ext cx="10820095" cy="0"/>
          </a:xfrm>
          <a:prstGeom prst="line">
            <a:avLst/>
          </a:prstGeom>
          <a:ln w="9525">
            <a:solidFill>
              <a:srgbClr val="BFBFBF"/>
            </a:solidFill>
          </a:ln>
        </p:spPr>
      </p:cxnSp>
      <p:sp>
        <p:nvSpPr>
          <p:cNvPr id="6" name="TextBox 5"/>
          <p:cNvSpPr txBox="1"/>
          <p:nvPr/>
        </p:nvSpPr>
        <p:spPr>
          <a:xfrm>
            <a:off x="685800" y="1417320"/>
            <a:ext cx="5768172" cy="4088691"/>
          </a:xfrm>
          <a:prstGeom prst="rect">
            <a:avLst/>
          </a:prstGeom>
          <a:noFill/>
        </p:spPr>
        <p:txBody>
          <a:bodyPr wrap="square" anchor="t" lIns="0" rIns="0" tIns="18288" bIns="18288">
            <a:spAutoFit/>
          </a:bodyPr>
          <a:lstStyle/>
          <a:p>
            <a:pPr>
              <a:spcAft>
                <a:spcPts val="500"/>
              </a:spcAft>
            </a:pPr>
            <a:r>
              <a:rPr sz="1457" b="0" i="0">
                <a:solidFill>
                  <a:srgbClr val="595959"/>
                </a:solidFill>
                <a:latin typeface="Arial"/>
              </a:rPr>
              <a:t>–  </a:t>
            </a:r>
            <a:r>
              <a:rPr sz="1457" b="0" i="0">
                <a:solidFill>
                  <a:srgbClr val="1A1A1A"/>
                </a:solidFill>
                <a:latin typeface="Arial"/>
              </a:rPr>
              <a:t>The chip has no screen. </a:t>
            </a:r>
            <a:r>
              <a:rPr sz="1384" b="0" i="0">
                <a:solidFill>
                  <a:srgbClr val="1A1A1A"/>
                </a:solidFill>
                <a:latin typeface="Courier New"/>
              </a:rPr>
              <a:t>Serial</a:t>
            </a:r>
            <a:r>
              <a:rPr sz="1457" b="0" i="0">
                <a:solidFill>
                  <a:srgbClr val="1A1A1A"/>
                </a:solidFill>
                <a:latin typeface="Arial"/>
              </a:rPr>
              <a:t> is </a:t>
            </a:r>
            <a:r>
              <a:rPr sz="1457" b="1" i="0">
                <a:solidFill>
                  <a:srgbClr val="1A1A1A"/>
                </a:solidFill>
                <a:latin typeface="Arial"/>
              </a:rPr>
              <a:t>UART0</a:t>
            </a:r>
            <a:r>
              <a:rPr sz="1457" b="0" i="0">
                <a:solidFill>
                  <a:srgbClr val="1A1A1A"/>
                </a:solidFill>
                <a:latin typeface="Arial"/>
              </a:rPr>
              <a:t> on GPIO 43 (TX) and 44 (RX), which the CP2102N behind the UART connector turns into a COM port. On the other connector </a:t>
            </a:r>
            <a:r>
              <a:rPr sz="1384" b="0" i="0">
                <a:solidFill>
                  <a:srgbClr val="1A1A1A"/>
                </a:solidFill>
                <a:latin typeface="Courier New"/>
              </a:rPr>
              <a:t>Serial</a:t>
            </a:r>
            <a:r>
              <a:rPr sz="1457" b="0" i="0">
                <a:solidFill>
                  <a:srgbClr val="1A1A1A"/>
                </a:solidFill>
                <a:latin typeface="Arial"/>
              </a:rPr>
              <a:t> only works with *USB CDC On Boot* enabled.</a:t>
            </a:r>
          </a:p>
          <a:p>
            <a:pPr>
              <a:spcAft>
                <a:spcPts val="500"/>
              </a:spcAft>
            </a:pPr>
            <a:r>
              <a:rPr sz="1457" b="0" i="0">
                <a:solidFill>
                  <a:srgbClr val="595959"/>
                </a:solidFill>
                <a:latin typeface="Arial"/>
              </a:rPr>
              <a:t>–  </a:t>
            </a:r>
            <a:r>
              <a:rPr sz="1457" b="0" i="0">
                <a:solidFill>
                  <a:srgbClr val="1A1A1A"/>
                </a:solidFill>
                <a:latin typeface="Arial"/>
              </a:rPr>
              <a:t>Both ends must agree on the speed. </a:t>
            </a:r>
            <a:r>
              <a:rPr sz="1457" b="1" i="0">
                <a:solidFill>
                  <a:srgbClr val="1A1A1A"/>
                </a:solidFill>
                <a:latin typeface="Arial"/>
              </a:rPr>
              <a:t>115200</a:t>
            </a:r>
            <a:r>
              <a:rPr sz="1457" b="0" i="0">
                <a:solidFill>
                  <a:srgbClr val="1A1A1A"/>
                </a:solidFill>
                <a:latin typeface="Arial"/>
              </a:rPr>
              <a:t> baud = 115 200 bits/s ≈ 11 500 characters per second. A mismatch shows as garbage like </a:t>
            </a:r>
            <a:r>
              <a:rPr sz="1384" b="0" i="0">
                <a:solidFill>
                  <a:srgbClr val="1A1A1A"/>
                </a:solidFill>
                <a:latin typeface="Courier New"/>
              </a:rPr>
              <a:t>⸮⸮⸮x⸮</a:t>
            </a:r>
            <a:r>
              <a:rPr sz="1457" b="0" i="0">
                <a:solidFill>
                  <a:srgbClr val="1A1A1A"/>
                </a:solidFill>
                <a:latin typeface="Arial"/>
              </a:rPr>
              <a:t>.</a:t>
            </a:r>
          </a:p>
          <a:p>
            <a:pPr>
              <a:spcAft>
                <a:spcPts val="500"/>
              </a:spcAft>
            </a:pPr>
            <a:r>
              <a:rPr sz="1457" b="0" i="0">
                <a:solidFill>
                  <a:srgbClr val="595959"/>
                </a:solidFill>
                <a:latin typeface="Arial"/>
              </a:rPr>
              <a:t>–  </a:t>
            </a:r>
            <a:r>
              <a:rPr sz="1457" b="0" i="0">
                <a:solidFill>
                  <a:srgbClr val="1A1A1A"/>
                </a:solidFill>
                <a:latin typeface="Arial"/>
              </a:rPr>
              <a:t>The chip's ROM prints its own boot messages at 115200 before your code runs. That is what </a:t>
            </a:r>
            <a:r>
              <a:rPr sz="1384" b="0" i="0">
                <a:solidFill>
                  <a:srgbClr val="1A1A1A"/>
                </a:solidFill>
                <a:latin typeface="Courier New"/>
              </a:rPr>
              <a:t>rst:0x1 (POWERON)</a:t>
            </a:r>
            <a:r>
              <a:rPr sz="1457" b="0" i="0">
                <a:solidFill>
                  <a:srgbClr val="1A1A1A"/>
                </a:solidFill>
                <a:latin typeface="Arial"/>
              </a:rPr>
              <a:t> and </a:t>
            </a:r>
            <a:r>
              <a:rPr sz="1384" b="0" i="0">
                <a:solidFill>
                  <a:srgbClr val="1A1A1A"/>
                </a:solidFill>
                <a:latin typeface="Courier New"/>
              </a:rPr>
              <a:t>ESP-ROM:esp32s3-20210327</a:t>
            </a:r>
            <a:r>
              <a:rPr sz="1457" b="0" i="0">
                <a:solidFill>
                  <a:srgbClr val="1A1A1A"/>
                </a:solidFill>
                <a:latin typeface="Arial"/>
              </a:rPr>
              <a:t> are. Not an error.</a:t>
            </a:r>
          </a:p>
          <a:p>
            <a:pPr>
              <a:spcAft>
                <a:spcPts val="500"/>
              </a:spcAft>
            </a:pPr>
            <a:r>
              <a:rPr sz="1457" b="0" i="0">
                <a:solidFill>
                  <a:srgbClr val="595959"/>
                </a:solidFill>
                <a:latin typeface="Arial"/>
              </a:rPr>
              <a:t>–  </a:t>
            </a:r>
            <a:r>
              <a:rPr sz="1457" b="0" i="0">
                <a:solidFill>
                  <a:srgbClr val="1A1A1A"/>
                </a:solidFill>
                <a:latin typeface="Arial"/>
              </a:rPr>
              <a:t>Opening the Serial Monitor toggles DTR, which resets the board. So you always see the start-up line, and any state is lost.</a:t>
            </a:r>
          </a:p>
          <a:p>
            <a:pPr>
              <a:spcAft>
                <a:spcPts val="500"/>
              </a:spcAft>
            </a:pPr>
            <a:r>
              <a:rPr sz="1457" b="0" i="0">
                <a:solidFill>
                  <a:srgbClr val="595959"/>
                </a:solidFill>
                <a:latin typeface="Arial"/>
              </a:rPr>
              <a:t>–  </a:t>
            </a:r>
            <a:r>
              <a:rPr sz="1384" b="0" i="0">
                <a:solidFill>
                  <a:srgbClr val="1A1A1A"/>
                </a:solidFill>
                <a:latin typeface="Courier New"/>
              </a:rPr>
              <a:t>Serial.print</a:t>
            </a:r>
            <a:r>
              <a:rPr sz="1457" b="0" i="0">
                <a:solidFill>
                  <a:srgbClr val="1A1A1A"/>
                </a:solidFill>
                <a:latin typeface="Arial"/>
              </a:rPr>
              <a:t> writes to a 128-byte buffer that the UART drains at 115200. Printing more than ~11 KB/s blocks </a:t>
            </a:r>
            <a:r>
              <a:rPr sz="1384" b="0" i="0">
                <a:solidFill>
                  <a:srgbClr val="1A1A1A"/>
                </a:solidFill>
                <a:latin typeface="Courier New"/>
              </a:rPr>
              <a:t>loop()</a:t>
            </a:r>
            <a:r>
              <a:rPr sz="1457" b="0" i="0">
                <a:solidFill>
                  <a:srgbClr val="1A1A1A"/>
                </a:solidFill>
                <a:latin typeface="Arial"/>
              </a:rPr>
              <a:t>; printing every loop iteration is the classic mistake.</a:t>
            </a:r>
          </a:p>
          <a:p>
            <a:pPr>
              <a:spcAft>
                <a:spcPts val="500"/>
              </a:spcAft>
            </a:pPr>
            <a:r>
              <a:rPr sz="1457" b="0" i="0">
                <a:solidFill>
                  <a:srgbClr val="595959"/>
                </a:solidFill>
                <a:latin typeface="Arial"/>
              </a:rPr>
              <a:t>–  </a:t>
            </a:r>
            <a:r>
              <a:rPr sz="1384" b="0" i="0">
                <a:solidFill>
                  <a:srgbClr val="1A1A1A"/>
                </a:solidFill>
                <a:latin typeface="Courier New"/>
              </a:rPr>
              <a:t>Serial.printf("t=%.1f temp=%.1f\n", t, c);</a:t>
            </a:r>
            <a:r>
              <a:rPr sz="1457" b="0" i="0">
                <a:solidFill>
                  <a:srgbClr val="1A1A1A"/>
                </a:solidFill>
                <a:latin typeface="Arial"/>
              </a:rPr>
              <a:t> works on ESP32 and is easier to read than chained </a:t>
            </a:r>
            <a:r>
              <a:rPr sz="1384" b="0" i="0">
                <a:solidFill>
                  <a:srgbClr val="1A1A1A"/>
                </a:solidFill>
                <a:latin typeface="Courier New"/>
              </a:rPr>
              <a:t>print</a:t>
            </a:r>
            <a:r>
              <a:rPr sz="1457" b="0" i="0">
                <a:solidFill>
                  <a:srgbClr val="1A1A1A"/>
                </a:solidFill>
                <a:latin typeface="Arial"/>
              </a:rPr>
              <a:t>s.</a:t>
            </a:r>
          </a:p>
        </p:txBody>
      </p:sp>
      <p:sp>
        <p:nvSpPr>
          <p:cNvPr id="7" name="Rectangle 6"/>
          <p:cNvSpPr/>
          <p:nvPr/>
        </p:nvSpPr>
        <p:spPr>
          <a:xfrm>
            <a:off x="6819732" y="1417320"/>
            <a:ext cx="4686162" cy="2587405"/>
          </a:xfrm>
          <a:prstGeom prst="rect">
            <a:avLst/>
          </a:prstGeom>
          <a:solidFill>
            <a:srgbClr val="F2F2F2"/>
          </a:solidFill>
          <a:ln>
            <a:noFill/>
          </a:ln>
          <a:effectLst/>
        </p:spPr>
        <p:txBody>
          <a:bodyPr rtlCol="0" anchor="ctr"/>
          <a:lstStyle/>
          <a:p>
            <a:pPr algn="ctr"/>
          </a:p>
        </p:txBody>
      </p:sp>
      <p:sp>
        <p:nvSpPr>
          <p:cNvPr id="8" name="TextBox 7"/>
          <p:cNvSpPr txBox="1"/>
          <p:nvPr/>
        </p:nvSpPr>
        <p:spPr>
          <a:xfrm>
            <a:off x="6956892" y="1527048"/>
            <a:ext cx="4411842" cy="2404525"/>
          </a:xfrm>
          <a:prstGeom prst="rect">
            <a:avLst/>
          </a:prstGeom>
          <a:noFill/>
        </p:spPr>
        <p:txBody>
          <a:bodyPr wrap="square" anchor="t" lIns="0" rIns="0" tIns="18288" bIns="18288">
            <a:spAutoFit/>
          </a:bodyPr>
          <a:lstStyle/>
          <a:p>
            <a:pPr>
              <a:spcAft>
                <a:spcPts val="0"/>
              </a:spcAft>
            </a:pPr>
            <a:r>
              <a:rPr sz="1221" b="0" i="0">
                <a:solidFill>
                  <a:srgbClr val="1A1A1A"/>
                </a:solidFill>
                <a:latin typeface="Courier New"/>
              </a:rPr>
              <a:t>Serial.begin(115200);</a:t>
            </a:r>
          </a:p>
          <a:p>
            <a:pPr>
              <a:spcAft>
                <a:spcPts val="0"/>
              </a:spcAft>
            </a:pPr>
            <a:r>
              <a:rPr sz="1221" b="0" i="0">
                <a:solidFill>
                  <a:srgbClr val="1A1A1A"/>
                </a:solidFill>
                <a:latin typeface="Courier New"/>
              </a:rPr>
              <a:t> </a:t>
            </a:r>
          </a:p>
          <a:p>
            <a:pPr>
              <a:spcAft>
                <a:spcPts val="0"/>
              </a:spcAft>
            </a:pPr>
            <a:r>
              <a:rPr sz="1221" b="0" i="0">
                <a:solidFill>
                  <a:srgbClr val="1A1A1A"/>
                </a:solidFill>
                <a:latin typeface="Courier New"/>
              </a:rPr>
              <a:t/>
            </a:r>
            <a:r>
              <a:rPr sz="1221" b="0" i="0">
                <a:solidFill>
                  <a:srgbClr val="595959"/>
                </a:solidFill>
                <a:latin typeface="Courier New"/>
              </a:rPr>
              <a:t>// once per second:</a:t>
            </a:r>
          </a:p>
          <a:p>
            <a:pPr>
              <a:spcAft>
                <a:spcPts val="0"/>
              </a:spcAft>
            </a:pPr>
            <a:r>
              <a:rPr sz="1221" b="0" i="0">
                <a:solidFill>
                  <a:srgbClr val="1A1A1A"/>
                </a:solidFill>
                <a:latin typeface="Courier New"/>
              </a:rPr>
              <a:t>Serial.print("t=");</a:t>
            </a:r>
          </a:p>
          <a:p>
            <a:pPr>
              <a:spcAft>
                <a:spcPts val="0"/>
              </a:spcAft>
            </a:pPr>
            <a:r>
              <a:rPr sz="1221" b="0" i="0">
                <a:solidFill>
                  <a:srgbClr val="1A1A1A"/>
                </a:solidFill>
                <a:latin typeface="Courier New"/>
              </a:rPr>
              <a:t>Serial.print(millis() / 1000.0, 1);</a:t>
            </a:r>
          </a:p>
          <a:p>
            <a:pPr>
              <a:spcAft>
                <a:spcPts val="0"/>
              </a:spcAft>
            </a:pPr>
            <a:r>
              <a:rPr sz="1221" b="0" i="0">
                <a:solidFill>
                  <a:srgbClr val="1A1A1A"/>
                </a:solidFill>
                <a:latin typeface="Courier New"/>
              </a:rPr>
              <a:t>Serial.print("s temp=");</a:t>
            </a:r>
          </a:p>
          <a:p>
            <a:pPr>
              <a:spcAft>
                <a:spcPts val="0"/>
              </a:spcAft>
            </a:pPr>
            <a:r>
              <a:rPr sz="1221" b="0" i="0">
                <a:solidFill>
                  <a:srgbClr val="1A1A1A"/>
                </a:solidFill>
                <a:latin typeface="Courier New"/>
              </a:rPr>
              <a:t>Serial.print(temperatureRead(), 1);</a:t>
            </a:r>
          </a:p>
          <a:p>
            <a:pPr>
              <a:spcAft>
                <a:spcPts val="0"/>
              </a:spcAft>
            </a:pPr>
            <a:r>
              <a:rPr sz="1221" b="0" i="0">
                <a:solidFill>
                  <a:srgbClr val="1A1A1A"/>
                </a:solidFill>
                <a:latin typeface="Courier New"/>
              </a:rPr>
              <a:t>Serial.println("C");</a:t>
            </a:r>
          </a:p>
          <a:p>
            <a:pPr>
              <a:spcAft>
                <a:spcPts val="0"/>
              </a:spcAft>
            </a:pPr>
            <a:r>
              <a:rPr sz="1221" b="0" i="0">
                <a:solidFill>
                  <a:srgbClr val="1A1A1A"/>
                </a:solidFill>
                <a:latin typeface="Courier New"/>
              </a:rPr>
              <a:t> </a:t>
            </a:r>
          </a:p>
          <a:p>
            <a:pPr>
              <a:spcAft>
                <a:spcPts val="0"/>
              </a:spcAft>
            </a:pPr>
            <a:r>
              <a:rPr sz="1221" b="0" i="0">
                <a:solidFill>
                  <a:srgbClr val="1A1A1A"/>
                </a:solidFill>
                <a:latin typeface="Courier New"/>
              </a:rPr>
              <a:t/>
            </a:r>
            <a:r>
              <a:rPr sz="1221" b="0" i="0">
                <a:solidFill>
                  <a:srgbClr val="595959"/>
                </a:solidFill>
                <a:latin typeface="Courier New"/>
              </a:rPr>
              <a:t>// same thing:</a:t>
            </a:r>
          </a:p>
          <a:p>
            <a:pPr>
              <a:spcAft>
                <a:spcPts val="0"/>
              </a:spcAft>
            </a:pPr>
            <a:r>
              <a:rPr sz="1221" b="0" i="0">
                <a:solidFill>
                  <a:srgbClr val="1A1A1A"/>
                </a:solidFill>
                <a:latin typeface="Courier New"/>
              </a:rPr>
              <a:t>Serial.printf("t=%.1fs temp=%.1fC\n",</a:t>
            </a:r>
          </a:p>
          <a:p>
            <a:pPr>
              <a:spcAft>
                <a:spcPts val="0"/>
              </a:spcAft>
            </a:pPr>
            <a:r>
              <a:rPr sz="1221" b="0" i="0">
                <a:solidFill>
                  <a:srgbClr val="1A1A1A"/>
                </a:solidFill>
                <a:latin typeface="Courier New"/>
              </a:rPr>
              <a:t>    millis() / 1000.0, temperatureRead());</a:t>
            </a:r>
          </a:p>
        </p:txBody>
      </p:sp>
      <p:sp>
        <p:nvSpPr>
          <p:cNvPr id="9" name="TextBox 8"/>
          <p:cNvSpPr txBox="1"/>
          <p:nvPr/>
        </p:nvSpPr>
        <p:spPr>
          <a:xfrm>
            <a:off x="6819732" y="4077877"/>
            <a:ext cx="4686162" cy="297047"/>
          </a:xfrm>
          <a:prstGeom prst="rect">
            <a:avLst/>
          </a:prstGeom>
          <a:noFill/>
        </p:spPr>
        <p:txBody>
          <a:bodyPr wrap="square" anchor="t" lIns="0" rIns="0" tIns="18288" bIns="18288">
            <a:spAutoFit/>
          </a:bodyPr>
          <a:lstStyle/>
          <a:p>
            <a:r>
              <a:rPr sz="1371" b="0" i="0">
                <a:solidFill>
                  <a:srgbClr val="595959"/>
                </a:solidFill>
                <a:latin typeface="Arial"/>
              </a:rPr>
              <a:t>Typical ROM boot log you will see before your own output:</a:t>
            </a:r>
          </a:p>
        </p:txBody>
      </p:sp>
      <p:sp>
        <p:nvSpPr>
          <p:cNvPr id="10" name="Rectangle 9"/>
          <p:cNvSpPr/>
          <p:nvPr/>
        </p:nvSpPr>
        <p:spPr>
          <a:xfrm>
            <a:off x="6819732" y="4448077"/>
            <a:ext cx="4686162" cy="1623620"/>
          </a:xfrm>
          <a:prstGeom prst="rect">
            <a:avLst/>
          </a:prstGeom>
          <a:solidFill>
            <a:srgbClr val="F2F2F2"/>
          </a:solidFill>
          <a:ln>
            <a:noFill/>
          </a:ln>
          <a:effectLst/>
        </p:spPr>
        <p:txBody>
          <a:bodyPr rtlCol="0" anchor="ctr"/>
          <a:lstStyle/>
          <a:p>
            <a:pPr algn="ctr"/>
          </a:p>
        </p:txBody>
      </p:sp>
      <p:sp>
        <p:nvSpPr>
          <p:cNvPr id="11" name="TextBox 10"/>
          <p:cNvSpPr txBox="1"/>
          <p:nvPr/>
        </p:nvSpPr>
        <p:spPr>
          <a:xfrm>
            <a:off x="6956892" y="4557805"/>
            <a:ext cx="4411842" cy="1440740"/>
          </a:xfrm>
          <a:prstGeom prst="rect">
            <a:avLst/>
          </a:prstGeom>
          <a:noFill/>
        </p:spPr>
        <p:txBody>
          <a:bodyPr wrap="square" anchor="t" lIns="0" rIns="0" tIns="18288" bIns="18288">
            <a:spAutoFit/>
          </a:bodyPr>
          <a:lstStyle/>
          <a:p>
            <a:pPr>
              <a:spcAft>
                <a:spcPts val="0"/>
              </a:spcAft>
            </a:pPr>
            <a:r>
              <a:rPr sz="1221" b="0" i="0">
                <a:solidFill>
                  <a:srgbClr val="1A1A1A"/>
                </a:solidFill>
                <a:latin typeface="Courier New"/>
              </a:rPr>
              <a:t>ESP-ROM:esp32s3-20210327</a:t>
            </a:r>
          </a:p>
          <a:p>
            <a:pPr>
              <a:spcAft>
                <a:spcPts val="0"/>
              </a:spcAft>
            </a:pPr>
            <a:r>
              <a:rPr sz="1221" b="0" i="0">
                <a:solidFill>
                  <a:srgbClr val="1A1A1A"/>
                </a:solidFill>
                <a:latin typeface="Courier New"/>
              </a:rPr>
              <a:t>rst:0x1 (POWERON),boot:0x8 (SPI_FAST_FLASH_BOOT)</a:t>
            </a:r>
          </a:p>
          <a:p>
            <a:pPr>
              <a:spcAft>
                <a:spcPts val="0"/>
              </a:spcAft>
            </a:pPr>
            <a:r>
              <a:rPr sz="1221" b="0" i="0">
                <a:solidFill>
                  <a:srgbClr val="1A1A1A"/>
                </a:solidFill>
                <a:latin typeface="Courier New"/>
              </a:rPr>
              <a:t>SPIWP:0xee</a:t>
            </a:r>
          </a:p>
          <a:p>
            <a:pPr>
              <a:spcAft>
                <a:spcPts val="0"/>
              </a:spcAft>
            </a:pPr>
            <a:r>
              <a:rPr sz="1221" b="0" i="0">
                <a:solidFill>
                  <a:srgbClr val="1A1A1A"/>
                </a:solidFill>
                <a:latin typeface="Courier New"/>
              </a:rPr>
              <a:t>mode:DIO, clock div:1</a:t>
            </a:r>
          </a:p>
          <a:p>
            <a:pPr>
              <a:spcAft>
                <a:spcPts val="0"/>
              </a:spcAft>
            </a:pPr>
            <a:r>
              <a:rPr sz="1221" b="0" i="0">
                <a:solidFill>
                  <a:srgbClr val="1A1A1A"/>
                </a:solidFill>
                <a:latin typeface="Courier New"/>
              </a:rPr>
              <a:t>load:0x3fce2820,len:0x118c</a:t>
            </a:r>
          </a:p>
          <a:p>
            <a:pPr>
              <a:spcAft>
                <a:spcPts val="0"/>
              </a:spcAft>
            </a:pPr>
            <a:r>
              <a:rPr sz="1221" b="0" i="0">
                <a:solidFill>
                  <a:srgbClr val="1A1A1A"/>
                </a:solidFill>
                <a:latin typeface="Courier New"/>
              </a:rPr>
              <a:t>entry 0x403c8b08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0"/>
            <a:ext cx="7315200" cy="274320"/>
          </a:xfrm>
          <a:prstGeom prst="rect">
            <a:avLst/>
          </a:prstGeom>
          <a:noFill/>
        </p:spPr>
        <p:txBody>
          <a:bodyPr wrap="square" anchor="t" lIns="0" rIns="0" tIns="18288" bIns="18288">
            <a:spAutoFit/>
          </a:bodyPr>
          <a:lstStyle/>
          <a:p>
            <a:pPr algn="l"/>
            <a:r>
              <a:rPr sz="1000" b="0" i="0">
                <a:solidFill>
                  <a:srgbClr val="595959"/>
                </a:solidFill>
                <a:latin typeface="Arial"/>
              </a:rPr>
              <a:t>HackHardware · Getting started with the ESP32</a:t>
            </a:r>
          </a:p>
        </p:txBody>
      </p:sp>
      <p:sp>
        <p:nvSpPr>
          <p:cNvPr id="3" name="TextBox 2"/>
          <p:cNvSpPr txBox="1"/>
          <p:nvPr/>
        </p:nvSpPr>
        <p:spPr>
          <a:xfrm>
            <a:off x="10134295" y="6400800"/>
            <a:ext cx="1371600" cy="274320"/>
          </a:xfrm>
          <a:prstGeom prst="rect">
            <a:avLst/>
          </a:prstGeom>
          <a:noFill/>
        </p:spPr>
        <p:txBody>
          <a:bodyPr wrap="square" anchor="t" lIns="0" rIns="0" tIns="18288" bIns="18288">
            <a:spAutoFit/>
          </a:bodyPr>
          <a:lstStyle/>
          <a:p>
            <a:pPr algn="r"/>
            <a:r>
              <a:rPr sz="1000" b="0" i="0">
                <a:solidFill>
                  <a:srgbClr val="595959"/>
                </a:solidFill>
                <a:latin typeface="Arial"/>
              </a:rPr>
              <a:t>18</a:t>
            </a:r>
          </a:p>
        </p:txBody>
      </p:sp>
      <p:sp>
        <p:nvSpPr>
          <p:cNvPr id="4" name="TextBox 3"/>
          <p:cNvSpPr txBox="1"/>
          <p:nvPr/>
        </p:nvSpPr>
        <p:spPr>
          <a:xfrm>
            <a:off x="685800" y="457200"/>
            <a:ext cx="10820095" cy="822960"/>
          </a:xfrm>
          <a:prstGeom prst="rect">
            <a:avLst/>
          </a:prstGeom>
          <a:noFill/>
        </p:spPr>
        <p:txBody>
          <a:bodyPr wrap="square" anchor="b" lIns="0" rIns="0" tIns="18288" bIns="18288">
            <a:spAutoFit/>
          </a:bodyPr>
          <a:lstStyle/>
          <a:p>
            <a:pPr algn="l"/>
            <a:r>
              <a:rPr sz="3000" b="1" i="0">
                <a:solidFill>
                  <a:srgbClr val="1A1A1A"/>
                </a:solidFill>
                <a:latin typeface="Arial"/>
              </a:rPr>
              <a:t>Reading a button: pull-ups and bounce</a:t>
            </a:r>
          </a:p>
        </p:txBody>
      </p:sp>
      <p:cxnSp>
        <p:nvCxnSpPr>
          <p:cNvPr id="5" name="Connector 4"/>
          <p:cNvCxnSpPr/>
          <p:nvPr/>
        </p:nvCxnSpPr>
        <p:spPr>
          <a:xfrm>
            <a:off x="685800" y="1298448"/>
            <a:ext cx="10820095" cy="0"/>
          </a:xfrm>
          <a:prstGeom prst="line">
            <a:avLst/>
          </a:prstGeom>
          <a:ln w="9525">
            <a:solidFill>
              <a:srgbClr val="BFBFBF"/>
            </a:solidFill>
          </a:ln>
        </p:spPr>
      </p:cxnSp>
      <p:sp>
        <p:nvSpPr>
          <p:cNvPr id="6" name="TextBox 5"/>
          <p:cNvSpPr txBox="1"/>
          <p:nvPr/>
        </p:nvSpPr>
        <p:spPr>
          <a:xfrm>
            <a:off x="1234440" y="1463040"/>
            <a:ext cx="914400" cy="228600"/>
          </a:xfrm>
          <a:prstGeom prst="rect">
            <a:avLst/>
          </a:prstGeom>
          <a:noFill/>
        </p:spPr>
        <p:txBody>
          <a:bodyPr wrap="square" anchor="t" lIns="0" rIns="0" tIns="18288" bIns="18288">
            <a:spAutoFit/>
          </a:bodyPr>
          <a:lstStyle/>
          <a:p>
            <a:pPr algn="ctr"/>
            <a:r>
              <a:rPr sz="1100" b="0" i="0">
                <a:solidFill>
                  <a:srgbClr val="1A1A1A"/>
                </a:solidFill>
                <a:latin typeface="Arial"/>
              </a:rPr>
              <a:t>3.3 V</a:t>
            </a:r>
          </a:p>
        </p:txBody>
      </p:sp>
      <p:cxnSp>
        <p:nvCxnSpPr>
          <p:cNvPr id="7" name="Connector 6"/>
          <p:cNvCxnSpPr/>
          <p:nvPr/>
        </p:nvCxnSpPr>
        <p:spPr>
          <a:xfrm>
            <a:off x="1691640" y="1691640"/>
            <a:ext cx="0" cy="228600"/>
          </a:xfrm>
          <a:prstGeom prst="line">
            <a:avLst/>
          </a:prstGeom>
          <a:ln w="15875">
            <a:solidFill>
              <a:srgbClr val="1A1A1A"/>
            </a:solidFill>
          </a:ln>
        </p:spPr>
      </p:cxnSp>
      <p:sp>
        <p:nvSpPr>
          <p:cNvPr id="8" name="Rectangle 7"/>
          <p:cNvSpPr/>
          <p:nvPr/>
        </p:nvSpPr>
        <p:spPr>
          <a:xfrm>
            <a:off x="1545336" y="1920240"/>
            <a:ext cx="292608" cy="548640"/>
          </a:xfrm>
          <a:prstGeom prst="rect">
            <a:avLst/>
          </a:prstGeom>
          <a:noFill/>
          <a:ln w="12700">
            <a:solidFill>
              <a:srgbClr val="1A1A1A"/>
            </a:solidFill>
          </a:ln>
          <a:effectLst/>
        </p:spPr>
        <p:txBody>
          <a:bodyPr rtlCol="0" anchor="ctr"/>
          <a:lstStyle/>
          <a:p>
            <a:pPr algn="ctr"/>
          </a:p>
        </p:txBody>
      </p:sp>
      <p:sp>
        <p:nvSpPr>
          <p:cNvPr id="9" name="TextBox 8"/>
          <p:cNvSpPr txBox="1"/>
          <p:nvPr/>
        </p:nvSpPr>
        <p:spPr>
          <a:xfrm>
            <a:off x="1947672" y="1965960"/>
            <a:ext cx="2377440" cy="457200"/>
          </a:xfrm>
          <a:prstGeom prst="rect">
            <a:avLst/>
          </a:prstGeom>
          <a:noFill/>
        </p:spPr>
        <p:txBody>
          <a:bodyPr wrap="square" anchor="t" lIns="0" rIns="0" tIns="18288" bIns="18288">
            <a:spAutoFit/>
          </a:bodyPr>
          <a:lstStyle/>
          <a:p>
            <a:pPr algn="l"/>
            <a:r>
              <a:rPr sz="1000" b="0" i="0">
                <a:solidFill>
                  <a:srgbClr val="595959"/>
                </a:solidFill>
                <a:latin typeface="Arial"/>
              </a:rPr>
              <a:t>45 kΩ pull-up inside the chip,</a:t>
            </a:r>
          </a:p>
          <a:p>
            <a:pPr algn="l"/>
            <a:r>
              <a:rPr sz="1000" b="0" i="0">
                <a:solidFill>
                  <a:srgbClr val="595959"/>
                </a:solidFill>
                <a:latin typeface="Arial"/>
              </a:rPr>
              <a:t>enabled by INPUT_PULLUP</a:t>
            </a:r>
          </a:p>
        </p:txBody>
      </p:sp>
      <p:cxnSp>
        <p:nvCxnSpPr>
          <p:cNvPr id="10" name="Connector 9"/>
          <p:cNvCxnSpPr/>
          <p:nvPr/>
        </p:nvCxnSpPr>
        <p:spPr>
          <a:xfrm>
            <a:off x="1691640" y="2468880"/>
            <a:ext cx="0" cy="457200"/>
          </a:xfrm>
          <a:prstGeom prst="line">
            <a:avLst/>
          </a:prstGeom>
          <a:ln w="15875">
            <a:solidFill>
              <a:srgbClr val="1A1A1A"/>
            </a:solidFill>
          </a:ln>
        </p:spPr>
      </p:cxnSp>
      <p:sp>
        <p:nvSpPr>
          <p:cNvPr id="11" name="Oval 10"/>
          <p:cNvSpPr/>
          <p:nvPr/>
        </p:nvSpPr>
        <p:spPr>
          <a:xfrm>
            <a:off x="1645920" y="2880360"/>
            <a:ext cx="91440" cy="91440"/>
          </a:xfrm>
          <a:prstGeom prst="ellipse">
            <a:avLst/>
          </a:prstGeom>
          <a:solidFill>
            <a:srgbClr val="1A1A1A"/>
          </a:solidFill>
          <a:ln>
            <a:noFill/>
          </a:ln>
          <a:effectLst/>
        </p:spPr>
        <p:txBody>
          <a:bodyPr rtlCol="0" anchor="ctr"/>
          <a:lstStyle/>
          <a:p>
            <a:pPr algn="ctr"/>
          </a:p>
        </p:txBody>
      </p:sp>
      <p:cxnSp>
        <p:nvCxnSpPr>
          <p:cNvPr id="12" name="Connector 11"/>
          <p:cNvCxnSpPr/>
          <p:nvPr/>
        </p:nvCxnSpPr>
        <p:spPr>
          <a:xfrm>
            <a:off x="1691640" y="2926080"/>
            <a:ext cx="1280160" cy="0"/>
          </a:xfrm>
          <a:prstGeom prst="line">
            <a:avLst/>
          </a:prstGeom>
          <a:ln w="15875">
            <a:solidFill>
              <a:srgbClr val="1A1A1A"/>
            </a:solidFill>
          </a:ln>
        </p:spPr>
      </p:cxnSp>
      <p:sp>
        <p:nvSpPr>
          <p:cNvPr id="13" name="TextBox 12"/>
          <p:cNvSpPr txBox="1"/>
          <p:nvPr/>
        </p:nvSpPr>
        <p:spPr>
          <a:xfrm>
            <a:off x="3017520" y="2816352"/>
            <a:ext cx="1645920" cy="228600"/>
          </a:xfrm>
          <a:prstGeom prst="rect">
            <a:avLst/>
          </a:prstGeom>
          <a:noFill/>
        </p:spPr>
        <p:txBody>
          <a:bodyPr wrap="square" anchor="t" lIns="0" rIns="0" tIns="18288" bIns="18288">
            <a:spAutoFit/>
          </a:bodyPr>
          <a:lstStyle/>
          <a:p>
            <a:pPr algn="l"/>
            <a:r>
              <a:rPr sz="1000" b="0" i="0">
                <a:solidFill>
                  <a:srgbClr val="1A1A1A"/>
                </a:solidFill>
                <a:latin typeface="Arial"/>
              </a:rPr>
              <a:t>GPIO 0  →  digitalRead()</a:t>
            </a:r>
          </a:p>
        </p:txBody>
      </p:sp>
      <p:cxnSp>
        <p:nvCxnSpPr>
          <p:cNvPr id="14" name="Connector 13"/>
          <p:cNvCxnSpPr/>
          <p:nvPr/>
        </p:nvCxnSpPr>
        <p:spPr>
          <a:xfrm>
            <a:off x="1691640" y="2926080"/>
            <a:ext cx="0" cy="228600"/>
          </a:xfrm>
          <a:prstGeom prst="line">
            <a:avLst/>
          </a:prstGeom>
          <a:ln w="15875">
            <a:solidFill>
              <a:srgbClr val="1A1A1A"/>
            </a:solidFill>
          </a:ln>
        </p:spPr>
      </p:cxnSp>
      <p:sp>
        <p:nvSpPr>
          <p:cNvPr id="15" name="Oval 14"/>
          <p:cNvSpPr/>
          <p:nvPr/>
        </p:nvSpPr>
        <p:spPr>
          <a:xfrm>
            <a:off x="1655064" y="3154680"/>
            <a:ext cx="73152" cy="73152"/>
          </a:xfrm>
          <a:prstGeom prst="ellipse">
            <a:avLst/>
          </a:prstGeom>
          <a:solidFill>
            <a:srgbClr val="1A1A1A"/>
          </a:solidFill>
          <a:ln>
            <a:noFill/>
          </a:ln>
          <a:effectLst/>
        </p:spPr>
        <p:txBody>
          <a:bodyPr rtlCol="0" anchor="ctr"/>
          <a:lstStyle/>
          <a:p>
            <a:pPr algn="ctr"/>
          </a:p>
        </p:txBody>
      </p:sp>
      <p:cxnSp>
        <p:nvCxnSpPr>
          <p:cNvPr id="16" name="Connector 15"/>
          <p:cNvCxnSpPr/>
          <p:nvPr/>
        </p:nvCxnSpPr>
        <p:spPr>
          <a:xfrm>
            <a:off x="1691640" y="3227832"/>
            <a:ext cx="292608" cy="292608"/>
          </a:xfrm>
          <a:prstGeom prst="line">
            <a:avLst/>
          </a:prstGeom>
          <a:ln w="15875">
            <a:solidFill>
              <a:srgbClr val="1A1A1A"/>
            </a:solidFill>
          </a:ln>
        </p:spPr>
      </p:cxnSp>
      <p:sp>
        <p:nvSpPr>
          <p:cNvPr id="17" name="Oval 16"/>
          <p:cNvSpPr/>
          <p:nvPr/>
        </p:nvSpPr>
        <p:spPr>
          <a:xfrm>
            <a:off x="1655064" y="3538728"/>
            <a:ext cx="73152" cy="73152"/>
          </a:xfrm>
          <a:prstGeom prst="ellipse">
            <a:avLst/>
          </a:prstGeom>
          <a:solidFill>
            <a:srgbClr val="1A1A1A"/>
          </a:solidFill>
          <a:ln>
            <a:noFill/>
          </a:ln>
          <a:effectLst/>
        </p:spPr>
        <p:txBody>
          <a:bodyPr rtlCol="0" anchor="ctr"/>
          <a:lstStyle/>
          <a:p>
            <a:pPr algn="ctr"/>
          </a:p>
        </p:txBody>
      </p:sp>
      <p:sp>
        <p:nvSpPr>
          <p:cNvPr id="18" name="TextBox 17"/>
          <p:cNvSpPr txBox="1"/>
          <p:nvPr/>
        </p:nvSpPr>
        <p:spPr>
          <a:xfrm>
            <a:off x="731520" y="3273552"/>
            <a:ext cx="868680" cy="228600"/>
          </a:xfrm>
          <a:prstGeom prst="rect">
            <a:avLst/>
          </a:prstGeom>
          <a:noFill/>
        </p:spPr>
        <p:txBody>
          <a:bodyPr wrap="square" anchor="t" lIns="0" rIns="0" tIns="18288" bIns="18288">
            <a:spAutoFit/>
          </a:bodyPr>
          <a:lstStyle/>
          <a:p>
            <a:pPr algn="r"/>
            <a:r>
              <a:rPr sz="1000" b="0" i="0">
                <a:solidFill>
                  <a:srgbClr val="1A1A1A"/>
                </a:solidFill>
                <a:latin typeface="Arial"/>
              </a:rPr>
              <a:t>BOOT button</a:t>
            </a:r>
          </a:p>
        </p:txBody>
      </p:sp>
      <p:cxnSp>
        <p:nvCxnSpPr>
          <p:cNvPr id="19" name="Connector 18"/>
          <p:cNvCxnSpPr/>
          <p:nvPr/>
        </p:nvCxnSpPr>
        <p:spPr>
          <a:xfrm>
            <a:off x="1691640" y="3611880"/>
            <a:ext cx="0" cy="228600"/>
          </a:xfrm>
          <a:prstGeom prst="line">
            <a:avLst/>
          </a:prstGeom>
          <a:ln w="15875">
            <a:solidFill>
              <a:srgbClr val="1A1A1A"/>
            </a:solidFill>
          </a:ln>
        </p:spPr>
      </p:cxnSp>
      <p:cxnSp>
        <p:nvCxnSpPr>
          <p:cNvPr id="20" name="Connector 19"/>
          <p:cNvCxnSpPr/>
          <p:nvPr/>
        </p:nvCxnSpPr>
        <p:spPr>
          <a:xfrm>
            <a:off x="1417320" y="3840480"/>
            <a:ext cx="548640" cy="0"/>
          </a:xfrm>
          <a:prstGeom prst="line">
            <a:avLst/>
          </a:prstGeom>
          <a:ln w="15875">
            <a:solidFill>
              <a:srgbClr val="1A1A1A"/>
            </a:solidFill>
          </a:ln>
        </p:spPr>
      </p:cxnSp>
      <p:cxnSp>
        <p:nvCxnSpPr>
          <p:cNvPr id="21" name="Connector 20"/>
          <p:cNvCxnSpPr/>
          <p:nvPr/>
        </p:nvCxnSpPr>
        <p:spPr>
          <a:xfrm>
            <a:off x="1527048" y="3913632"/>
            <a:ext cx="329184" cy="0"/>
          </a:xfrm>
          <a:prstGeom prst="line">
            <a:avLst/>
          </a:prstGeom>
          <a:ln w="15875">
            <a:solidFill>
              <a:srgbClr val="1A1A1A"/>
            </a:solidFill>
          </a:ln>
        </p:spPr>
      </p:cxnSp>
      <p:cxnSp>
        <p:nvCxnSpPr>
          <p:cNvPr id="22" name="Connector 21"/>
          <p:cNvCxnSpPr/>
          <p:nvPr/>
        </p:nvCxnSpPr>
        <p:spPr>
          <a:xfrm>
            <a:off x="1618488" y="3986783"/>
            <a:ext cx="146304" cy="0"/>
          </a:xfrm>
          <a:prstGeom prst="line">
            <a:avLst/>
          </a:prstGeom>
          <a:ln w="15875">
            <a:solidFill>
              <a:srgbClr val="1A1A1A"/>
            </a:solidFill>
          </a:ln>
        </p:spPr>
      </p:cxnSp>
      <p:sp>
        <p:nvSpPr>
          <p:cNvPr id="23" name="TextBox 22"/>
          <p:cNvSpPr txBox="1"/>
          <p:nvPr/>
        </p:nvSpPr>
        <p:spPr>
          <a:xfrm>
            <a:off x="2057400" y="3794760"/>
            <a:ext cx="731520" cy="228600"/>
          </a:xfrm>
          <a:prstGeom prst="rect">
            <a:avLst/>
          </a:prstGeom>
          <a:noFill/>
        </p:spPr>
        <p:txBody>
          <a:bodyPr wrap="square" anchor="t" lIns="0" rIns="0" tIns="18288" bIns="18288">
            <a:spAutoFit/>
          </a:bodyPr>
          <a:lstStyle/>
          <a:p>
            <a:pPr algn="l"/>
            <a:r>
              <a:rPr sz="1000" b="0" i="0">
                <a:solidFill>
                  <a:srgbClr val="595959"/>
                </a:solidFill>
                <a:latin typeface="Arial"/>
              </a:rPr>
              <a:t>GND</a:t>
            </a:r>
          </a:p>
        </p:txBody>
      </p:sp>
      <p:graphicFrame>
        <p:nvGraphicFramePr>
          <p:cNvPr id="24" name="Table 23"/>
          <p:cNvGraphicFramePr>
            <a:graphicFrameLocks noGrp="1"/>
          </p:cNvGraphicFramePr>
          <p:nvPr/>
        </p:nvGraphicFramePr>
        <p:xfrm>
          <a:off x="4526280" y="1645920"/>
          <a:ext cx="6979614" cy="1351280"/>
        </p:xfrm>
        <a:graphic>
          <a:graphicData uri="http://schemas.openxmlformats.org/drawingml/2006/table">
            <a:tbl>
              <a:tblPr firstRow="1" bandRow="0">
                <a:tableStyleId>{2D5ABB26-0587-4C30-8999-92F81FD0307C}</a:tableStyleId>
              </a:tblPr>
              <a:tblGrid>
                <a:gridCol w="2512661"/>
                <a:gridCol w="2791846"/>
                <a:gridCol w="1675107"/>
              </a:tblGrid>
              <a:tr h="337820">
                <a:tc>
                  <a:txBody>
                    <a:bodyPr wrap="square"/>
                    <a:lstStyle/>
                    <a:p>
                      <a:r>
                        <a:rPr sz="1400" b="1" i="0">
                          <a:solidFill>
                            <a:srgbClr val="1A1A1A"/>
                          </a:solidFill>
                          <a:latin typeface="Arial"/>
                        </a:rPr>
                        <a:t>Button</a:t>
                      </a:r>
                    </a:p>
                  </a:txBody>
                  <a:tcPr marL="73152" marR="73152" marT="27432" marB="27432" anchor="ctr">
                    <a:solidFill>
                      <a:srgbClr val="F2F2F2"/>
                    </a:solidFill>
                    <a:lnB w="9525" cap="flat" cmpd="sng" algn="ctr">
                      <a:solidFill>
                        <a:srgbClr val="BFBFBF"/>
                      </a:solidFill>
                      <a:prstDash val="solid"/>
                    </a:lnB>
                    <a:lnT w="9525"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00" b="1" i="0">
                          <a:solidFill>
                            <a:srgbClr val="1A1A1A"/>
                          </a:solidFill>
                          <a:latin typeface="Arial"/>
                        </a:rPr>
                        <a:t>Pin voltage</a:t>
                      </a:r>
                    </a:p>
                  </a:txBody>
                  <a:tcPr marL="73152" marR="73152" marT="27432" marB="27432" anchor="ctr">
                    <a:solidFill>
                      <a:srgbClr val="F2F2F2"/>
                    </a:solidFill>
                    <a:lnB w="9525" cap="flat" cmpd="sng" algn="ctr">
                      <a:solidFill>
                        <a:srgbClr val="BFBFBF"/>
                      </a:solidFill>
                      <a:prstDash val="solid"/>
                    </a:lnB>
                    <a:lnT w="9525"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00" b="1" i="0">
                          <a:solidFill>
                            <a:srgbClr val="1A1A1A"/>
                          </a:solidFill>
                          <a:latin typeface="Arial"/>
                        </a:rPr>
                        <a:t>digitalRead</a:t>
                      </a:r>
                    </a:p>
                  </a:txBody>
                  <a:tcPr marL="73152" marR="73152" marT="27432" marB="27432" anchor="ctr">
                    <a:solidFill>
                      <a:srgbClr val="F2F2F2"/>
                    </a:solidFill>
                    <a:lnB w="9525" cap="flat" cmpd="sng" algn="ctr">
                      <a:solidFill>
                        <a:srgbClr val="BFBFBF"/>
                      </a:solidFill>
                      <a:prstDash val="solid"/>
                    </a:lnB>
                    <a:lnT w="9525"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37820">
                <a:tc>
                  <a:txBody>
                    <a:bodyPr wrap="square"/>
                    <a:lstStyle/>
                    <a:p>
                      <a:r>
                        <a:rPr sz="1400" b="0" i="0">
                          <a:solidFill>
                            <a:srgbClr val="1A1A1A"/>
                          </a:solidFill>
                          <a:latin typeface="Arial"/>
                        </a:rPr>
                        <a:t>released</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00" b="0" i="0">
                          <a:solidFill>
                            <a:srgbClr val="1A1A1A"/>
                          </a:solidFill>
                          <a:latin typeface="Arial"/>
                        </a:rPr>
                        <a:t>3.3 V through the resistor</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00" b="0" i="0">
                          <a:solidFill>
                            <a:srgbClr val="1A1A1A"/>
                          </a:solidFill>
                          <a:latin typeface="Arial"/>
                        </a:rPr>
                        <a:t>HIGH (1)</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37820">
                <a:tc>
                  <a:txBody>
                    <a:bodyPr wrap="square"/>
                    <a:lstStyle/>
                    <a:p>
                      <a:r>
                        <a:rPr sz="1400" b="0" i="0">
                          <a:solidFill>
                            <a:srgbClr val="1A1A1A"/>
                          </a:solidFill>
                          <a:latin typeface="Arial"/>
                        </a:rPr>
                        <a:t>pressed</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00" b="0" i="0">
                          <a:solidFill>
                            <a:srgbClr val="1A1A1A"/>
                          </a:solidFill>
                          <a:latin typeface="Arial"/>
                        </a:rPr>
                        <a:t>0 V, shorted to ground</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00" b="0" i="0">
                          <a:solidFill>
                            <a:srgbClr val="1A1A1A"/>
                          </a:solidFill>
                          <a:latin typeface="Arial"/>
                        </a:rPr>
                        <a:t>LOW (0)</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37820">
                <a:tc>
                  <a:txBody>
                    <a:bodyPr wrap="square"/>
                    <a:lstStyle/>
                    <a:p>
                      <a:r>
                        <a:rPr sz="1400" b="0" i="0">
                          <a:solidFill>
                            <a:srgbClr val="1A1A1A"/>
                          </a:solidFill>
                          <a:latin typeface="Arial"/>
                        </a:rPr>
                        <a:t>nothing connected, no pull-up</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00" b="0" i="0">
                          <a:solidFill>
                            <a:srgbClr val="1A1A1A"/>
                          </a:solidFill>
                          <a:latin typeface="Arial"/>
                        </a:rPr>
                        <a:t>floating — picks up noise</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00" b="0" i="0">
                          <a:solidFill>
                            <a:srgbClr val="1A1A1A"/>
                          </a:solidFill>
                          <a:latin typeface="Arial"/>
                        </a:rPr>
                        <a:t>random</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bl>
          </a:graphicData>
        </a:graphic>
      </p:graphicFrame>
      <p:sp>
        <p:nvSpPr>
          <p:cNvPr id="25" name="TextBox 24"/>
          <p:cNvSpPr txBox="1"/>
          <p:nvPr/>
        </p:nvSpPr>
        <p:spPr>
          <a:xfrm>
            <a:off x="685800" y="4206240"/>
            <a:ext cx="10820095" cy="1637721"/>
          </a:xfrm>
          <a:prstGeom prst="rect">
            <a:avLst/>
          </a:prstGeom>
          <a:noFill/>
        </p:spPr>
        <p:txBody>
          <a:bodyPr wrap="square" anchor="t" lIns="0" rIns="0" tIns="18288" bIns="18288">
            <a:spAutoFit/>
          </a:bodyPr>
          <a:lstStyle/>
          <a:p>
            <a:pPr>
              <a:spcAft>
                <a:spcPts val="500"/>
              </a:spcAft>
            </a:pPr>
            <a:r>
              <a:rPr sz="1587" b="0" i="0">
                <a:solidFill>
                  <a:srgbClr val="595959"/>
                </a:solidFill>
                <a:latin typeface="Arial"/>
              </a:rPr>
              <a:t>–  </a:t>
            </a:r>
            <a:r>
              <a:rPr sz="1587" b="0" i="0">
                <a:solidFill>
                  <a:srgbClr val="1A1A1A"/>
                </a:solidFill>
                <a:latin typeface="Arial"/>
              </a:rPr>
              <a:t>An unconnected input </a:t>
            </a:r>
            <a:r>
              <a:rPr sz="1587" b="1" i="0">
                <a:solidFill>
                  <a:srgbClr val="1A1A1A"/>
                </a:solidFill>
                <a:latin typeface="Arial"/>
              </a:rPr>
              <a:t>floats</a:t>
            </a:r>
            <a:r>
              <a:rPr sz="1587" b="0" i="0">
                <a:solidFill>
                  <a:srgbClr val="1A1A1A"/>
                </a:solidFill>
                <a:latin typeface="Arial"/>
              </a:rPr>
              <a:t>: it reads whatever charge is on the wire, so it flickers between 0 and 1. The pull-up gives it a defined level when the button is open. Pressed therefore reads </a:t>
            </a:r>
            <a:r>
              <a:rPr sz="1587" b="1" i="0">
                <a:solidFill>
                  <a:srgbClr val="1A1A1A"/>
                </a:solidFill>
                <a:latin typeface="Arial"/>
              </a:rPr>
              <a:t>LOW</a:t>
            </a:r>
            <a:r>
              <a:rPr sz="1587" b="0" i="0">
                <a:solidFill>
                  <a:srgbClr val="1A1A1A"/>
                </a:solidFill>
                <a:latin typeface="Arial"/>
              </a:rPr>
              <a:t>. Backwards, but standard.</a:t>
            </a:r>
          </a:p>
          <a:p>
            <a:pPr>
              <a:spcAft>
                <a:spcPts val="500"/>
              </a:spcAft>
            </a:pPr>
            <a:r>
              <a:rPr sz="1587" b="0" i="0">
                <a:solidFill>
                  <a:srgbClr val="595959"/>
                </a:solidFill>
                <a:latin typeface="Arial"/>
              </a:rPr>
              <a:t>–  </a:t>
            </a:r>
            <a:r>
              <a:rPr sz="1587" b="0" i="0">
                <a:solidFill>
                  <a:srgbClr val="1A1A1A"/>
                </a:solidFill>
                <a:latin typeface="Arial"/>
              </a:rPr>
              <a:t>A mechanical contact </a:t>
            </a:r>
            <a:r>
              <a:rPr sz="1587" b="1" i="0">
                <a:solidFill>
                  <a:srgbClr val="1A1A1A"/>
                </a:solidFill>
                <a:latin typeface="Arial"/>
              </a:rPr>
              <a:t>bounces</a:t>
            </a:r>
            <a:r>
              <a:rPr sz="1587" b="0" i="0">
                <a:solidFill>
                  <a:srgbClr val="1A1A1A"/>
                </a:solidFill>
                <a:latin typeface="Arial"/>
              </a:rPr>
              <a:t> for 1–10 ms when it closes, producing several edges. Read the pin every loop, and only accept a new state after it has been stable for ~30 ms.</a:t>
            </a:r>
          </a:p>
          <a:p>
            <a:pPr>
              <a:spcAft>
                <a:spcPts val="500"/>
              </a:spcAft>
            </a:pPr>
            <a:r>
              <a:rPr sz="1587" b="0" i="0">
                <a:solidFill>
                  <a:srgbClr val="595959"/>
                </a:solidFill>
                <a:latin typeface="Arial"/>
              </a:rPr>
              <a:t>–  </a:t>
            </a:r>
            <a:r>
              <a:rPr sz="1587" b="0" i="0">
                <a:solidFill>
                  <a:srgbClr val="1A1A1A"/>
                </a:solidFill>
                <a:latin typeface="Arial"/>
              </a:rPr>
              <a:t>React to the </a:t>
            </a:r>
            <a:r>
              <a:rPr sz="1587" b="1" i="0">
                <a:solidFill>
                  <a:srgbClr val="1A1A1A"/>
                </a:solidFill>
                <a:latin typeface="Arial"/>
              </a:rPr>
              <a:t>edge</a:t>
            </a:r>
            <a:r>
              <a:rPr sz="1587" b="0" i="0">
                <a:solidFill>
                  <a:srgbClr val="1A1A1A"/>
                </a:solidFill>
                <a:latin typeface="Arial"/>
              </a:rPr>
              <a:t> (state changed) rather than the level (is pressed), or one press toggles the LED thousands of times while your finger is down.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0"/>
            <a:ext cx="7315200" cy="274320"/>
          </a:xfrm>
          <a:prstGeom prst="rect">
            <a:avLst/>
          </a:prstGeom>
          <a:noFill/>
        </p:spPr>
        <p:txBody>
          <a:bodyPr wrap="square" anchor="t" lIns="0" rIns="0" tIns="18288" bIns="18288">
            <a:spAutoFit/>
          </a:bodyPr>
          <a:lstStyle/>
          <a:p>
            <a:pPr algn="l"/>
            <a:r>
              <a:rPr sz="1000" b="0" i="0">
                <a:solidFill>
                  <a:srgbClr val="595959"/>
                </a:solidFill>
                <a:latin typeface="Arial"/>
              </a:rPr>
              <a:t>HackHardware · Getting started with the ESP32</a:t>
            </a:r>
          </a:p>
        </p:txBody>
      </p:sp>
      <p:sp>
        <p:nvSpPr>
          <p:cNvPr id="3" name="TextBox 2"/>
          <p:cNvSpPr txBox="1"/>
          <p:nvPr/>
        </p:nvSpPr>
        <p:spPr>
          <a:xfrm>
            <a:off x="10134295" y="6400800"/>
            <a:ext cx="1371600" cy="274320"/>
          </a:xfrm>
          <a:prstGeom prst="rect">
            <a:avLst/>
          </a:prstGeom>
          <a:noFill/>
        </p:spPr>
        <p:txBody>
          <a:bodyPr wrap="square" anchor="t" lIns="0" rIns="0" tIns="18288" bIns="18288">
            <a:spAutoFit/>
          </a:bodyPr>
          <a:lstStyle/>
          <a:p>
            <a:pPr algn="r"/>
            <a:r>
              <a:rPr sz="1000" b="0" i="0">
                <a:solidFill>
                  <a:srgbClr val="595959"/>
                </a:solidFill>
                <a:latin typeface="Arial"/>
              </a:rPr>
              <a:t>19</a:t>
            </a:r>
          </a:p>
        </p:txBody>
      </p:sp>
      <p:sp>
        <p:nvSpPr>
          <p:cNvPr id="4" name="TextBox 3"/>
          <p:cNvSpPr txBox="1"/>
          <p:nvPr/>
        </p:nvSpPr>
        <p:spPr>
          <a:xfrm>
            <a:off x="685800" y="457200"/>
            <a:ext cx="10820095" cy="822960"/>
          </a:xfrm>
          <a:prstGeom prst="rect">
            <a:avLst/>
          </a:prstGeom>
          <a:noFill/>
        </p:spPr>
        <p:txBody>
          <a:bodyPr wrap="square" anchor="b" lIns="0" rIns="0" tIns="18288" bIns="18288">
            <a:spAutoFit/>
          </a:bodyPr>
          <a:lstStyle/>
          <a:p>
            <a:pPr algn="l"/>
            <a:r>
              <a:rPr sz="3000" b="1" i="0">
                <a:solidFill>
                  <a:srgbClr val="1A1A1A"/>
                </a:solidFill>
                <a:latin typeface="Arial"/>
              </a:rPr>
              <a:t>Timing without delay()</a:t>
            </a:r>
          </a:p>
        </p:txBody>
      </p:sp>
      <p:cxnSp>
        <p:nvCxnSpPr>
          <p:cNvPr id="5" name="Connector 4"/>
          <p:cNvCxnSpPr/>
          <p:nvPr/>
        </p:nvCxnSpPr>
        <p:spPr>
          <a:xfrm>
            <a:off x="685800" y="1298448"/>
            <a:ext cx="10820095" cy="0"/>
          </a:xfrm>
          <a:prstGeom prst="line">
            <a:avLst/>
          </a:prstGeom>
          <a:ln w="9525">
            <a:solidFill>
              <a:srgbClr val="BFBFBF"/>
            </a:solidFill>
          </a:ln>
        </p:spPr>
      </p:cxnSp>
      <p:sp>
        <p:nvSpPr>
          <p:cNvPr id="6" name="TextBox 5"/>
          <p:cNvSpPr txBox="1"/>
          <p:nvPr/>
        </p:nvSpPr>
        <p:spPr>
          <a:xfrm>
            <a:off x="685800" y="1453896"/>
            <a:ext cx="5227167" cy="366434"/>
          </a:xfrm>
          <a:prstGeom prst="rect">
            <a:avLst/>
          </a:prstGeom>
          <a:noFill/>
        </p:spPr>
        <p:txBody>
          <a:bodyPr wrap="square" anchor="t" lIns="0" rIns="0" tIns="18288" bIns="18288">
            <a:spAutoFit/>
          </a:bodyPr>
          <a:lstStyle/>
          <a:p>
            <a:r>
              <a:rPr sz="1712" b="1" i="0">
                <a:solidFill>
                  <a:srgbClr val="1A1A1A"/>
                </a:solidFill>
                <a:latin typeface="Arial"/>
              </a:rPr>
              <a:t>Blocking</a:t>
            </a:r>
          </a:p>
        </p:txBody>
      </p:sp>
      <p:sp>
        <p:nvSpPr>
          <p:cNvPr id="7" name="Rectangle 6"/>
          <p:cNvSpPr/>
          <p:nvPr/>
        </p:nvSpPr>
        <p:spPr>
          <a:xfrm>
            <a:off x="685800" y="1856906"/>
            <a:ext cx="5227167" cy="1557850"/>
          </a:xfrm>
          <a:prstGeom prst="rect">
            <a:avLst/>
          </a:prstGeom>
          <a:solidFill>
            <a:srgbClr val="F2F2F2"/>
          </a:solidFill>
          <a:ln>
            <a:noFill/>
          </a:ln>
          <a:effectLst/>
        </p:spPr>
        <p:txBody>
          <a:bodyPr rtlCol="0" anchor="ctr"/>
          <a:lstStyle/>
          <a:p>
            <a:pPr algn="ctr"/>
          </a:p>
        </p:txBody>
      </p:sp>
      <p:sp>
        <p:nvSpPr>
          <p:cNvPr id="8" name="TextBox 7"/>
          <p:cNvSpPr txBox="1"/>
          <p:nvPr/>
        </p:nvSpPr>
        <p:spPr>
          <a:xfrm>
            <a:off x="822960" y="1966634"/>
            <a:ext cx="4952847" cy="1374970"/>
          </a:xfrm>
          <a:prstGeom prst="rect">
            <a:avLst/>
          </a:prstGeom>
          <a:noFill/>
        </p:spPr>
        <p:txBody>
          <a:bodyPr wrap="square" anchor="t" lIns="0" rIns="0" tIns="18288" bIns="18288">
            <a:spAutoFit/>
          </a:bodyPr>
          <a:lstStyle/>
          <a:p>
            <a:pPr>
              <a:spcAft>
                <a:spcPts val="0"/>
              </a:spcAft>
            </a:pPr>
            <a:r>
              <a:rPr sz="1356" b="0" i="0">
                <a:solidFill>
                  <a:srgbClr val="1A1A1A"/>
                </a:solidFill>
                <a:latin typeface="Courier New"/>
              </a:rPr>
              <a:t>void loop() {</a:t>
            </a:r>
          </a:p>
          <a:p>
            <a:pPr>
              <a:spcAft>
                <a:spcPts val="0"/>
              </a:spcAft>
            </a:pPr>
            <a:r>
              <a:rPr sz="1356" b="0" i="0">
                <a:solidFill>
                  <a:srgbClr val="1A1A1A"/>
                </a:solidFill>
                <a:latin typeface="Courier New"/>
              </a:rPr>
              <a:t>  digitalWrite(LED_PIN, HIGH);</a:t>
            </a:r>
          </a:p>
          <a:p>
            <a:pPr>
              <a:spcAft>
                <a:spcPts val="0"/>
              </a:spcAft>
            </a:pPr>
            <a:r>
              <a:rPr sz="1356" b="0" i="0">
                <a:solidFill>
                  <a:srgbClr val="1A1A1A"/>
                </a:solidFill>
                <a:latin typeface="Courier New"/>
              </a:rPr>
              <a:t>  delay(500);   </a:t>
            </a:r>
            <a:r>
              <a:rPr sz="1356" b="0" i="0">
                <a:solidFill>
                  <a:srgbClr val="595959"/>
                </a:solidFill>
                <a:latin typeface="Courier New"/>
              </a:rPr>
              <a:t>// loop() is stuck here</a:t>
            </a:r>
          </a:p>
          <a:p>
            <a:pPr>
              <a:spcAft>
                <a:spcPts val="0"/>
              </a:spcAft>
            </a:pPr>
            <a:r>
              <a:rPr sz="1356" b="0" i="0">
                <a:solidFill>
                  <a:srgbClr val="1A1A1A"/>
                </a:solidFill>
                <a:latin typeface="Courier New"/>
              </a:rPr>
              <a:t>  digitalWrite(LED_PIN, LOW);</a:t>
            </a:r>
          </a:p>
          <a:p>
            <a:pPr>
              <a:spcAft>
                <a:spcPts val="0"/>
              </a:spcAft>
            </a:pPr>
            <a:r>
              <a:rPr sz="1356" b="0" i="0">
                <a:solidFill>
                  <a:srgbClr val="1A1A1A"/>
                </a:solidFill>
                <a:latin typeface="Courier New"/>
              </a:rPr>
              <a:t>  delay(500);   </a:t>
            </a:r>
            <a:r>
              <a:rPr sz="1356" b="0" i="0">
                <a:solidFill>
                  <a:srgbClr val="595959"/>
                </a:solidFill>
                <a:latin typeface="Courier New"/>
              </a:rPr>
              <a:t>// presses now are missed</a:t>
            </a:r>
          </a:p>
          <a:p>
            <a:pPr>
              <a:spcAft>
                <a:spcPts val="0"/>
              </a:spcAft>
            </a:pPr>
            <a:r>
              <a:rPr sz="1356" b="0" i="0">
                <a:solidFill>
                  <a:srgbClr val="1A1A1A"/>
                </a:solidFill>
                <a:latin typeface="Courier New"/>
              </a:rPr>
              <a:t>}</a:t>
            </a:r>
          </a:p>
        </p:txBody>
      </p:sp>
      <p:sp>
        <p:nvSpPr>
          <p:cNvPr id="9" name="TextBox 8"/>
          <p:cNvSpPr txBox="1"/>
          <p:nvPr/>
        </p:nvSpPr>
        <p:spPr>
          <a:xfrm>
            <a:off x="6278727" y="1453896"/>
            <a:ext cx="5227167" cy="366434"/>
          </a:xfrm>
          <a:prstGeom prst="rect">
            <a:avLst/>
          </a:prstGeom>
          <a:noFill/>
        </p:spPr>
        <p:txBody>
          <a:bodyPr wrap="square" anchor="t" lIns="0" rIns="0" tIns="18288" bIns="18288">
            <a:spAutoFit/>
          </a:bodyPr>
          <a:lstStyle/>
          <a:p>
            <a:r>
              <a:rPr sz="1712" b="1" i="0">
                <a:solidFill>
                  <a:srgbClr val="1A1A1A"/>
                </a:solidFill>
                <a:latin typeface="Arial"/>
              </a:rPr>
              <a:t>Non-blocking</a:t>
            </a:r>
          </a:p>
        </p:txBody>
      </p:sp>
      <p:sp>
        <p:nvSpPr>
          <p:cNvPr id="10" name="Rectangle 9"/>
          <p:cNvSpPr/>
          <p:nvPr/>
        </p:nvSpPr>
        <p:spPr>
          <a:xfrm>
            <a:off x="6278727" y="1856906"/>
            <a:ext cx="5227167" cy="2413536"/>
          </a:xfrm>
          <a:prstGeom prst="rect">
            <a:avLst/>
          </a:prstGeom>
          <a:solidFill>
            <a:srgbClr val="F2F2F2"/>
          </a:solidFill>
          <a:ln>
            <a:noFill/>
          </a:ln>
          <a:effectLst/>
        </p:spPr>
        <p:txBody>
          <a:bodyPr rtlCol="0" anchor="ctr"/>
          <a:lstStyle/>
          <a:p>
            <a:pPr algn="ctr"/>
          </a:p>
        </p:txBody>
      </p:sp>
      <p:sp>
        <p:nvSpPr>
          <p:cNvPr id="11" name="TextBox 10"/>
          <p:cNvSpPr txBox="1"/>
          <p:nvPr/>
        </p:nvSpPr>
        <p:spPr>
          <a:xfrm>
            <a:off x="6415887" y="1966634"/>
            <a:ext cx="4952847" cy="2230656"/>
          </a:xfrm>
          <a:prstGeom prst="rect">
            <a:avLst/>
          </a:prstGeom>
          <a:noFill/>
        </p:spPr>
        <p:txBody>
          <a:bodyPr wrap="square" anchor="t" lIns="0" rIns="0" tIns="18288" bIns="18288">
            <a:spAutoFit/>
          </a:bodyPr>
          <a:lstStyle/>
          <a:p>
            <a:pPr>
              <a:spcAft>
                <a:spcPts val="0"/>
              </a:spcAft>
            </a:pPr>
            <a:r>
              <a:rPr sz="1356" b="0" i="0">
                <a:solidFill>
                  <a:srgbClr val="1A1A1A"/>
                </a:solidFill>
                <a:latin typeface="Courier New"/>
              </a:rPr>
              <a:t>unsigned long lastBlink = 0;</a:t>
            </a:r>
          </a:p>
          <a:p>
            <a:pPr>
              <a:spcAft>
                <a:spcPts val="0"/>
              </a:spcAft>
            </a:pPr>
            <a:r>
              <a:rPr sz="1356" b="0" i="0">
                <a:solidFill>
                  <a:srgbClr val="1A1A1A"/>
                </a:solidFill>
                <a:latin typeface="Courier New"/>
              </a:rPr>
              <a:t>void loop() {</a:t>
            </a:r>
          </a:p>
          <a:p>
            <a:pPr>
              <a:spcAft>
                <a:spcPts val="0"/>
              </a:spcAft>
            </a:pPr>
            <a:r>
              <a:rPr sz="1356" b="0" i="0">
                <a:solidFill>
                  <a:srgbClr val="1A1A1A"/>
                </a:solidFill>
                <a:latin typeface="Courier New"/>
              </a:rPr>
              <a:t>  unsigned long now = millis();</a:t>
            </a:r>
          </a:p>
          <a:p>
            <a:pPr>
              <a:spcAft>
                <a:spcPts val="0"/>
              </a:spcAft>
            </a:pPr>
            <a:r>
              <a:rPr sz="1356" b="0" i="0">
                <a:solidFill>
                  <a:srgbClr val="1A1A1A"/>
                </a:solidFill>
                <a:latin typeface="Courier New"/>
              </a:rPr>
              <a:t>  if (now - lastBlink &gt;= BLINK_MS) {</a:t>
            </a:r>
          </a:p>
          <a:p>
            <a:pPr>
              <a:spcAft>
                <a:spcPts val="0"/>
              </a:spcAft>
            </a:pPr>
            <a:r>
              <a:rPr sz="1356" b="0" i="0">
                <a:solidFill>
                  <a:srgbClr val="1A1A1A"/>
                </a:solidFill>
                <a:latin typeface="Courier New"/>
              </a:rPr>
              <a:t>    lastBlink = now;</a:t>
            </a:r>
          </a:p>
          <a:p>
            <a:pPr>
              <a:spcAft>
                <a:spcPts val="0"/>
              </a:spcAft>
            </a:pPr>
            <a:r>
              <a:rPr sz="1356" b="0" i="0">
                <a:solidFill>
                  <a:srgbClr val="1A1A1A"/>
                </a:solidFill>
                <a:latin typeface="Courier New"/>
              </a:rPr>
              <a:t>    setLed(!ledOn);</a:t>
            </a:r>
          </a:p>
          <a:p>
            <a:pPr>
              <a:spcAft>
                <a:spcPts val="0"/>
              </a:spcAft>
            </a:pPr>
            <a:r>
              <a:rPr sz="1356" b="0" i="0">
                <a:solidFill>
                  <a:srgbClr val="1A1A1A"/>
                </a:solidFill>
                <a:latin typeface="Courier New"/>
              </a:rPr>
              <a:t>  }</a:t>
            </a:r>
          </a:p>
          <a:p>
            <a:pPr>
              <a:spcAft>
                <a:spcPts val="0"/>
              </a:spcAft>
            </a:pPr>
            <a:r>
              <a:rPr sz="1356" b="0" i="0">
                <a:solidFill>
                  <a:srgbClr val="1A1A1A"/>
                </a:solidFill>
                <a:latin typeface="Courier New"/>
              </a:rPr>
              <a:t>  checkButton();         </a:t>
            </a:r>
            <a:r>
              <a:rPr sz="1356" b="0" i="0">
                <a:solidFill>
                  <a:srgbClr val="595959"/>
                </a:solidFill>
                <a:latin typeface="Courier New"/>
              </a:rPr>
              <a:t>// ~100 000 calls/s</a:t>
            </a:r>
          </a:p>
          <a:p>
            <a:pPr>
              <a:spcAft>
                <a:spcPts val="0"/>
              </a:spcAft>
            </a:pPr>
            <a:r>
              <a:rPr sz="1356" b="0" i="0">
                <a:solidFill>
                  <a:srgbClr val="1A1A1A"/>
                </a:solidFill>
                <a:latin typeface="Courier New"/>
              </a:rPr>
              <a:t>  server.handleClient();  </a:t>
            </a:r>
            <a:r>
              <a:rPr sz="1356" b="0" i="0">
                <a:solidFill>
                  <a:srgbClr val="595959"/>
                </a:solidFill>
                <a:latin typeface="Courier New"/>
              </a:rPr>
              <a:t>// Task 4</a:t>
            </a:r>
          </a:p>
          <a:p>
            <a:pPr>
              <a:spcAft>
                <a:spcPts val="0"/>
              </a:spcAft>
            </a:pPr>
            <a:r>
              <a:rPr sz="1356" b="0" i="0">
                <a:solidFill>
                  <a:srgbClr val="1A1A1A"/>
                </a:solidFill>
                <a:latin typeface="Courier New"/>
              </a:rPr>
              <a:t>}</a:t>
            </a:r>
          </a:p>
        </p:txBody>
      </p:sp>
      <p:sp>
        <p:nvSpPr>
          <p:cNvPr id="12" name="TextBox 11"/>
          <p:cNvSpPr txBox="1"/>
          <p:nvPr/>
        </p:nvSpPr>
        <p:spPr>
          <a:xfrm>
            <a:off x="685800" y="4435034"/>
            <a:ext cx="10820095" cy="1664979"/>
          </a:xfrm>
          <a:prstGeom prst="rect">
            <a:avLst/>
          </a:prstGeom>
          <a:noFill/>
        </p:spPr>
        <p:txBody>
          <a:bodyPr wrap="square" anchor="t" lIns="0" rIns="0" tIns="18288" bIns="18288">
            <a:spAutoFit/>
          </a:bodyPr>
          <a:lstStyle/>
          <a:p>
            <a:pPr>
              <a:spcAft>
                <a:spcPts val="500"/>
              </a:spcAft>
            </a:pPr>
            <a:r>
              <a:rPr sz="1617" b="0" i="0">
                <a:solidFill>
                  <a:srgbClr val="595959"/>
                </a:solidFill>
                <a:latin typeface="Arial"/>
              </a:rPr>
              <a:t>–  </a:t>
            </a:r>
            <a:r>
              <a:rPr sz="1536" b="0" i="0">
                <a:solidFill>
                  <a:srgbClr val="1A1A1A"/>
                </a:solidFill>
                <a:latin typeface="Courier New"/>
              </a:rPr>
              <a:t>delay()</a:t>
            </a:r>
            <a:r>
              <a:rPr sz="1617" b="0" i="0">
                <a:solidFill>
                  <a:srgbClr val="1A1A1A"/>
                </a:solidFill>
                <a:latin typeface="Arial"/>
              </a:rPr>
              <a:t> lets other FreeRTOS tasks run (Wi-Fi is fine), but nothing else in </a:t>
            </a:r>
            <a:r>
              <a:rPr sz="1617" b="1" i="0">
                <a:solidFill>
                  <a:srgbClr val="1A1A1A"/>
                </a:solidFill>
                <a:latin typeface="Arial"/>
              </a:rPr>
              <a:t>your</a:t>
            </a:r>
            <a:r>
              <a:rPr sz="1617" b="0" i="0">
                <a:solidFill>
                  <a:srgbClr val="1A1A1A"/>
                </a:solidFill>
                <a:latin typeface="Arial"/>
              </a:rPr>
              <a:t> </a:t>
            </a:r>
            <a:r>
              <a:rPr sz="1536" b="0" i="0">
                <a:solidFill>
                  <a:srgbClr val="1A1A1A"/>
                </a:solidFill>
                <a:latin typeface="Courier New"/>
              </a:rPr>
              <a:t>loop()</a:t>
            </a:r>
            <a:r>
              <a:rPr sz="1617" b="0" i="0">
                <a:solidFill>
                  <a:srgbClr val="1A1A1A"/>
                </a:solidFill>
                <a:latin typeface="Arial"/>
              </a:rPr>
              <a:t> runs. In Task 4 the web server is polled from </a:t>
            </a:r>
            <a:r>
              <a:rPr sz="1536" b="0" i="0">
                <a:solidFill>
                  <a:srgbClr val="1A1A1A"/>
                </a:solidFill>
                <a:latin typeface="Courier New"/>
              </a:rPr>
              <a:t>loop()</a:t>
            </a:r>
            <a:r>
              <a:rPr sz="1617" b="0" i="0">
                <a:solidFill>
                  <a:srgbClr val="1A1A1A"/>
                </a:solidFill>
                <a:latin typeface="Arial"/>
              </a:rPr>
              <a:t>, so a </a:t>
            </a:r>
            <a:r>
              <a:rPr sz="1536" b="0" i="0">
                <a:solidFill>
                  <a:srgbClr val="1A1A1A"/>
                </a:solidFill>
                <a:latin typeface="Courier New"/>
              </a:rPr>
              <a:t>delay(500)</a:t>
            </a:r>
            <a:r>
              <a:rPr sz="1617" b="0" i="0">
                <a:solidFill>
                  <a:srgbClr val="1A1A1A"/>
                </a:solidFill>
                <a:latin typeface="Arial"/>
              </a:rPr>
              <a:t> means the page takes up to 500 ms to respond.</a:t>
            </a:r>
          </a:p>
          <a:p>
            <a:pPr>
              <a:spcAft>
                <a:spcPts val="500"/>
              </a:spcAft>
            </a:pPr>
            <a:r>
              <a:rPr sz="1617" b="0" i="0">
                <a:solidFill>
                  <a:srgbClr val="595959"/>
                </a:solidFill>
                <a:latin typeface="Arial"/>
              </a:rPr>
              <a:t>–  </a:t>
            </a:r>
            <a:r>
              <a:rPr sz="1617" b="0" i="0">
                <a:solidFill>
                  <a:srgbClr val="1A1A1A"/>
                </a:solidFill>
                <a:latin typeface="Arial"/>
              </a:rPr>
              <a:t>Write </a:t>
            </a:r>
            <a:r>
              <a:rPr sz="1536" b="0" i="0">
                <a:solidFill>
                  <a:srgbClr val="1A1A1A"/>
                </a:solidFill>
                <a:latin typeface="Courier New"/>
              </a:rPr>
              <a:t>now - last &gt;= interval</a:t>
            </a:r>
            <a:r>
              <a:rPr sz="1617" b="0" i="0">
                <a:solidFill>
                  <a:srgbClr val="1A1A1A"/>
                </a:solidFill>
                <a:latin typeface="Arial"/>
              </a:rPr>
              <a:t>, never </a:t>
            </a:r>
            <a:r>
              <a:rPr sz="1536" b="0" i="0">
                <a:solidFill>
                  <a:srgbClr val="1A1A1A"/>
                </a:solidFill>
                <a:latin typeface="Courier New"/>
              </a:rPr>
              <a:t>now &gt;= last + interval</a:t>
            </a:r>
            <a:r>
              <a:rPr sz="1617" b="0" i="0">
                <a:solidFill>
                  <a:srgbClr val="1A1A1A"/>
                </a:solidFill>
                <a:latin typeface="Arial"/>
              </a:rPr>
              <a:t>. Unsigned subtraction gives the right answer across the 32-bit wrap at 49.7 days; addition does not.</a:t>
            </a:r>
          </a:p>
          <a:p>
            <a:pPr>
              <a:spcAft>
                <a:spcPts val="500"/>
              </a:spcAft>
            </a:pPr>
            <a:r>
              <a:rPr sz="1617" b="0" i="0">
                <a:solidFill>
                  <a:srgbClr val="595959"/>
                </a:solidFill>
                <a:latin typeface="Arial"/>
              </a:rPr>
              <a:t>–  </a:t>
            </a:r>
            <a:r>
              <a:rPr sz="1617" b="0" i="0">
                <a:solidFill>
                  <a:srgbClr val="1A1A1A"/>
                </a:solidFill>
                <a:latin typeface="Arial"/>
              </a:rPr>
              <a:t>Need real parallelism? Create another FreeRTOS task: </a:t>
            </a:r>
            <a:r>
              <a:rPr sz="1536" b="0" i="0">
                <a:solidFill>
                  <a:srgbClr val="1A1A1A"/>
                </a:solidFill>
                <a:latin typeface="Courier New"/>
              </a:rPr>
              <a:t>xTaskCreatePinnedToCore(fn, "name", 4096, NULL, 1, NULL, 1);</a:t>
            </a:r>
            <a:r>
              <a:rPr sz="1617" b="0" i="0">
                <a:solidFill>
                  <a:srgbClr val="1A1A1A"/>
                </a:solidFill>
                <a:latin typeface="Arial"/>
              </a:rPr>
              <a:t>. That is what the Wi-Fi driver does.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0"/>
            <a:ext cx="7315200" cy="274320"/>
          </a:xfrm>
          <a:prstGeom prst="rect">
            <a:avLst/>
          </a:prstGeom>
          <a:noFill/>
        </p:spPr>
        <p:txBody>
          <a:bodyPr wrap="square" anchor="t" lIns="0" rIns="0" tIns="18288" bIns="18288">
            <a:spAutoFit/>
          </a:bodyPr>
          <a:lstStyle/>
          <a:p>
            <a:pPr algn="l"/>
            <a:r>
              <a:rPr sz="1000" b="0" i="0">
                <a:solidFill>
                  <a:srgbClr val="595959"/>
                </a:solidFill>
                <a:latin typeface="Arial"/>
              </a:rPr>
              <a:t>HackHardware · Getting started with the ESP32</a:t>
            </a:r>
          </a:p>
        </p:txBody>
      </p:sp>
      <p:sp>
        <p:nvSpPr>
          <p:cNvPr id="3" name="TextBox 2"/>
          <p:cNvSpPr txBox="1"/>
          <p:nvPr/>
        </p:nvSpPr>
        <p:spPr>
          <a:xfrm>
            <a:off x="10134295" y="6400800"/>
            <a:ext cx="1371600" cy="274320"/>
          </a:xfrm>
          <a:prstGeom prst="rect">
            <a:avLst/>
          </a:prstGeom>
          <a:noFill/>
        </p:spPr>
        <p:txBody>
          <a:bodyPr wrap="square" anchor="t" lIns="0" rIns="0" tIns="18288" bIns="18288">
            <a:spAutoFit/>
          </a:bodyPr>
          <a:lstStyle/>
          <a:p>
            <a:pPr algn="r"/>
            <a:r>
              <a:rPr sz="1000" b="0" i="0">
                <a:solidFill>
                  <a:srgbClr val="595959"/>
                </a:solidFill>
                <a:latin typeface="Arial"/>
              </a:rPr>
              <a:t>20</a:t>
            </a:r>
          </a:p>
        </p:txBody>
      </p:sp>
      <p:sp>
        <p:nvSpPr>
          <p:cNvPr id="4" name="TextBox 3"/>
          <p:cNvSpPr txBox="1"/>
          <p:nvPr/>
        </p:nvSpPr>
        <p:spPr>
          <a:xfrm>
            <a:off x="685800" y="457200"/>
            <a:ext cx="10820095" cy="822960"/>
          </a:xfrm>
          <a:prstGeom prst="rect">
            <a:avLst/>
          </a:prstGeom>
          <a:noFill/>
        </p:spPr>
        <p:txBody>
          <a:bodyPr wrap="square" anchor="b" lIns="0" rIns="0" tIns="18288" bIns="18288">
            <a:spAutoFit/>
          </a:bodyPr>
          <a:lstStyle/>
          <a:p>
            <a:pPr algn="l"/>
            <a:r>
              <a:rPr sz="3000" b="1" i="0">
                <a:solidFill>
                  <a:srgbClr val="1A1A1A"/>
                </a:solidFill>
                <a:latin typeface="Arial"/>
              </a:rPr>
              <a:t>The sensors already on the chip</a:t>
            </a:r>
          </a:p>
        </p:txBody>
      </p:sp>
      <p:cxnSp>
        <p:nvCxnSpPr>
          <p:cNvPr id="5" name="Connector 4"/>
          <p:cNvCxnSpPr/>
          <p:nvPr/>
        </p:nvCxnSpPr>
        <p:spPr>
          <a:xfrm>
            <a:off x="685800" y="1298448"/>
            <a:ext cx="10820095" cy="0"/>
          </a:xfrm>
          <a:prstGeom prst="line">
            <a:avLst/>
          </a:prstGeom>
          <a:ln w="9525">
            <a:solidFill>
              <a:srgbClr val="BFBFBF"/>
            </a:solidFill>
          </a:ln>
        </p:spPr>
      </p:cxnSp>
      <p:graphicFrame>
        <p:nvGraphicFramePr>
          <p:cNvPr id="6" name="Table 5"/>
          <p:cNvGraphicFramePr>
            <a:graphicFrameLocks noGrp="1"/>
          </p:cNvGraphicFramePr>
          <p:nvPr/>
        </p:nvGraphicFramePr>
        <p:xfrm>
          <a:off x="685800" y="1417320"/>
          <a:ext cx="10820094" cy="1853508"/>
        </p:xfrm>
        <a:graphic>
          <a:graphicData uri="http://schemas.openxmlformats.org/drawingml/2006/table">
            <a:tbl>
              <a:tblPr firstRow="1" bandRow="0">
                <a:tableStyleId>{2D5ABB26-0587-4C30-8999-92F81FD0307C}</a:tableStyleId>
              </a:tblPr>
              <a:tblGrid>
                <a:gridCol w="1839416"/>
                <a:gridCol w="1623014"/>
                <a:gridCol w="3895234"/>
                <a:gridCol w="3462430"/>
              </a:tblGrid>
              <a:tr h="308918">
                <a:tc>
                  <a:txBody>
                    <a:bodyPr wrap="square"/>
                    <a:lstStyle/>
                    <a:p>
                      <a:r>
                        <a:rPr sz="1207" b="1" i="0">
                          <a:solidFill>
                            <a:srgbClr val="1A1A1A"/>
                          </a:solidFill>
                          <a:latin typeface="Arial"/>
                        </a:rPr>
                        <a:t>Call</a:t>
                      </a:r>
                    </a:p>
                  </a:txBody>
                  <a:tcPr marL="73152" marR="73152" marT="27432" marB="27432" anchor="ctr">
                    <a:solidFill>
                      <a:srgbClr val="F2F2F2"/>
                    </a:solidFill>
                    <a:lnB w="9525" cap="flat" cmpd="sng" algn="ctr">
                      <a:solidFill>
                        <a:srgbClr val="BFBFBF"/>
                      </a:solidFill>
                      <a:prstDash val="solid"/>
                    </a:lnB>
                    <a:lnT w="9525"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07" b="1" i="0">
                          <a:solidFill>
                            <a:srgbClr val="1A1A1A"/>
                          </a:solidFill>
                          <a:latin typeface="Arial"/>
                        </a:rPr>
                        <a:t>What it measures</a:t>
                      </a:r>
                    </a:p>
                  </a:txBody>
                  <a:tcPr marL="73152" marR="73152" marT="27432" marB="27432" anchor="ctr">
                    <a:solidFill>
                      <a:srgbClr val="F2F2F2"/>
                    </a:solidFill>
                    <a:lnB w="9525" cap="flat" cmpd="sng" algn="ctr">
                      <a:solidFill>
                        <a:srgbClr val="BFBFBF"/>
                      </a:solidFill>
                      <a:prstDash val="solid"/>
                    </a:lnB>
                    <a:lnT w="9525"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07" b="1" i="0">
                          <a:solidFill>
                            <a:srgbClr val="1A1A1A"/>
                          </a:solidFill>
                          <a:latin typeface="Arial"/>
                        </a:rPr>
                        <a:t>How it works</a:t>
                      </a:r>
                    </a:p>
                  </a:txBody>
                  <a:tcPr marL="73152" marR="73152" marT="27432" marB="27432" anchor="ctr">
                    <a:solidFill>
                      <a:srgbClr val="F2F2F2"/>
                    </a:solidFill>
                    <a:lnB w="9525" cap="flat" cmpd="sng" algn="ctr">
                      <a:solidFill>
                        <a:srgbClr val="BFBFBF"/>
                      </a:solidFill>
                      <a:prstDash val="solid"/>
                    </a:lnB>
                    <a:lnT w="9525"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07" b="1" i="0">
                          <a:solidFill>
                            <a:srgbClr val="1A1A1A"/>
                          </a:solidFill>
                          <a:latin typeface="Arial"/>
                        </a:rPr>
                        <a:t>What to expect</a:t>
                      </a:r>
                    </a:p>
                  </a:txBody>
                  <a:tcPr marL="73152" marR="73152" marT="27432" marB="27432" anchor="ctr">
                    <a:solidFill>
                      <a:srgbClr val="F2F2F2"/>
                    </a:solidFill>
                    <a:lnB w="9525" cap="flat" cmpd="sng" algn="ctr">
                      <a:solidFill>
                        <a:srgbClr val="BFBFBF"/>
                      </a:solidFill>
                      <a:prstDash val="solid"/>
                    </a:lnB>
                    <a:lnT w="9525"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08918">
                <a:tc>
                  <a:txBody>
                    <a:bodyPr wrap="square"/>
                    <a:lstStyle/>
                    <a:p>
                      <a:r>
                        <a:rPr sz="1146" b="0" i="0">
                          <a:solidFill>
                            <a:srgbClr val="1A1A1A"/>
                          </a:solidFill>
                          <a:latin typeface="Courier New"/>
                        </a:rPr>
                        <a:t>touchRead(T4)</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07" b="0" i="0">
                          <a:solidFill>
                            <a:srgbClr val="1A1A1A"/>
                          </a:solidFill>
                          <a:latin typeface="Arial"/>
                        </a:rPr>
                        <a:t>capacitance on GPIO 4</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07" b="0" i="0">
                          <a:solidFill>
                            <a:srgbClr val="1A1A1A"/>
                          </a:solidFill>
                          <a:latin typeface="Arial"/>
                        </a:rPr>
                        <a:t>Charges and discharges the pad and measures how long it takes. More capacitance (a finger) → a </a:t>
                      </a:r>
                      <a:r>
                        <a:rPr sz="1207" b="1" i="0">
                          <a:solidFill>
                            <a:srgbClr val="1A1A1A"/>
                          </a:solidFill>
                          <a:latin typeface="Arial"/>
                        </a:rPr>
                        <a:t>larger</a:t>
                      </a:r>
                      <a:r>
                        <a:rPr sz="1207" b="0" i="0">
                          <a:solidFill>
                            <a:srgbClr val="1A1A1A"/>
                          </a:solidFill>
                          <a:latin typeface="Arial"/>
                        </a:rPr>
                        <a:t> count on the S3 (smaller on the original ESP32).</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07" b="0" i="0">
                          <a:solidFill>
                            <a:srgbClr val="1A1A1A"/>
                          </a:solidFill>
                          <a:latin typeface="Arial"/>
                        </a:rPr>
                        <a:t>≈ 20 000–30 000 untouched, 40 000+ touched on a bare header pin. Very board- and humidity-dependent. Fourteen pads: T1–T14 on GPIO 1–14.</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08918">
                <a:tc>
                  <a:txBody>
                    <a:bodyPr wrap="square"/>
                    <a:lstStyle/>
                    <a:p>
                      <a:r>
                        <a:rPr sz="1146" b="0" i="0">
                          <a:solidFill>
                            <a:srgbClr val="1A1A1A"/>
                          </a:solidFill>
                          <a:latin typeface="Courier New"/>
                        </a:rPr>
                        <a:t>temperatureRead()</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07" b="0" i="0">
                          <a:solidFill>
                            <a:srgbClr val="1A1A1A"/>
                          </a:solidFill>
                          <a:latin typeface="Arial"/>
                        </a:rPr>
                        <a:t>die temperature, °C</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07" b="0" i="0">
                          <a:solidFill>
                            <a:srgbClr val="1A1A1A"/>
                          </a:solidFill>
                          <a:latin typeface="Arial"/>
                        </a:rPr>
                        <a:t>Internal sensor next to the CPU, read through ADC.</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07" b="0" i="0">
                          <a:solidFill>
                            <a:srgbClr val="1A1A1A"/>
                          </a:solidFill>
                          <a:latin typeface="Arial"/>
                        </a:rPr>
                        <a:t>Reads 40–60 °C on a warm chip; ±few °C at best; drifts with Wi-Fi load. Good for trends, not for room temperature.</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08918">
                <a:tc>
                  <a:txBody>
                    <a:bodyPr wrap="square"/>
                    <a:lstStyle/>
                    <a:p>
                      <a:r>
                        <a:rPr sz="1146" b="0" i="0">
                          <a:solidFill>
                            <a:srgbClr val="1A1A1A"/>
                          </a:solidFill>
                          <a:latin typeface="Courier New"/>
                        </a:rPr>
                        <a:t>analogRead(pin)</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07" b="0" i="0">
                          <a:solidFill>
                            <a:srgbClr val="1A1A1A"/>
                          </a:solidFill>
                          <a:latin typeface="Arial"/>
                        </a:rPr>
                        <a:t>voltage on an ADC pin</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07" b="0" i="0">
                          <a:solidFill>
                            <a:srgbClr val="1A1A1A"/>
                          </a:solidFill>
                          <a:latin typeface="Arial"/>
                        </a:rPr>
                        <a:t>12-bit SAR ADC, 0–4095. Default 12 dB attenuation, usable range ≈ 0–3100 mV. Uses factory calibration in core 3.x.</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07" b="0" i="0">
                          <a:solidFill>
                            <a:srgbClr val="1A1A1A"/>
                          </a:solidFill>
                          <a:latin typeface="Arial"/>
                        </a:rPr>
                        <a:t>Nonlinear near the top. Noisy: average 8–16 samples. ADC1 = GPIO 1–10; ADC2 (11–20) is unreliable with Wi-Fi on.</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08918">
                <a:tc>
                  <a:txBody>
                    <a:bodyPr wrap="square"/>
                    <a:lstStyle/>
                    <a:p>
                      <a:r>
                        <a:rPr sz="1146" b="0" i="0">
                          <a:solidFill>
                            <a:srgbClr val="1A1A1A"/>
                          </a:solidFill>
                          <a:latin typeface="Courier New"/>
                        </a:rPr>
                        <a:t>analogWrite(pin, 0–255)</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07" b="0" i="0">
                          <a:solidFill>
                            <a:srgbClr val="1A1A1A"/>
                          </a:solidFill>
                          <a:latin typeface="Arial"/>
                        </a:rPr>
                        <a:t>(output) PWM duty</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07" b="0" i="0">
                          <a:solidFill>
                            <a:srgbClr val="1A1A1A"/>
                          </a:solidFill>
                          <a:latin typeface="Arial"/>
                        </a:rPr>
                        <a:t>LEDC peripheral: 8 channels, 1 kHz, 8-bit by default in core 3.x. </a:t>
                      </a:r>
                      <a:r>
                        <a:rPr sz="1146" b="0" i="0">
                          <a:solidFill>
                            <a:srgbClr val="1A1A1A"/>
                          </a:solidFill>
                          <a:latin typeface="Courier New"/>
                        </a:rPr>
                        <a:t>ledcAttach(pin, freq, bits)</a:t>
                      </a:r>
                      <a:r>
                        <a:rPr sz="1207" b="0" i="0">
                          <a:solidFill>
                            <a:srgbClr val="1A1A1A"/>
                          </a:solidFill>
                          <a:latin typeface="Arial"/>
                        </a:rPr>
                        <a:t> for full control.</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07" b="0" i="0">
                          <a:solidFill>
                            <a:srgbClr val="1A1A1A"/>
                          </a:solidFill>
                          <a:latin typeface="Arial"/>
                        </a:rPr>
                        <a:t>Dims a plain LED, drives servos (50 Hz) and buzzers. Does not work on the RGB LED; set its brightness through </a:t>
                      </a:r>
                      <a:r>
                        <a:rPr sz="1146" b="0" i="0">
                          <a:solidFill>
                            <a:srgbClr val="1A1A1A"/>
                          </a:solidFill>
                          <a:latin typeface="Courier New"/>
                        </a:rPr>
                        <a:t>rgbLedWrite</a:t>
                      </a:r>
                      <a:r>
                        <a:rPr sz="1207" b="0" i="0">
                          <a:solidFill>
                            <a:srgbClr val="1A1A1A"/>
                          </a:solidFill>
                          <a:latin typeface="Arial"/>
                        </a:rPr>
                        <a:t> values instead.</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08918">
                <a:tc>
                  <a:txBody>
                    <a:bodyPr wrap="square"/>
                    <a:lstStyle/>
                    <a:p>
                      <a:r>
                        <a:rPr sz="1146" b="0" i="0">
                          <a:solidFill>
                            <a:srgbClr val="1A1A1A"/>
                          </a:solidFill>
                          <a:latin typeface="Courier New"/>
                        </a:rPr>
                        <a:t>rgbLedWrite(pin, r, g, b)</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07" b="0" i="0">
                          <a:solidFill>
                            <a:srgbClr val="1A1A1A"/>
                          </a:solidFill>
                          <a:latin typeface="Arial"/>
                        </a:rPr>
                        <a:t>(output) RGB LED colour</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07" b="0" i="0">
                          <a:solidFill>
                            <a:srgbClr val="1A1A1A"/>
                          </a:solidFill>
                          <a:latin typeface="Arial"/>
                        </a:rPr>
                        <a:t>Sends 24 bits to a WS2812 through the RMT peripheral; works for the onboard LED and for LED strips (</a:t>
                      </a:r>
                      <a:r>
                        <a:rPr sz="1146" b="0" i="0">
                          <a:solidFill>
                            <a:srgbClr val="1A1A1A"/>
                          </a:solidFill>
                          <a:latin typeface="Courier New"/>
                        </a:rPr>
                        <a:t>rgbLedWrite</a:t>
                      </a:r>
                      <a:r>
                        <a:rPr sz="1207" b="0" i="0">
                          <a:solidFill>
                            <a:srgbClr val="1A1A1A"/>
                          </a:solidFill>
                          <a:latin typeface="Arial"/>
                        </a:rPr>
                        <a:t> for one, a library like FastLED for many).</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07" b="0" i="0">
                          <a:solidFill>
                            <a:srgbClr val="1A1A1A"/>
                          </a:solidFill>
                          <a:latin typeface="Arial"/>
                        </a:rPr>
                        <a:t>Full brightness is blinding; 20–60 is comfortable. Order is r, g, b.</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bl>
          </a:graphicData>
        </a:graphic>
      </p:graphicFrame>
      <p:sp>
        <p:nvSpPr>
          <p:cNvPr id="7" name="TextBox 6"/>
          <p:cNvSpPr txBox="1"/>
          <p:nvPr/>
        </p:nvSpPr>
        <p:spPr>
          <a:xfrm>
            <a:off x="685800" y="5262739"/>
            <a:ext cx="10820095" cy="477365"/>
          </a:xfrm>
          <a:prstGeom prst="rect">
            <a:avLst/>
          </a:prstGeom>
          <a:noFill/>
        </p:spPr>
        <p:txBody>
          <a:bodyPr wrap="square" anchor="t" lIns="0" rIns="0" tIns="18288" bIns="18288">
            <a:spAutoFit/>
          </a:bodyPr>
          <a:lstStyle/>
          <a:p>
            <a:r>
              <a:rPr sz="1287" b="0" i="0">
                <a:solidFill>
                  <a:srgbClr val="595959"/>
                </a:solidFill>
                <a:latin typeface="Arial"/>
              </a:rPr>
              <a:t>Task 2 prints touch and temperature; Task 4 shows them on a web page. </a:t>
            </a:r>
            <a:r>
              <a:rPr sz="1223" b="0" i="0">
                <a:solidFill>
                  <a:srgbClr val="595959"/>
                </a:solidFill>
                <a:latin typeface="Courier New"/>
              </a:rPr>
              <a:t>analogRead</a:t>
            </a:r>
            <a:r>
              <a:rPr sz="1287" b="0" i="0">
                <a:solidFill>
                  <a:srgbClr val="595959"/>
                </a:solidFill>
                <a:latin typeface="Arial"/>
              </a:rPr>
              <a:t> needs a potentiometer or a light sensor; helpers have a few if you want to try.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0"/>
            <a:ext cx="7315200" cy="274320"/>
          </a:xfrm>
          <a:prstGeom prst="rect">
            <a:avLst/>
          </a:prstGeom>
          <a:noFill/>
        </p:spPr>
        <p:txBody>
          <a:bodyPr wrap="square" anchor="t" lIns="0" rIns="0" tIns="18288" bIns="18288">
            <a:spAutoFit/>
          </a:bodyPr>
          <a:lstStyle/>
          <a:p>
            <a:pPr algn="l"/>
            <a:r>
              <a:rPr sz="1000" b="0" i="0">
                <a:solidFill>
                  <a:srgbClr val="595959"/>
                </a:solidFill>
                <a:latin typeface="Arial"/>
              </a:rPr>
              <a:t>HackHardware · Getting started with the ESP32</a:t>
            </a:r>
          </a:p>
        </p:txBody>
      </p:sp>
      <p:sp>
        <p:nvSpPr>
          <p:cNvPr id="3" name="TextBox 2"/>
          <p:cNvSpPr txBox="1"/>
          <p:nvPr/>
        </p:nvSpPr>
        <p:spPr>
          <a:xfrm>
            <a:off x="10134295" y="6400800"/>
            <a:ext cx="1371600" cy="274320"/>
          </a:xfrm>
          <a:prstGeom prst="rect">
            <a:avLst/>
          </a:prstGeom>
          <a:noFill/>
        </p:spPr>
        <p:txBody>
          <a:bodyPr wrap="square" anchor="t" lIns="0" rIns="0" tIns="18288" bIns="18288">
            <a:spAutoFit/>
          </a:bodyPr>
          <a:lstStyle/>
          <a:p>
            <a:pPr algn="r"/>
            <a:r>
              <a:rPr sz="1000" b="0" i="0">
                <a:solidFill>
                  <a:srgbClr val="595959"/>
                </a:solidFill>
                <a:latin typeface="Arial"/>
              </a:rPr>
              <a:t>21</a:t>
            </a:r>
          </a:p>
        </p:txBody>
      </p:sp>
      <p:sp>
        <p:nvSpPr>
          <p:cNvPr id="4" name="TextBox 3"/>
          <p:cNvSpPr txBox="1"/>
          <p:nvPr/>
        </p:nvSpPr>
        <p:spPr>
          <a:xfrm>
            <a:off x="685800" y="457200"/>
            <a:ext cx="10820095" cy="822960"/>
          </a:xfrm>
          <a:prstGeom prst="rect">
            <a:avLst/>
          </a:prstGeom>
          <a:noFill/>
        </p:spPr>
        <p:txBody>
          <a:bodyPr wrap="square" anchor="b" lIns="0" rIns="0" tIns="18288" bIns="18288">
            <a:spAutoFit/>
          </a:bodyPr>
          <a:lstStyle/>
          <a:p>
            <a:pPr algn="l"/>
            <a:r>
              <a:rPr sz="3000" b="1" i="0">
                <a:solidFill>
                  <a:srgbClr val="1A1A1A"/>
                </a:solidFill>
                <a:latin typeface="Arial"/>
              </a:rPr>
              <a:t>Task 3: Turn on Wi-Fi</a:t>
            </a:r>
          </a:p>
        </p:txBody>
      </p:sp>
      <p:cxnSp>
        <p:nvCxnSpPr>
          <p:cNvPr id="5" name="Connector 4"/>
          <p:cNvCxnSpPr/>
          <p:nvPr/>
        </p:nvCxnSpPr>
        <p:spPr>
          <a:xfrm>
            <a:off x="685800" y="1298448"/>
            <a:ext cx="10820095" cy="0"/>
          </a:xfrm>
          <a:prstGeom prst="line">
            <a:avLst/>
          </a:prstGeom>
          <a:ln w="9525">
            <a:solidFill>
              <a:srgbClr val="BFBFBF"/>
            </a:solidFill>
          </a:ln>
        </p:spPr>
      </p:cxnSp>
      <p:sp>
        <p:nvSpPr>
          <p:cNvPr id="6" name="TextBox 5"/>
          <p:cNvSpPr txBox="1"/>
          <p:nvPr/>
        </p:nvSpPr>
        <p:spPr>
          <a:xfrm>
            <a:off x="685800" y="1453896"/>
            <a:ext cx="10820095" cy="338617"/>
          </a:xfrm>
          <a:prstGeom prst="rect">
            <a:avLst/>
          </a:prstGeom>
          <a:noFill/>
        </p:spPr>
        <p:txBody>
          <a:bodyPr wrap="square" anchor="t" lIns="0" rIns="0" tIns="18288" bIns="18288">
            <a:spAutoFit/>
          </a:bodyPr>
          <a:lstStyle/>
          <a:p>
            <a:r>
              <a:rPr sz="1527" b="1" i="0">
                <a:solidFill>
                  <a:srgbClr val="1A1A1A"/>
                </a:solidFill>
                <a:latin typeface="Arial"/>
              </a:rPr>
              <a:t>Do this</a:t>
            </a:r>
          </a:p>
        </p:txBody>
      </p:sp>
      <p:sp>
        <p:nvSpPr>
          <p:cNvPr id="7" name="TextBox 6"/>
          <p:cNvSpPr txBox="1"/>
          <p:nvPr/>
        </p:nvSpPr>
        <p:spPr>
          <a:xfrm>
            <a:off x="685800" y="1847377"/>
            <a:ext cx="10820095" cy="2916583"/>
          </a:xfrm>
          <a:prstGeom prst="rect">
            <a:avLst/>
          </a:prstGeom>
          <a:noFill/>
        </p:spPr>
        <p:txBody>
          <a:bodyPr wrap="square" anchor="t" lIns="0" rIns="0" tIns="18288" bIns="18288">
            <a:spAutoFit/>
          </a:bodyPr>
          <a:lstStyle/>
          <a:p>
            <a:pPr>
              <a:spcAft>
                <a:spcPts val="600"/>
              </a:spcAft>
            </a:pPr>
            <a:r>
              <a:rPr sz="1622" b="0" i="0">
                <a:solidFill>
                  <a:srgbClr val="595959"/>
                </a:solidFill>
                <a:latin typeface="Arial"/>
              </a:rPr>
              <a:t>1.  </a:t>
            </a:r>
            <a:r>
              <a:rPr sz="1622" b="0" i="0">
                <a:solidFill>
                  <a:srgbClr val="1A1A1A"/>
                </a:solidFill>
                <a:latin typeface="Arial"/>
              </a:rPr>
              <a:t>Open </a:t>
            </a:r>
            <a:r>
              <a:rPr sz="1541" b="0" i="0">
                <a:solidFill>
                  <a:srgbClr val="1A1A1A"/>
                </a:solidFill>
                <a:latin typeface="Courier New"/>
              </a:rPr>
              <a:t>tasks/03_wifi/config.h</a:t>
            </a:r>
            <a:r>
              <a:rPr sz="1622" b="0" i="0">
                <a:solidFill>
                  <a:srgbClr val="1A1A1A"/>
                </a:solidFill>
                <a:latin typeface="Arial"/>
              </a:rPr>
              <a:t>. Set </a:t>
            </a:r>
            <a:r>
              <a:rPr sz="1541" b="0" i="0">
                <a:solidFill>
                  <a:srgbClr val="1A1A1A"/>
                </a:solidFill>
                <a:latin typeface="Courier New"/>
              </a:rPr>
              <a:t>BOARD_NAME</a:t>
            </a:r>
            <a:r>
              <a:rPr sz="1622" b="0" i="0">
                <a:solidFill>
                  <a:srgbClr val="1A1A1A"/>
                </a:solidFill>
                <a:latin typeface="Arial"/>
              </a:rPr>
              <a:t> to something unique and short, e.g. </a:t>
            </a:r>
            <a:r>
              <a:rPr sz="1541" b="0" i="0">
                <a:solidFill>
                  <a:srgbClr val="1A1A1A"/>
                </a:solidFill>
                <a:latin typeface="Courier New"/>
              </a:rPr>
              <a:t>"ESP32-felipe"</a:t>
            </a:r>
            <a:r>
              <a:rPr sz="1622" b="0" i="0">
                <a:solidFill>
                  <a:srgbClr val="1A1A1A"/>
                </a:solidFill>
                <a:latin typeface="Arial"/>
              </a:rPr>
              <a:t>. This becomes your network name.</a:t>
            </a:r>
          </a:p>
          <a:p>
            <a:pPr>
              <a:spcAft>
                <a:spcPts val="600"/>
              </a:spcAft>
            </a:pPr>
            <a:r>
              <a:rPr sz="1622" b="0" i="0">
                <a:solidFill>
                  <a:srgbClr val="595959"/>
                </a:solidFill>
                <a:latin typeface="Arial"/>
              </a:rPr>
              <a:t>2.  </a:t>
            </a:r>
            <a:r>
              <a:rPr sz="1622" b="0" i="0">
                <a:solidFill>
                  <a:srgbClr val="1A1A1A"/>
                </a:solidFill>
                <a:latin typeface="Arial"/>
              </a:rPr>
              <a:t>Open </a:t>
            </a:r>
            <a:r>
              <a:rPr sz="1541" b="0" i="0">
                <a:solidFill>
                  <a:srgbClr val="1A1A1A"/>
                </a:solidFill>
                <a:latin typeface="Courier New"/>
              </a:rPr>
              <a:t>03_wifi.ino</a:t>
            </a:r>
            <a:r>
              <a:rPr sz="1622" b="0" i="0">
                <a:solidFill>
                  <a:srgbClr val="1A1A1A"/>
                </a:solidFill>
                <a:latin typeface="Arial"/>
              </a:rPr>
              <a:t>, </a:t>
            </a:r>
            <a:r>
              <a:rPr sz="1622" b="1" i="0">
                <a:solidFill>
                  <a:srgbClr val="1A1A1A"/>
                </a:solidFill>
                <a:latin typeface="Arial"/>
              </a:rPr>
              <a:t>Upload</a:t>
            </a:r>
            <a:r>
              <a:rPr sz="1622" b="0" i="0">
                <a:solidFill>
                  <a:srgbClr val="1A1A1A"/>
                </a:solidFill>
                <a:latin typeface="Arial"/>
              </a:rPr>
              <a:t>, open </a:t>
            </a:r>
            <a:r>
              <a:rPr sz="1622" b="1" i="0">
                <a:solidFill>
                  <a:srgbClr val="1A1A1A"/>
                </a:solidFill>
                <a:latin typeface="Arial"/>
              </a:rPr>
              <a:t>Serial Monitor</a:t>
            </a:r>
            <a:r>
              <a:rPr sz="1622" b="0" i="0">
                <a:solidFill>
                  <a:srgbClr val="1A1A1A"/>
                </a:solidFill>
                <a:latin typeface="Arial"/>
              </a:rPr>
              <a:t>.</a:t>
            </a:r>
          </a:p>
          <a:p>
            <a:pPr>
              <a:spcAft>
                <a:spcPts val="600"/>
              </a:spcAft>
            </a:pPr>
            <a:r>
              <a:rPr sz="1622" b="0" i="0">
                <a:solidFill>
                  <a:srgbClr val="595959"/>
                </a:solidFill>
                <a:latin typeface="Arial"/>
              </a:rPr>
              <a:t>3.  </a:t>
            </a:r>
            <a:r>
              <a:rPr sz="1622" b="0" i="0">
                <a:solidFill>
                  <a:srgbClr val="1A1A1A"/>
                </a:solidFill>
                <a:latin typeface="Arial"/>
              </a:rPr>
              <a:t>First a table: every network in the room with channel, signal strength (RSSI) and security. Find the campus Wi-Fi and see its channel.</a:t>
            </a:r>
          </a:p>
          <a:p>
            <a:pPr>
              <a:spcAft>
                <a:spcPts val="600"/>
              </a:spcAft>
            </a:pPr>
            <a:r>
              <a:rPr sz="1622" b="0" i="0">
                <a:solidFill>
                  <a:srgbClr val="595959"/>
                </a:solidFill>
                <a:latin typeface="Arial"/>
              </a:rPr>
              <a:t>4.  </a:t>
            </a:r>
            <a:r>
              <a:rPr sz="1622" b="0" i="0">
                <a:solidFill>
                  <a:srgbClr val="1A1A1A"/>
                </a:solidFill>
                <a:latin typeface="Arial"/>
              </a:rPr>
              <a:t>Then: </a:t>
            </a:r>
            <a:r>
              <a:rPr sz="1541" b="0" i="0">
                <a:solidFill>
                  <a:srgbClr val="1A1A1A"/>
                </a:solidFill>
                <a:latin typeface="Courier New"/>
              </a:rPr>
              <a:t>AP started  SSID: ESP32-felipe  IP: 192.168.4.1</a:t>
            </a:r>
          </a:p>
          <a:p>
            <a:pPr>
              <a:spcAft>
                <a:spcPts val="600"/>
              </a:spcAft>
            </a:pPr>
            <a:r>
              <a:rPr sz="1622" b="0" i="0">
                <a:solidFill>
                  <a:srgbClr val="595959"/>
                </a:solidFill>
                <a:latin typeface="Arial"/>
              </a:rPr>
              <a:t>5.  </a:t>
            </a:r>
            <a:r>
              <a:rPr sz="1622" b="0" i="0">
                <a:solidFill>
                  <a:srgbClr val="1A1A1A"/>
                </a:solidFill>
                <a:latin typeface="Arial"/>
              </a:rPr>
              <a:t>On your phone, open Wi-Fi settings, join </a:t>
            </a:r>
            <a:r>
              <a:rPr sz="1622" b="1" i="0">
                <a:solidFill>
                  <a:srgbClr val="1A1A1A"/>
                </a:solidFill>
                <a:latin typeface="Arial"/>
              </a:rPr>
              <a:t>ESP32-&lt;your name&gt;</a:t>
            </a:r>
            <a:r>
              <a:rPr sz="1622" b="0" i="0">
                <a:solidFill>
                  <a:srgbClr val="1A1A1A"/>
                </a:solidFill>
                <a:latin typeface="Arial"/>
              </a:rPr>
              <a:t>, password </a:t>
            </a:r>
            <a:r>
              <a:rPr sz="1541" b="0" i="0">
                <a:solidFill>
                  <a:srgbClr val="1A1A1A"/>
                </a:solidFill>
                <a:latin typeface="Courier New"/>
              </a:rPr>
              <a:t>hackhardware</a:t>
            </a:r>
            <a:r>
              <a:rPr sz="1622" b="0" i="0">
                <a:solidFill>
                  <a:srgbClr val="1A1A1A"/>
                </a:solidFill>
                <a:latin typeface="Arial"/>
              </a:rPr>
              <a:t>. Accept “no internet connection”.</a:t>
            </a:r>
          </a:p>
          <a:p>
            <a:pPr>
              <a:spcAft>
                <a:spcPts val="600"/>
              </a:spcAft>
            </a:pPr>
            <a:r>
              <a:rPr sz="1622" b="0" i="0">
                <a:solidFill>
                  <a:srgbClr val="595959"/>
                </a:solidFill>
                <a:latin typeface="Arial"/>
              </a:rPr>
              <a:t>6.  </a:t>
            </a:r>
            <a:r>
              <a:rPr sz="1622" b="0" i="0">
                <a:solidFill>
                  <a:srgbClr val="1A1A1A"/>
                </a:solidFill>
                <a:latin typeface="Arial"/>
              </a:rPr>
              <a:t>The LED blinks faster while a device is connected. </a:t>
            </a:r>
            <a:r>
              <a:rPr sz="1541" b="0" i="0">
                <a:solidFill>
                  <a:srgbClr val="1A1A1A"/>
                </a:solidFill>
                <a:latin typeface="Courier New"/>
              </a:rPr>
              <a:t>Serial</a:t>
            </a:r>
            <a:r>
              <a:rPr sz="1622" b="0" i="0">
                <a:solidFill>
                  <a:srgbClr val="1A1A1A"/>
                </a:solidFill>
                <a:latin typeface="Arial"/>
              </a:rPr>
              <a:t> prints </a:t>
            </a:r>
            <a:r>
              <a:rPr sz="1541" b="0" i="0">
                <a:solidFill>
                  <a:srgbClr val="1A1A1A"/>
                </a:solidFill>
                <a:latin typeface="Courier New"/>
              </a:rPr>
              <a:t>client connected</a:t>
            </a:r>
            <a:r>
              <a:rPr sz="1622" b="0" i="0">
                <a:solidFill>
                  <a:srgbClr val="1A1A1A"/>
                </a:solidFill>
                <a:latin typeface="Arial"/>
              </a:rPr>
              <a:t> with the phone's MAC address.</a:t>
            </a:r>
          </a:p>
        </p:txBody>
      </p:sp>
      <p:sp>
        <p:nvSpPr>
          <p:cNvPr id="8" name="TextBox 7"/>
          <p:cNvSpPr txBox="1"/>
          <p:nvPr/>
        </p:nvSpPr>
        <p:spPr>
          <a:xfrm>
            <a:off x="685800" y="4992561"/>
            <a:ext cx="10820095" cy="334635"/>
          </a:xfrm>
          <a:prstGeom prst="rect">
            <a:avLst/>
          </a:prstGeom>
          <a:noFill/>
        </p:spPr>
        <p:txBody>
          <a:bodyPr wrap="square" anchor="t" lIns="0" rIns="0" tIns="18288" bIns="18288">
            <a:spAutoFit/>
          </a:bodyPr>
          <a:lstStyle/>
          <a:p>
            <a:r>
              <a:rPr sz="1622" b="1" i="0">
                <a:solidFill>
                  <a:srgbClr val="1A1A1A"/>
                </a:solidFill>
                <a:latin typeface="Arial"/>
              </a:rPr>
              <a:t>Check:</a:t>
            </a:r>
            <a:r>
              <a:rPr sz="1622" b="0" i="0">
                <a:solidFill>
                  <a:srgbClr val="1A1A1A"/>
                </a:solidFill>
                <a:latin typeface="Arial"/>
              </a:rPr>
              <a:t> your phone is connected to your board's network.</a:t>
            </a:r>
          </a:p>
        </p:txBody>
      </p:sp>
      <p:sp>
        <p:nvSpPr>
          <p:cNvPr id="9" name="TextBox 8"/>
          <p:cNvSpPr txBox="1"/>
          <p:nvPr/>
        </p:nvSpPr>
        <p:spPr>
          <a:xfrm>
            <a:off x="685800" y="5528364"/>
            <a:ext cx="10820095" cy="520607"/>
          </a:xfrm>
          <a:prstGeom prst="rect">
            <a:avLst/>
          </a:prstGeom>
          <a:noFill/>
        </p:spPr>
        <p:txBody>
          <a:bodyPr wrap="square" anchor="t" lIns="0" rIns="0" tIns="18288" bIns="18288">
            <a:spAutoFit/>
          </a:bodyPr>
          <a:lstStyle/>
          <a:p>
            <a:r>
              <a:rPr sz="1431" b="0" i="0">
                <a:solidFill>
                  <a:srgbClr val="595959"/>
                </a:solidFill>
                <a:latin typeface="Arial"/>
              </a:rPr>
              <a:t>If you finish early: set </a:t>
            </a:r>
            <a:r>
              <a:rPr sz="1360" b="0" i="0">
                <a:solidFill>
                  <a:srgbClr val="595959"/>
                </a:solidFill>
                <a:latin typeface="Courier New"/>
              </a:rPr>
              <a:t>USE_STATION_MODE 1</a:t>
            </a:r>
            <a:r>
              <a:rPr sz="1431" b="0" i="0">
                <a:solidFill>
                  <a:srgbClr val="595959"/>
                </a:solidFill>
                <a:latin typeface="Arial"/>
              </a:rPr>
              <a:t> and put your phone's hotspot name and password in </a:t>
            </a:r>
            <a:r>
              <a:rPr sz="1360" b="0" i="0">
                <a:solidFill>
                  <a:srgbClr val="595959"/>
                </a:solidFill>
                <a:latin typeface="Courier New"/>
              </a:rPr>
              <a:t>config.h</a:t>
            </a:r>
            <a:r>
              <a:rPr sz="1431" b="0" i="0">
                <a:solidFill>
                  <a:srgbClr val="595959"/>
                </a:solidFill>
                <a:latin typeface="Arial"/>
              </a:rPr>
              <a:t>; the board joins it and prints the IP it was given. Or print only the strongest network and its RSSI, updating every 2 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0"/>
            <a:ext cx="7315200" cy="274320"/>
          </a:xfrm>
          <a:prstGeom prst="rect">
            <a:avLst/>
          </a:prstGeom>
          <a:noFill/>
        </p:spPr>
        <p:txBody>
          <a:bodyPr wrap="square" anchor="t" lIns="0" rIns="0" tIns="18288" bIns="18288">
            <a:spAutoFit/>
          </a:bodyPr>
          <a:lstStyle/>
          <a:p>
            <a:pPr algn="l"/>
            <a:r>
              <a:rPr sz="1000" b="0" i="0">
                <a:solidFill>
                  <a:srgbClr val="595959"/>
                </a:solidFill>
                <a:latin typeface="Arial"/>
              </a:rPr>
              <a:t>HackHardware · Getting started with the ESP32</a:t>
            </a:r>
          </a:p>
        </p:txBody>
      </p:sp>
      <p:sp>
        <p:nvSpPr>
          <p:cNvPr id="3" name="TextBox 2"/>
          <p:cNvSpPr txBox="1"/>
          <p:nvPr/>
        </p:nvSpPr>
        <p:spPr>
          <a:xfrm>
            <a:off x="10134295" y="6400800"/>
            <a:ext cx="1371600" cy="274320"/>
          </a:xfrm>
          <a:prstGeom prst="rect">
            <a:avLst/>
          </a:prstGeom>
          <a:noFill/>
        </p:spPr>
        <p:txBody>
          <a:bodyPr wrap="square" anchor="t" lIns="0" rIns="0" tIns="18288" bIns="18288">
            <a:spAutoFit/>
          </a:bodyPr>
          <a:lstStyle/>
          <a:p>
            <a:pPr algn="r"/>
            <a:r>
              <a:rPr sz="1000" b="0" i="0">
                <a:solidFill>
                  <a:srgbClr val="595959"/>
                </a:solidFill>
                <a:latin typeface="Arial"/>
              </a:rPr>
              <a:t>22</a:t>
            </a:r>
          </a:p>
        </p:txBody>
      </p:sp>
      <p:sp>
        <p:nvSpPr>
          <p:cNvPr id="4" name="TextBox 3"/>
          <p:cNvSpPr txBox="1"/>
          <p:nvPr/>
        </p:nvSpPr>
        <p:spPr>
          <a:xfrm>
            <a:off x="685800" y="457200"/>
            <a:ext cx="10820095" cy="822960"/>
          </a:xfrm>
          <a:prstGeom prst="rect">
            <a:avLst/>
          </a:prstGeom>
          <a:noFill/>
        </p:spPr>
        <p:txBody>
          <a:bodyPr wrap="square" anchor="b" lIns="0" rIns="0" tIns="18288" bIns="18288">
            <a:spAutoFit/>
          </a:bodyPr>
          <a:lstStyle/>
          <a:p>
            <a:pPr algn="l"/>
            <a:r>
              <a:rPr sz="3000" b="1" i="0">
                <a:solidFill>
                  <a:srgbClr val="1A1A1A"/>
                </a:solidFill>
                <a:latin typeface="Arial"/>
              </a:rPr>
              <a:t>Wi-Fi on the ESP32-S3</a:t>
            </a:r>
          </a:p>
        </p:txBody>
      </p:sp>
      <p:cxnSp>
        <p:nvCxnSpPr>
          <p:cNvPr id="5" name="Connector 4"/>
          <p:cNvCxnSpPr/>
          <p:nvPr/>
        </p:nvCxnSpPr>
        <p:spPr>
          <a:xfrm>
            <a:off x="685800" y="1298448"/>
            <a:ext cx="10820095" cy="0"/>
          </a:xfrm>
          <a:prstGeom prst="line">
            <a:avLst/>
          </a:prstGeom>
          <a:ln w="9525">
            <a:solidFill>
              <a:srgbClr val="BFBFBF"/>
            </a:solidFill>
          </a:ln>
        </p:spPr>
      </p:cxnSp>
      <p:sp>
        <p:nvSpPr>
          <p:cNvPr id="6" name="TextBox 5"/>
          <p:cNvSpPr txBox="1"/>
          <p:nvPr/>
        </p:nvSpPr>
        <p:spPr>
          <a:xfrm>
            <a:off x="685800" y="1463040"/>
            <a:ext cx="5135727" cy="274320"/>
          </a:xfrm>
          <a:prstGeom prst="rect">
            <a:avLst/>
          </a:prstGeom>
          <a:noFill/>
        </p:spPr>
        <p:txBody>
          <a:bodyPr wrap="square" anchor="t" lIns="0" rIns="0" tIns="18288" bIns="18288">
            <a:spAutoFit/>
          </a:bodyPr>
          <a:lstStyle/>
          <a:p>
            <a:pPr algn="l"/>
            <a:r>
              <a:rPr sz="1200" b="1" i="0">
                <a:solidFill>
                  <a:srgbClr val="1A1A1A"/>
                </a:solidFill>
                <a:latin typeface="Arial"/>
              </a:rPr>
              <a:t>Station (STA): the board joins a network</a:t>
            </a:r>
          </a:p>
        </p:txBody>
      </p:sp>
      <p:sp>
        <p:nvSpPr>
          <p:cNvPr id="7" name="Rectangle 6"/>
          <p:cNvSpPr/>
          <p:nvPr/>
        </p:nvSpPr>
        <p:spPr>
          <a:xfrm>
            <a:off x="685800" y="1874520"/>
            <a:ext cx="1005840" cy="640080"/>
          </a:xfrm>
          <a:prstGeom prst="rect">
            <a:avLst/>
          </a:prstGeom>
          <a:noFill/>
          <a:ln w="9525">
            <a:solidFill>
              <a:srgbClr val="1A1A1A"/>
            </a:solidFill>
          </a:ln>
          <a:effectLst/>
        </p:spPr>
        <p:txBody>
          <a:bodyPr rtlCol="0" anchor="ctr" wrap="square" lIns="45720" rIns="45720" tIns="18288" bIns="18288"/>
          <a:lstStyle/>
          <a:p>
            <a:pPr algn="ctr"/>
            <a:r>
              <a:rPr sz="900" b="0" i="0">
                <a:solidFill>
                  <a:srgbClr val="1A1A1A"/>
                </a:solidFill>
                <a:latin typeface="Arial"/>
              </a:rPr>
              <a:t>phone /</a:t>
            </a:r>
          </a:p>
          <a:p>
            <a:pPr algn="ctr"/>
            <a:r>
              <a:rPr sz="900" b="0" i="0">
                <a:solidFill>
                  <a:srgbClr val="1A1A1A"/>
                </a:solidFill>
                <a:latin typeface="Arial"/>
              </a:rPr>
              <a:t>laptop</a:t>
            </a:r>
          </a:p>
        </p:txBody>
      </p:sp>
      <p:cxnSp>
        <p:nvCxnSpPr>
          <p:cNvPr id="8" name="Connector 7"/>
          <p:cNvCxnSpPr/>
          <p:nvPr/>
        </p:nvCxnSpPr>
        <p:spPr>
          <a:xfrm>
            <a:off x="1691640" y="2194560"/>
            <a:ext cx="548640" cy="0"/>
          </a:xfrm>
          <a:prstGeom prst="line">
            <a:avLst/>
          </a:prstGeom>
          <a:ln w="12700">
            <a:solidFill>
              <a:srgbClr val="1A1A1A"/>
            </a:solidFill>
            <a:prstDash val="dash"/>
          </a:ln>
        </p:spPr>
      </p:cxnSp>
      <p:sp>
        <p:nvSpPr>
          <p:cNvPr id="9" name="Rectangle 8"/>
          <p:cNvSpPr/>
          <p:nvPr/>
        </p:nvSpPr>
        <p:spPr>
          <a:xfrm>
            <a:off x="2240280" y="1874520"/>
            <a:ext cx="1097280" cy="640080"/>
          </a:xfrm>
          <a:prstGeom prst="rect">
            <a:avLst/>
          </a:prstGeom>
          <a:noFill/>
          <a:ln w="9525">
            <a:solidFill>
              <a:srgbClr val="1A1A1A"/>
            </a:solidFill>
          </a:ln>
          <a:effectLst/>
        </p:spPr>
        <p:txBody>
          <a:bodyPr rtlCol="0" anchor="ctr" wrap="square" lIns="45720" rIns="45720" tIns="18288" bIns="18288"/>
          <a:lstStyle/>
          <a:p>
            <a:pPr algn="ctr"/>
            <a:r>
              <a:rPr sz="900" b="0" i="0">
                <a:solidFill>
                  <a:srgbClr val="1A1A1A"/>
                </a:solidFill>
                <a:latin typeface="Arial"/>
              </a:rPr>
              <a:t>router or</a:t>
            </a:r>
          </a:p>
          <a:p>
            <a:pPr algn="ctr"/>
            <a:r>
              <a:rPr sz="900" b="0" i="0">
                <a:solidFill>
                  <a:srgbClr val="1A1A1A"/>
                </a:solidFill>
                <a:latin typeface="Arial"/>
              </a:rPr>
              <a:t>hotspot</a:t>
            </a:r>
          </a:p>
        </p:txBody>
      </p:sp>
      <p:cxnSp>
        <p:nvCxnSpPr>
          <p:cNvPr id="10" name="Connector 9"/>
          <p:cNvCxnSpPr/>
          <p:nvPr/>
        </p:nvCxnSpPr>
        <p:spPr>
          <a:xfrm>
            <a:off x="3337560" y="2194560"/>
            <a:ext cx="548640" cy="0"/>
          </a:xfrm>
          <a:prstGeom prst="line">
            <a:avLst/>
          </a:prstGeom>
          <a:ln w="12700">
            <a:solidFill>
              <a:srgbClr val="1A1A1A"/>
            </a:solidFill>
            <a:prstDash val="dash"/>
          </a:ln>
        </p:spPr>
      </p:cxnSp>
      <p:sp>
        <p:nvSpPr>
          <p:cNvPr id="11" name="Rectangle 10"/>
          <p:cNvSpPr/>
          <p:nvPr/>
        </p:nvSpPr>
        <p:spPr>
          <a:xfrm>
            <a:off x="3886200" y="1874520"/>
            <a:ext cx="1005840" cy="640080"/>
          </a:xfrm>
          <a:prstGeom prst="rect">
            <a:avLst/>
          </a:prstGeom>
          <a:solidFill>
            <a:srgbClr val="F2F2F2"/>
          </a:solidFill>
          <a:ln w="9525">
            <a:solidFill>
              <a:srgbClr val="1A1A1A"/>
            </a:solidFill>
          </a:ln>
          <a:effectLst/>
        </p:spPr>
        <p:txBody>
          <a:bodyPr rtlCol="0" anchor="ctr" wrap="square" lIns="45720" rIns="45720" tIns="18288" bIns="18288"/>
          <a:lstStyle/>
          <a:p>
            <a:pPr algn="ctr"/>
            <a:r>
              <a:rPr sz="900" b="0" i="0">
                <a:solidFill>
                  <a:srgbClr val="1A1A1A"/>
                </a:solidFill>
                <a:latin typeface="Arial"/>
              </a:rPr>
              <a:t>ESP32</a:t>
            </a:r>
          </a:p>
        </p:txBody>
      </p:sp>
      <p:sp>
        <p:nvSpPr>
          <p:cNvPr id="12" name="TextBox 11"/>
          <p:cNvSpPr txBox="1"/>
          <p:nvPr/>
        </p:nvSpPr>
        <p:spPr>
          <a:xfrm>
            <a:off x="685800" y="2651760"/>
            <a:ext cx="5135727" cy="822960"/>
          </a:xfrm>
          <a:prstGeom prst="rect">
            <a:avLst/>
          </a:prstGeom>
          <a:noFill/>
        </p:spPr>
        <p:txBody>
          <a:bodyPr wrap="square" anchor="t" lIns="0" rIns="0" tIns="18288" bIns="18288">
            <a:spAutoFit/>
          </a:bodyPr>
          <a:lstStyle/>
          <a:p>
            <a:pPr algn="l"/>
            <a:r>
              <a:rPr sz="1000" b="0" i="0">
                <a:solidFill>
                  <a:srgbClr val="595959"/>
                </a:solidFill>
                <a:latin typeface="Arial"/>
              </a:rPr>
              <a:t>Needs the network name and password in code. Gets an address from the router by DHCP. Campus Wi-Fi usually uses WPA2-Enterprise (username + password), which the WiFi library cannot join in one line, and isolates clients from each other — so your phone could not reach the board anyway.</a:t>
            </a:r>
          </a:p>
        </p:txBody>
      </p:sp>
      <p:sp>
        <p:nvSpPr>
          <p:cNvPr id="13" name="TextBox 12"/>
          <p:cNvSpPr txBox="1"/>
          <p:nvPr/>
        </p:nvSpPr>
        <p:spPr>
          <a:xfrm>
            <a:off x="6370167" y="1463040"/>
            <a:ext cx="5135727" cy="274320"/>
          </a:xfrm>
          <a:prstGeom prst="rect">
            <a:avLst/>
          </a:prstGeom>
          <a:noFill/>
        </p:spPr>
        <p:txBody>
          <a:bodyPr wrap="square" anchor="t" lIns="0" rIns="0" tIns="18288" bIns="18288">
            <a:spAutoFit/>
          </a:bodyPr>
          <a:lstStyle/>
          <a:p>
            <a:pPr algn="l"/>
            <a:r>
              <a:rPr sz="1200" b="1" i="0">
                <a:solidFill>
                  <a:srgbClr val="1A1A1A"/>
                </a:solidFill>
                <a:latin typeface="Arial"/>
              </a:rPr>
              <a:t>Access point (AP): the board is the network</a:t>
            </a:r>
          </a:p>
        </p:txBody>
      </p:sp>
      <p:sp>
        <p:nvSpPr>
          <p:cNvPr id="14" name="Rectangle 13"/>
          <p:cNvSpPr/>
          <p:nvPr/>
        </p:nvSpPr>
        <p:spPr>
          <a:xfrm>
            <a:off x="6370167" y="1874520"/>
            <a:ext cx="1005840" cy="640080"/>
          </a:xfrm>
          <a:prstGeom prst="rect">
            <a:avLst/>
          </a:prstGeom>
          <a:noFill/>
          <a:ln w="9525">
            <a:solidFill>
              <a:srgbClr val="1A1A1A"/>
            </a:solidFill>
          </a:ln>
          <a:effectLst/>
        </p:spPr>
        <p:txBody>
          <a:bodyPr rtlCol="0" anchor="ctr" wrap="square" lIns="45720" rIns="45720" tIns="18288" bIns="18288"/>
          <a:lstStyle/>
          <a:p>
            <a:pPr algn="ctr"/>
            <a:r>
              <a:rPr sz="900" b="0" i="0">
                <a:solidFill>
                  <a:srgbClr val="1A1A1A"/>
                </a:solidFill>
                <a:latin typeface="Arial"/>
              </a:rPr>
              <a:t>phone /</a:t>
            </a:r>
          </a:p>
          <a:p>
            <a:pPr algn="ctr"/>
            <a:r>
              <a:rPr sz="900" b="0" i="0">
                <a:solidFill>
                  <a:srgbClr val="1A1A1A"/>
                </a:solidFill>
                <a:latin typeface="Arial"/>
              </a:rPr>
              <a:t>laptop</a:t>
            </a:r>
          </a:p>
        </p:txBody>
      </p:sp>
      <p:cxnSp>
        <p:nvCxnSpPr>
          <p:cNvPr id="15" name="Connector 14"/>
          <p:cNvCxnSpPr/>
          <p:nvPr/>
        </p:nvCxnSpPr>
        <p:spPr>
          <a:xfrm>
            <a:off x="7376007" y="2194560"/>
            <a:ext cx="731520" cy="0"/>
          </a:xfrm>
          <a:prstGeom prst="line">
            <a:avLst/>
          </a:prstGeom>
          <a:ln w="12700">
            <a:solidFill>
              <a:srgbClr val="1A1A1A"/>
            </a:solidFill>
            <a:prstDash val="dash"/>
          </a:ln>
        </p:spPr>
      </p:cxnSp>
      <p:sp>
        <p:nvSpPr>
          <p:cNvPr id="16" name="Rectangle 15"/>
          <p:cNvSpPr/>
          <p:nvPr/>
        </p:nvSpPr>
        <p:spPr>
          <a:xfrm>
            <a:off x="8107527" y="1874520"/>
            <a:ext cx="2011680" cy="640080"/>
          </a:xfrm>
          <a:prstGeom prst="rect">
            <a:avLst/>
          </a:prstGeom>
          <a:solidFill>
            <a:srgbClr val="F2F2F2"/>
          </a:solidFill>
          <a:ln w="9525">
            <a:solidFill>
              <a:srgbClr val="1A1A1A"/>
            </a:solidFill>
          </a:ln>
          <a:effectLst/>
        </p:spPr>
        <p:txBody>
          <a:bodyPr rtlCol="0" anchor="ctr" wrap="square" lIns="45720" rIns="45720" tIns="18288" bIns="18288"/>
          <a:lstStyle/>
          <a:p>
            <a:pPr algn="ctr"/>
            <a:r>
              <a:rPr sz="900" b="0" i="0">
                <a:solidFill>
                  <a:srgbClr val="1A1A1A"/>
                </a:solidFill>
                <a:latin typeface="Arial"/>
              </a:rPr>
              <a:t>ESP32 runs the AP + DHCP server</a:t>
            </a:r>
          </a:p>
          <a:p>
            <a:pPr algn="ctr"/>
            <a:r>
              <a:rPr sz="900" b="0" i="0">
                <a:solidFill>
                  <a:srgbClr val="1A1A1A"/>
                </a:solidFill>
                <a:latin typeface="Arial"/>
              </a:rPr>
              <a:t>192.168.4.1</a:t>
            </a:r>
          </a:p>
        </p:txBody>
      </p:sp>
      <p:sp>
        <p:nvSpPr>
          <p:cNvPr id="17" name="TextBox 16"/>
          <p:cNvSpPr txBox="1"/>
          <p:nvPr/>
        </p:nvSpPr>
        <p:spPr>
          <a:xfrm>
            <a:off x="6370167" y="2651760"/>
            <a:ext cx="5135727" cy="822960"/>
          </a:xfrm>
          <a:prstGeom prst="rect">
            <a:avLst/>
          </a:prstGeom>
          <a:noFill/>
        </p:spPr>
        <p:txBody>
          <a:bodyPr wrap="square" anchor="t" lIns="0" rIns="0" tIns="18288" bIns="18288">
            <a:spAutoFit/>
          </a:bodyPr>
          <a:lstStyle/>
          <a:p>
            <a:pPr algn="l"/>
            <a:r>
              <a:rPr sz="1000" b="0" i="0">
                <a:solidFill>
                  <a:srgbClr val="595959"/>
                </a:solidFill>
                <a:latin typeface="Arial"/>
              </a:rPr>
              <a:t>The board creates its own 2.4 GHz network and hands out addresses 192.168.4.2 onward. Default limit is 4 connected devices (up to 10 with </a:t>
            </a:r>
            <a:r>
              <a:rPr sz="950" b="0" i="0">
                <a:solidFill>
                  <a:srgbClr val="595959"/>
                </a:solidFill>
                <a:latin typeface="Courier New"/>
              </a:rPr>
              <a:t>WiFi.softAP(ssid, pass, ch, hidden, max)</a:t>
            </a:r>
            <a:r>
              <a:rPr sz="1000" b="0" i="0">
                <a:solidFill>
                  <a:srgbClr val="595959"/>
                </a:solidFill>
                <a:latin typeface="Arial"/>
              </a:rPr>
              <a:t>). Works in any room with no infrastructure. Your phone will warn “no internet” — that is expected.</a:t>
            </a:r>
          </a:p>
        </p:txBody>
      </p:sp>
      <p:graphicFrame>
        <p:nvGraphicFramePr>
          <p:cNvPr id="18" name="Table 17"/>
          <p:cNvGraphicFramePr>
            <a:graphicFrameLocks noGrp="1"/>
          </p:cNvGraphicFramePr>
          <p:nvPr/>
        </p:nvGraphicFramePr>
        <p:xfrm>
          <a:off x="685800" y="3794760"/>
          <a:ext cx="3928755" cy="1689100"/>
        </p:xfrm>
        <a:graphic>
          <a:graphicData uri="http://schemas.openxmlformats.org/drawingml/2006/table">
            <a:tbl>
              <a:tblPr firstRow="1" bandRow="0">
                <a:tableStyleId>{2D5ABB26-0587-4C30-8999-92F81FD0307C}</a:tableStyleId>
              </a:tblPr>
              <a:tblGrid>
                <a:gridCol w="1767940"/>
                <a:gridCol w="2160815"/>
              </a:tblGrid>
              <a:tr h="337820">
                <a:tc>
                  <a:txBody>
                    <a:bodyPr wrap="square"/>
                    <a:lstStyle/>
                    <a:p>
                      <a:r>
                        <a:rPr sz="1400" b="1" i="0">
                          <a:solidFill>
                            <a:srgbClr val="1A1A1A"/>
                          </a:solidFill>
                          <a:latin typeface="Arial"/>
                        </a:rPr>
                        <a:t>RSSI</a:t>
                      </a:r>
                    </a:p>
                  </a:txBody>
                  <a:tcPr marL="73152" marR="73152" marT="27432" marB="27432" anchor="ctr">
                    <a:solidFill>
                      <a:srgbClr val="F2F2F2"/>
                    </a:solidFill>
                    <a:lnB w="9525" cap="flat" cmpd="sng" algn="ctr">
                      <a:solidFill>
                        <a:srgbClr val="BFBFBF"/>
                      </a:solidFill>
                      <a:prstDash val="solid"/>
                    </a:lnB>
                    <a:lnT w="9525"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00" b="1" i="0">
                          <a:solidFill>
                            <a:srgbClr val="1A1A1A"/>
                          </a:solidFill>
                          <a:latin typeface="Arial"/>
                        </a:rPr>
                        <a:t>Meaning</a:t>
                      </a:r>
                    </a:p>
                  </a:txBody>
                  <a:tcPr marL="73152" marR="73152" marT="27432" marB="27432" anchor="ctr">
                    <a:solidFill>
                      <a:srgbClr val="F2F2F2"/>
                    </a:solidFill>
                    <a:lnB w="9525" cap="flat" cmpd="sng" algn="ctr">
                      <a:solidFill>
                        <a:srgbClr val="BFBFBF"/>
                      </a:solidFill>
                      <a:prstDash val="solid"/>
                    </a:lnB>
                    <a:lnT w="9525"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37820">
                <a:tc>
                  <a:txBody>
                    <a:bodyPr wrap="square"/>
                    <a:lstStyle/>
                    <a:p>
                      <a:r>
                        <a:rPr sz="1400" b="0" i="0">
                          <a:solidFill>
                            <a:srgbClr val="1A1A1A"/>
                          </a:solidFill>
                          <a:latin typeface="Arial"/>
                        </a:rPr>
                        <a:t>−30 to −50 dBm</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00" b="0" i="0">
                          <a:solidFill>
                            <a:srgbClr val="1A1A1A"/>
                          </a:solidFill>
                          <a:latin typeface="Arial"/>
                        </a:rPr>
                        <a:t>excellent, same desk</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37820">
                <a:tc>
                  <a:txBody>
                    <a:bodyPr wrap="square"/>
                    <a:lstStyle/>
                    <a:p>
                      <a:r>
                        <a:rPr sz="1400" b="0" i="0">
                          <a:solidFill>
                            <a:srgbClr val="1A1A1A"/>
                          </a:solidFill>
                          <a:latin typeface="Arial"/>
                        </a:rPr>
                        <a:t>−50 to −67 dBm</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00" b="0" i="0">
                          <a:solidFill>
                            <a:srgbClr val="1A1A1A"/>
                          </a:solidFill>
                          <a:latin typeface="Arial"/>
                        </a:rPr>
                        <a:t>good, same room</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37820">
                <a:tc>
                  <a:txBody>
                    <a:bodyPr wrap="square"/>
                    <a:lstStyle/>
                    <a:p>
                      <a:r>
                        <a:rPr sz="1400" b="0" i="0">
                          <a:solidFill>
                            <a:srgbClr val="1A1A1A"/>
                          </a:solidFill>
                          <a:latin typeface="Arial"/>
                        </a:rPr>
                        <a:t>−67 to −80 dBm</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00" b="0" i="0">
                          <a:solidFill>
                            <a:srgbClr val="1A1A1A"/>
                          </a:solidFill>
                          <a:latin typeface="Arial"/>
                        </a:rPr>
                        <a:t>usable, slow</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37820">
                <a:tc>
                  <a:txBody>
                    <a:bodyPr wrap="square"/>
                    <a:lstStyle/>
                    <a:p>
                      <a:r>
                        <a:rPr sz="1400" b="0" i="0">
                          <a:solidFill>
                            <a:srgbClr val="1A1A1A"/>
                          </a:solidFill>
                          <a:latin typeface="Arial"/>
                        </a:rPr>
                        <a:t>below −85 dBm</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00" b="0" i="0">
                          <a:solidFill>
                            <a:srgbClr val="1A1A1A"/>
                          </a:solidFill>
                          <a:latin typeface="Arial"/>
                        </a:rPr>
                        <a:t>drops out</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bl>
          </a:graphicData>
        </a:graphic>
      </p:graphicFrame>
      <p:graphicFrame>
        <p:nvGraphicFramePr>
          <p:cNvPr id="19" name="Table 18"/>
          <p:cNvGraphicFramePr>
            <a:graphicFrameLocks noGrp="1"/>
          </p:cNvGraphicFramePr>
          <p:nvPr/>
        </p:nvGraphicFramePr>
        <p:xfrm>
          <a:off x="4980316" y="3794760"/>
          <a:ext cx="6525578" cy="1351280"/>
        </p:xfrm>
        <a:graphic>
          <a:graphicData uri="http://schemas.openxmlformats.org/drawingml/2006/table">
            <a:tbl>
              <a:tblPr firstRow="0" bandRow="0">
                <a:tableStyleId>{2D5ABB26-0587-4C30-8999-92F81FD0307C}</a:tableStyleId>
              </a:tblPr>
              <a:tblGrid>
                <a:gridCol w="1305115"/>
                <a:gridCol w="5220463"/>
              </a:tblGrid>
              <a:tr h="337820">
                <a:tc>
                  <a:txBody>
                    <a:bodyPr wrap="square"/>
                    <a:lstStyle/>
                    <a:p>
                      <a:r>
                        <a:rPr sz="1400" b="0" i="0">
                          <a:solidFill>
                            <a:srgbClr val="1A1A1A"/>
                          </a:solidFill>
                          <a:latin typeface="Arial"/>
                        </a:rPr>
                        <a:t>Band</a:t>
                      </a:r>
                    </a:p>
                  </a:txBody>
                  <a:tcPr marL="73152" marR="73152" marT="27432" marB="27432" anchor="ctr">
                    <a:solidFill>
                      <a:srgbClr val="FFFFFF"/>
                    </a:solidFill>
                    <a:lnB w="9525" cap="flat" cmpd="sng" algn="ctr">
                      <a:solidFill>
                        <a:srgbClr val="BFBFBF"/>
                      </a:solidFill>
                      <a:prstDash val="solid"/>
                    </a:lnB>
                    <a:lnT w="9525"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00" b="0" i="0">
                          <a:solidFill>
                            <a:srgbClr val="1A1A1A"/>
                          </a:solidFill>
                          <a:latin typeface="Arial"/>
                        </a:rPr>
                        <a:t>2.4 GHz only. A phone on a 5 GHz-only network will not see the board.</a:t>
                      </a:r>
                    </a:p>
                  </a:txBody>
                  <a:tcPr marL="73152" marR="73152" marT="27432" marB="27432" anchor="ctr">
                    <a:solidFill>
                      <a:srgbClr val="FFFFFF"/>
                    </a:solidFill>
                    <a:lnB w="9525" cap="flat" cmpd="sng" algn="ctr">
                      <a:solidFill>
                        <a:srgbClr val="BFBFBF"/>
                      </a:solidFill>
                      <a:prstDash val="solid"/>
                    </a:lnB>
                    <a:lnT w="9525"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37820">
                <a:tc>
                  <a:txBody>
                    <a:bodyPr wrap="square"/>
                    <a:lstStyle/>
                    <a:p>
                      <a:r>
                        <a:rPr sz="1400" b="0" i="0">
                          <a:solidFill>
                            <a:srgbClr val="1A1A1A"/>
                          </a:solidFill>
                          <a:latin typeface="Arial"/>
                        </a:rPr>
                        <a:t>Standards</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00" b="0" i="0">
                          <a:solidFill>
                            <a:srgbClr val="1A1A1A"/>
                          </a:solidFill>
                          <a:latin typeface="Arial"/>
                        </a:rPr>
                        <a:t>802.11 b/g/n, up to 150 Mbps on air; ~20 Mbps TCP in practice</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37820">
                <a:tc>
                  <a:txBody>
                    <a:bodyPr wrap="square"/>
                    <a:lstStyle/>
                    <a:p>
                      <a:r>
                        <a:rPr sz="1400" b="0" i="0">
                          <a:solidFill>
                            <a:srgbClr val="1A1A1A"/>
                          </a:solidFill>
                          <a:latin typeface="Arial"/>
                        </a:rPr>
                        <a:t>Stack</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00" b="0" i="0">
                          <a:solidFill>
                            <a:srgbClr val="1A1A1A"/>
                          </a:solidFill>
                          <a:latin typeface="Arial"/>
                        </a:rPr>
                        <a:t>lwIP TCP/IP, DHCP client and server, DNS, mDNS (</a:t>
                      </a:r>
                      <a:r>
                        <a:rPr sz="1330" b="0" i="0">
                          <a:solidFill>
                            <a:srgbClr val="1A1A1A"/>
                          </a:solidFill>
                          <a:latin typeface="Courier New"/>
                        </a:rPr>
                        <a:t>ESPmDNS.h</a:t>
                      </a:r>
                      <a:r>
                        <a:rPr sz="1400" b="0" i="0">
                          <a:solidFill>
                            <a:srgbClr val="1A1A1A"/>
                          </a:solidFill>
                          <a:latin typeface="Arial"/>
                        </a:rPr>
                        <a:t>)</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37820">
                <a:tc>
                  <a:txBody>
                    <a:bodyPr wrap="square"/>
                    <a:lstStyle/>
                    <a:p>
                      <a:r>
                        <a:rPr sz="1400" b="0" i="0">
                          <a:solidFill>
                            <a:srgbClr val="1A1A1A"/>
                          </a:solidFill>
                          <a:latin typeface="Arial"/>
                        </a:rPr>
                        <a:t>Modes</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330" b="0" i="0">
                          <a:solidFill>
                            <a:srgbClr val="1A1A1A"/>
                          </a:solidFill>
                          <a:latin typeface="Courier New"/>
                        </a:rPr>
                        <a:t>WIFI_STA</a:t>
                      </a:r>
                      <a:r>
                        <a:rPr sz="1400" b="0" i="0">
                          <a:solidFill>
                            <a:srgbClr val="1A1A1A"/>
                          </a:solidFill>
                          <a:latin typeface="Arial"/>
                        </a:rPr>
                        <a:t>, </a:t>
                      </a:r>
                      <a:r>
                        <a:rPr sz="1330" b="0" i="0">
                          <a:solidFill>
                            <a:srgbClr val="1A1A1A"/>
                          </a:solidFill>
                          <a:latin typeface="Courier New"/>
                        </a:rPr>
                        <a:t>WIFI_AP</a:t>
                      </a:r>
                      <a:r>
                        <a:rPr sz="1400" b="0" i="0">
                          <a:solidFill>
                            <a:srgbClr val="1A1A1A"/>
                          </a:solidFill>
                          <a:latin typeface="Arial"/>
                        </a:rPr>
                        <a:t>, </a:t>
                      </a:r>
                      <a:r>
                        <a:rPr sz="1330" b="0" i="0">
                          <a:solidFill>
                            <a:srgbClr val="1A1A1A"/>
                          </a:solidFill>
                          <a:latin typeface="Courier New"/>
                        </a:rPr>
                        <a:t>WIFI_AP_STA</a:t>
                      </a:r>
                      <a:r>
                        <a:rPr sz="1400" b="0" i="0">
                          <a:solidFill>
                            <a:srgbClr val="1A1A1A"/>
                          </a:solidFill>
                          <a:latin typeface="Arial"/>
                        </a:rPr>
                        <a:t> (both at once, same channel)</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0"/>
            <a:ext cx="7315200" cy="274320"/>
          </a:xfrm>
          <a:prstGeom prst="rect">
            <a:avLst/>
          </a:prstGeom>
          <a:noFill/>
        </p:spPr>
        <p:txBody>
          <a:bodyPr wrap="square" anchor="t" lIns="0" rIns="0" tIns="18288" bIns="18288">
            <a:spAutoFit/>
          </a:bodyPr>
          <a:lstStyle/>
          <a:p>
            <a:pPr algn="l"/>
            <a:r>
              <a:rPr sz="1000" b="0" i="0">
                <a:solidFill>
                  <a:srgbClr val="595959"/>
                </a:solidFill>
                <a:latin typeface="Arial"/>
              </a:rPr>
              <a:t>HackHardware · Getting started with the ESP32</a:t>
            </a:r>
          </a:p>
        </p:txBody>
      </p:sp>
      <p:sp>
        <p:nvSpPr>
          <p:cNvPr id="3" name="TextBox 2"/>
          <p:cNvSpPr txBox="1"/>
          <p:nvPr/>
        </p:nvSpPr>
        <p:spPr>
          <a:xfrm>
            <a:off x="10134295" y="6400800"/>
            <a:ext cx="1371600" cy="274320"/>
          </a:xfrm>
          <a:prstGeom prst="rect">
            <a:avLst/>
          </a:prstGeom>
          <a:noFill/>
        </p:spPr>
        <p:txBody>
          <a:bodyPr wrap="square" anchor="t" lIns="0" rIns="0" tIns="18288" bIns="18288">
            <a:spAutoFit/>
          </a:bodyPr>
          <a:lstStyle/>
          <a:p>
            <a:pPr algn="r"/>
            <a:r>
              <a:rPr sz="1000" b="0" i="0">
                <a:solidFill>
                  <a:srgbClr val="595959"/>
                </a:solidFill>
                <a:latin typeface="Arial"/>
              </a:rPr>
              <a:t>23</a:t>
            </a:r>
          </a:p>
        </p:txBody>
      </p:sp>
      <p:sp>
        <p:nvSpPr>
          <p:cNvPr id="4" name="TextBox 3"/>
          <p:cNvSpPr txBox="1"/>
          <p:nvPr/>
        </p:nvSpPr>
        <p:spPr>
          <a:xfrm>
            <a:off x="685800" y="457200"/>
            <a:ext cx="10820095" cy="822960"/>
          </a:xfrm>
          <a:prstGeom prst="rect">
            <a:avLst/>
          </a:prstGeom>
          <a:noFill/>
        </p:spPr>
        <p:txBody>
          <a:bodyPr wrap="square" anchor="b" lIns="0" rIns="0" tIns="18288" bIns="18288">
            <a:spAutoFit/>
          </a:bodyPr>
          <a:lstStyle/>
          <a:p>
            <a:pPr algn="l"/>
            <a:r>
              <a:rPr sz="3000" b="1" i="0">
                <a:solidFill>
                  <a:srgbClr val="1A1A1A"/>
                </a:solidFill>
                <a:latin typeface="Arial"/>
              </a:rPr>
              <a:t>Task 4: A web page served by the board</a:t>
            </a:r>
          </a:p>
        </p:txBody>
      </p:sp>
      <p:cxnSp>
        <p:nvCxnSpPr>
          <p:cNvPr id="5" name="Connector 4"/>
          <p:cNvCxnSpPr/>
          <p:nvPr/>
        </p:nvCxnSpPr>
        <p:spPr>
          <a:xfrm>
            <a:off x="685800" y="1298448"/>
            <a:ext cx="10820095" cy="0"/>
          </a:xfrm>
          <a:prstGeom prst="line">
            <a:avLst/>
          </a:prstGeom>
          <a:ln w="9525">
            <a:solidFill>
              <a:srgbClr val="BFBFBF"/>
            </a:solidFill>
          </a:ln>
        </p:spPr>
      </p:cxnSp>
      <p:sp>
        <p:nvSpPr>
          <p:cNvPr id="6" name="TextBox 5"/>
          <p:cNvSpPr txBox="1"/>
          <p:nvPr/>
        </p:nvSpPr>
        <p:spPr>
          <a:xfrm>
            <a:off x="685800" y="1453896"/>
            <a:ext cx="10820095" cy="349503"/>
          </a:xfrm>
          <a:prstGeom prst="rect">
            <a:avLst/>
          </a:prstGeom>
          <a:noFill/>
        </p:spPr>
        <p:txBody>
          <a:bodyPr wrap="square" anchor="t" lIns="0" rIns="0" tIns="18288" bIns="18288">
            <a:spAutoFit/>
          </a:bodyPr>
          <a:lstStyle/>
          <a:p>
            <a:r>
              <a:rPr sz="1600" b="1" i="0">
                <a:solidFill>
                  <a:srgbClr val="1A1A1A"/>
                </a:solidFill>
                <a:latin typeface="Arial"/>
              </a:rPr>
              <a:t>Do this</a:t>
            </a:r>
          </a:p>
        </p:txBody>
      </p:sp>
      <p:sp>
        <p:nvSpPr>
          <p:cNvPr id="7" name="TextBox 6"/>
          <p:cNvSpPr txBox="1"/>
          <p:nvPr/>
        </p:nvSpPr>
        <p:spPr>
          <a:xfrm>
            <a:off x="685800" y="1858264"/>
            <a:ext cx="10820095" cy="2522728"/>
          </a:xfrm>
          <a:prstGeom prst="rect">
            <a:avLst/>
          </a:prstGeom>
          <a:noFill/>
        </p:spPr>
        <p:txBody>
          <a:bodyPr wrap="square" anchor="t" lIns="0" rIns="0" tIns="18288" bIns="18288">
            <a:spAutoFit/>
          </a:bodyPr>
          <a:lstStyle/>
          <a:p>
            <a:pPr>
              <a:spcAft>
                <a:spcPts val="600"/>
              </a:spcAft>
            </a:pPr>
            <a:r>
              <a:rPr sz="1700" b="0" i="0">
                <a:solidFill>
                  <a:srgbClr val="595959"/>
                </a:solidFill>
                <a:latin typeface="Arial"/>
              </a:rPr>
              <a:t>1.  </a:t>
            </a:r>
            <a:r>
              <a:rPr sz="1700" b="0" i="0">
                <a:solidFill>
                  <a:srgbClr val="1A1A1A"/>
                </a:solidFill>
                <a:latin typeface="Arial"/>
              </a:rPr>
              <a:t>Open </a:t>
            </a:r>
            <a:r>
              <a:rPr sz="1614" b="0" i="0">
                <a:solidFill>
                  <a:srgbClr val="1A1A1A"/>
                </a:solidFill>
                <a:latin typeface="Courier New"/>
              </a:rPr>
              <a:t>tasks/04_web_dashboard/04_web_dashboard.ino</a:t>
            </a:r>
            <a:r>
              <a:rPr sz="1700" b="0" i="0">
                <a:solidFill>
                  <a:srgbClr val="1A1A1A"/>
                </a:solidFill>
                <a:latin typeface="Arial"/>
              </a:rPr>
              <a:t>. Check </a:t>
            </a:r>
            <a:r>
              <a:rPr sz="1614" b="0" i="0">
                <a:solidFill>
                  <a:srgbClr val="1A1A1A"/>
                </a:solidFill>
                <a:latin typeface="Courier New"/>
              </a:rPr>
              <a:t>BOARD_NAME</a:t>
            </a:r>
            <a:r>
              <a:rPr sz="1700" b="0" i="0">
                <a:solidFill>
                  <a:srgbClr val="1A1A1A"/>
                </a:solidFill>
                <a:latin typeface="Arial"/>
              </a:rPr>
              <a:t> in its </a:t>
            </a:r>
            <a:r>
              <a:rPr sz="1614" b="0" i="0">
                <a:solidFill>
                  <a:srgbClr val="1A1A1A"/>
                </a:solidFill>
                <a:latin typeface="Courier New"/>
              </a:rPr>
              <a:t>config.h</a:t>
            </a:r>
            <a:r>
              <a:rPr sz="1700" b="0" i="0">
                <a:solidFill>
                  <a:srgbClr val="1A1A1A"/>
                </a:solidFill>
                <a:latin typeface="Arial"/>
              </a:rPr>
              <a:t>. </a:t>
            </a:r>
            <a:r>
              <a:rPr sz="1700" b="1" i="0">
                <a:solidFill>
                  <a:srgbClr val="1A1A1A"/>
                </a:solidFill>
                <a:latin typeface="Arial"/>
              </a:rPr>
              <a:t>Upload</a:t>
            </a:r>
            <a:r>
              <a:rPr sz="1700" b="0" i="0">
                <a:solidFill>
                  <a:srgbClr val="1A1A1A"/>
                </a:solidFill>
                <a:latin typeface="Arial"/>
              </a:rPr>
              <a:t>.</a:t>
            </a:r>
          </a:p>
          <a:p>
            <a:pPr>
              <a:spcAft>
                <a:spcPts val="600"/>
              </a:spcAft>
            </a:pPr>
            <a:r>
              <a:rPr sz="1700" b="0" i="0">
                <a:solidFill>
                  <a:srgbClr val="595959"/>
                </a:solidFill>
                <a:latin typeface="Arial"/>
              </a:rPr>
              <a:t>2.  </a:t>
            </a:r>
            <a:r>
              <a:rPr sz="1700" b="0" i="0">
                <a:solidFill>
                  <a:srgbClr val="1A1A1A"/>
                </a:solidFill>
                <a:latin typeface="Arial"/>
              </a:rPr>
              <a:t>On your phone, join </a:t>
            </a:r>
            <a:r>
              <a:rPr sz="1700" b="1" i="0">
                <a:solidFill>
                  <a:srgbClr val="1A1A1A"/>
                </a:solidFill>
                <a:latin typeface="Arial"/>
              </a:rPr>
              <a:t>ESP32-&lt;name&gt;</a:t>
            </a:r>
            <a:r>
              <a:rPr sz="1700" b="0" i="0">
                <a:solidFill>
                  <a:srgbClr val="1A1A1A"/>
                </a:solidFill>
                <a:latin typeface="Arial"/>
              </a:rPr>
              <a:t> again. If the page will not load, </a:t>
            </a:r>
            <a:r>
              <a:rPr sz="1700" b="1" i="0">
                <a:solidFill>
                  <a:srgbClr val="1A1A1A"/>
                </a:solidFill>
                <a:latin typeface="Arial"/>
              </a:rPr>
              <a:t>turn off mobile data</a:t>
            </a:r>
            <a:r>
              <a:rPr sz="1700" b="0" i="0">
                <a:solidFill>
                  <a:srgbClr val="1A1A1A"/>
                </a:solidFill>
                <a:latin typeface="Arial"/>
              </a:rPr>
              <a:t>; the phone is routing around the “no internet” network.</a:t>
            </a:r>
          </a:p>
          <a:p>
            <a:pPr>
              <a:spcAft>
                <a:spcPts val="600"/>
              </a:spcAft>
            </a:pPr>
            <a:r>
              <a:rPr sz="1700" b="0" i="0">
                <a:solidFill>
                  <a:srgbClr val="595959"/>
                </a:solidFill>
                <a:latin typeface="Arial"/>
              </a:rPr>
              <a:t>3.  </a:t>
            </a:r>
            <a:r>
              <a:rPr sz="1700" b="0" i="0">
                <a:solidFill>
                  <a:srgbClr val="1A1A1A"/>
                </a:solidFill>
                <a:latin typeface="Arial"/>
              </a:rPr>
              <a:t>In the browser go to </a:t>
            </a:r>
            <a:r>
              <a:rPr sz="1700" b="1" i="0">
                <a:solidFill>
                  <a:srgbClr val="1A1A1A"/>
                </a:solidFill>
                <a:latin typeface="Arial"/>
              </a:rPr>
              <a:t>http://192.168.4.1</a:t>
            </a:r>
            <a:r>
              <a:rPr sz="1700" b="0" i="0">
                <a:solidFill>
                  <a:srgbClr val="1A1A1A"/>
                </a:solidFill>
                <a:latin typeface="Arial"/>
              </a:rPr>
              <a:t> (http, not https). You get a status page that updates every second.</a:t>
            </a:r>
          </a:p>
          <a:p>
            <a:pPr>
              <a:spcAft>
                <a:spcPts val="600"/>
              </a:spcAft>
            </a:pPr>
            <a:r>
              <a:rPr sz="1700" b="0" i="0">
                <a:solidFill>
                  <a:srgbClr val="595959"/>
                </a:solidFill>
                <a:latin typeface="Arial"/>
              </a:rPr>
              <a:t>4.  </a:t>
            </a:r>
            <a:r>
              <a:rPr sz="1700" b="0" i="0">
                <a:solidFill>
                  <a:srgbClr val="1A1A1A"/>
                </a:solidFill>
                <a:latin typeface="Arial"/>
              </a:rPr>
              <a:t>Tap </a:t>
            </a:r>
            <a:r>
              <a:rPr sz="1700" b="1" i="0">
                <a:solidFill>
                  <a:srgbClr val="1A1A1A"/>
                </a:solidFill>
                <a:latin typeface="Arial"/>
              </a:rPr>
              <a:t>LED on / off</a:t>
            </a:r>
            <a:r>
              <a:rPr sz="1700" b="0" i="0">
                <a:solidFill>
                  <a:srgbClr val="1A1A1A"/>
                </a:solidFill>
                <a:latin typeface="Arial"/>
              </a:rPr>
              <a:t>. The LED on the desk changes. Press BOOT on the board; the page notices.</a:t>
            </a:r>
          </a:p>
          <a:p>
            <a:pPr>
              <a:spcAft>
                <a:spcPts val="600"/>
              </a:spcAft>
            </a:pPr>
            <a:r>
              <a:rPr sz="1700" b="0" i="0">
                <a:solidFill>
                  <a:srgbClr val="595959"/>
                </a:solidFill>
                <a:latin typeface="Arial"/>
              </a:rPr>
              <a:t>5.  </a:t>
            </a:r>
            <a:r>
              <a:rPr sz="1700" b="0" i="0">
                <a:solidFill>
                  <a:srgbClr val="1A1A1A"/>
                </a:solidFill>
                <a:latin typeface="Arial"/>
              </a:rPr>
              <a:t>Open </a:t>
            </a:r>
            <a:r>
              <a:rPr sz="1700" b="1" i="0">
                <a:solidFill>
                  <a:srgbClr val="1A1A1A"/>
                </a:solidFill>
                <a:latin typeface="Arial"/>
              </a:rPr>
              <a:t>http://192.168.4.1/api/status</a:t>
            </a:r>
            <a:r>
              <a:rPr sz="1700" b="0" i="0">
                <a:solidFill>
                  <a:srgbClr val="1A1A1A"/>
                </a:solidFill>
                <a:latin typeface="Arial"/>
              </a:rPr>
              <a:t>. That is the raw JSON the page is reading.</a:t>
            </a:r>
          </a:p>
          <a:p>
            <a:pPr>
              <a:spcAft>
                <a:spcPts val="600"/>
              </a:spcAft>
            </a:pPr>
            <a:r>
              <a:rPr sz="1700" b="0" i="0">
                <a:solidFill>
                  <a:srgbClr val="595959"/>
                </a:solidFill>
                <a:latin typeface="Arial"/>
              </a:rPr>
              <a:t>6.  </a:t>
            </a:r>
            <a:r>
              <a:rPr sz="1700" b="0" i="0">
                <a:solidFill>
                  <a:srgbClr val="1A1A1A"/>
                </a:solidFill>
                <a:latin typeface="Arial"/>
              </a:rPr>
              <a:t>Find the two </a:t>
            </a:r>
            <a:r>
              <a:rPr sz="1614" b="0" i="0">
                <a:solidFill>
                  <a:srgbClr val="1A1A1A"/>
                </a:solidFill>
                <a:latin typeface="Courier New"/>
              </a:rPr>
              <a:t>// ---- add your own ...</a:t>
            </a:r>
            <a:r>
              <a:rPr sz="1700" b="0" i="0">
                <a:solidFill>
                  <a:srgbClr val="1A1A1A"/>
                </a:solidFill>
                <a:latin typeface="Arial"/>
              </a:rPr>
              <a:t> comments in the sketch. Add a field, upload, reload.</a:t>
            </a:r>
          </a:p>
        </p:txBody>
      </p:sp>
      <p:sp>
        <p:nvSpPr>
          <p:cNvPr id="8" name="TextBox 7"/>
          <p:cNvSpPr txBox="1"/>
          <p:nvPr/>
        </p:nvSpPr>
        <p:spPr>
          <a:xfrm>
            <a:off x="685800" y="4609592"/>
            <a:ext cx="10820095" cy="346202"/>
          </a:xfrm>
          <a:prstGeom prst="rect">
            <a:avLst/>
          </a:prstGeom>
          <a:noFill/>
        </p:spPr>
        <p:txBody>
          <a:bodyPr wrap="square" anchor="t" lIns="0" rIns="0" tIns="18288" bIns="18288">
            <a:spAutoFit/>
          </a:bodyPr>
          <a:lstStyle/>
          <a:p>
            <a:r>
              <a:rPr sz="1700" b="1" i="0">
                <a:solidFill>
                  <a:srgbClr val="1A1A1A"/>
                </a:solidFill>
                <a:latin typeface="Arial"/>
              </a:rPr>
              <a:t>Check:</a:t>
            </a:r>
            <a:r>
              <a:rPr sz="1700" b="0" i="0">
                <a:solidFill>
                  <a:srgbClr val="1A1A1A"/>
                </a:solidFill>
                <a:latin typeface="Arial"/>
              </a:rPr>
              <a:t> you can switch the LED from your phone.</a:t>
            </a:r>
          </a:p>
        </p:txBody>
      </p:sp>
      <p:sp>
        <p:nvSpPr>
          <p:cNvPr id="9" name="TextBox 8"/>
          <p:cNvSpPr txBox="1"/>
          <p:nvPr/>
        </p:nvSpPr>
        <p:spPr>
          <a:xfrm>
            <a:off x="685800" y="5156962"/>
            <a:ext cx="10820095" cy="541020"/>
          </a:xfrm>
          <a:prstGeom prst="rect">
            <a:avLst/>
          </a:prstGeom>
          <a:noFill/>
        </p:spPr>
        <p:txBody>
          <a:bodyPr wrap="square" anchor="t" lIns="0" rIns="0" tIns="18288" bIns="18288">
            <a:spAutoFit/>
          </a:bodyPr>
          <a:lstStyle/>
          <a:p>
            <a:r>
              <a:rPr sz="1500" b="0" i="0">
                <a:solidFill>
                  <a:srgbClr val="595959"/>
                </a:solidFill>
                <a:latin typeface="Arial"/>
              </a:rPr>
              <a:t>If you finish early: add a </a:t>
            </a:r>
            <a:r>
              <a:rPr sz="1425" b="0" i="0">
                <a:solidFill>
                  <a:srgbClr val="595959"/>
                </a:solidFill>
                <a:latin typeface="Courier New"/>
              </a:rPr>
              <a:t>/api/blink?n=3</a:t>
            </a:r>
            <a:r>
              <a:rPr sz="1500" b="0" i="0">
                <a:solidFill>
                  <a:srgbClr val="595959"/>
                </a:solidFill>
                <a:latin typeface="Arial"/>
              </a:rPr>
              <a:t> route that blinks n times (set a counter, let </a:t>
            </a:r>
            <a:r>
              <a:rPr sz="1425" b="0" i="0">
                <a:solidFill>
                  <a:srgbClr val="595959"/>
                </a:solidFill>
                <a:latin typeface="Courier New"/>
              </a:rPr>
              <a:t>loop()</a:t>
            </a:r>
            <a:r>
              <a:rPr sz="1500" b="0" i="0">
                <a:solidFill>
                  <a:srgbClr val="595959"/>
                </a:solidFill>
                <a:latin typeface="Arial"/>
              </a:rPr>
              <a:t> do the blinking); show </a:t>
            </a:r>
            <a:r>
              <a:rPr sz="1425" b="0" i="0">
                <a:solidFill>
                  <a:srgbClr val="595959"/>
                </a:solidFill>
                <a:latin typeface="Courier New"/>
              </a:rPr>
              <a:t>ESP.getFreeHeap()</a:t>
            </a:r>
            <a:r>
              <a:rPr sz="1500" b="0" i="0">
                <a:solidFill>
                  <a:srgbClr val="595959"/>
                </a:solidFill>
                <a:latin typeface="Arial"/>
              </a:rPr>
              <a:t> on the page; change the page's colours in </a:t>
            </a:r>
            <a:r>
              <a:rPr sz="1425" b="0" i="0">
                <a:solidFill>
                  <a:srgbClr val="595959"/>
                </a:solidFill>
                <a:latin typeface="Courier New"/>
              </a:rPr>
              <a:t>page.h</a:t>
            </a:r>
            <a:r>
              <a:rPr sz="1500" b="0" i="0">
                <a:solidFill>
                  <a:srgbClr val="595959"/>
                </a:solidFill>
                <a:latin typeface="Arial"/>
              </a:rPr>
              <a: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0"/>
            <a:ext cx="7315200" cy="274320"/>
          </a:xfrm>
          <a:prstGeom prst="rect">
            <a:avLst/>
          </a:prstGeom>
          <a:noFill/>
        </p:spPr>
        <p:txBody>
          <a:bodyPr wrap="square" anchor="t" lIns="0" rIns="0" tIns="18288" bIns="18288">
            <a:spAutoFit/>
          </a:bodyPr>
          <a:lstStyle/>
          <a:p>
            <a:pPr algn="l"/>
            <a:r>
              <a:rPr sz="1000" b="0" i="0">
                <a:solidFill>
                  <a:srgbClr val="595959"/>
                </a:solidFill>
                <a:latin typeface="Arial"/>
              </a:rPr>
              <a:t>HackHardware · Getting started with the ESP32</a:t>
            </a:r>
          </a:p>
        </p:txBody>
      </p:sp>
      <p:sp>
        <p:nvSpPr>
          <p:cNvPr id="3" name="TextBox 2"/>
          <p:cNvSpPr txBox="1"/>
          <p:nvPr/>
        </p:nvSpPr>
        <p:spPr>
          <a:xfrm>
            <a:off x="10134295" y="6400800"/>
            <a:ext cx="1371600" cy="274320"/>
          </a:xfrm>
          <a:prstGeom prst="rect">
            <a:avLst/>
          </a:prstGeom>
          <a:noFill/>
        </p:spPr>
        <p:txBody>
          <a:bodyPr wrap="square" anchor="t" lIns="0" rIns="0" tIns="18288" bIns="18288">
            <a:spAutoFit/>
          </a:bodyPr>
          <a:lstStyle/>
          <a:p>
            <a:pPr algn="r"/>
            <a:r>
              <a:rPr sz="1000" b="0" i="0">
                <a:solidFill>
                  <a:srgbClr val="595959"/>
                </a:solidFill>
                <a:latin typeface="Arial"/>
              </a:rPr>
              <a:t>24</a:t>
            </a:r>
          </a:p>
        </p:txBody>
      </p:sp>
      <p:sp>
        <p:nvSpPr>
          <p:cNvPr id="4" name="TextBox 3"/>
          <p:cNvSpPr txBox="1"/>
          <p:nvPr/>
        </p:nvSpPr>
        <p:spPr>
          <a:xfrm>
            <a:off x="685800" y="457200"/>
            <a:ext cx="10820095" cy="822960"/>
          </a:xfrm>
          <a:prstGeom prst="rect">
            <a:avLst/>
          </a:prstGeom>
          <a:noFill/>
        </p:spPr>
        <p:txBody>
          <a:bodyPr wrap="square" anchor="b" lIns="0" rIns="0" tIns="18288" bIns="18288">
            <a:spAutoFit/>
          </a:bodyPr>
          <a:lstStyle/>
          <a:p>
            <a:pPr algn="l"/>
            <a:r>
              <a:rPr sz="3000" b="1" i="0">
                <a:solidFill>
                  <a:srgbClr val="1A1A1A"/>
                </a:solidFill>
                <a:latin typeface="Arial"/>
              </a:rPr>
              <a:t>HTTP on a microcontroller</a:t>
            </a:r>
          </a:p>
        </p:txBody>
      </p:sp>
      <p:cxnSp>
        <p:nvCxnSpPr>
          <p:cNvPr id="5" name="Connector 4"/>
          <p:cNvCxnSpPr/>
          <p:nvPr/>
        </p:nvCxnSpPr>
        <p:spPr>
          <a:xfrm>
            <a:off x="685800" y="1298448"/>
            <a:ext cx="10820095" cy="0"/>
          </a:xfrm>
          <a:prstGeom prst="line">
            <a:avLst/>
          </a:prstGeom>
          <a:ln w="9525">
            <a:solidFill>
              <a:srgbClr val="BFBFBF"/>
            </a:solidFill>
          </a:ln>
        </p:spPr>
      </p:cxnSp>
      <p:sp>
        <p:nvSpPr>
          <p:cNvPr id="6" name="Rectangle 5"/>
          <p:cNvSpPr/>
          <p:nvPr/>
        </p:nvSpPr>
        <p:spPr>
          <a:xfrm>
            <a:off x="685800" y="1417320"/>
            <a:ext cx="5768172" cy="4391018"/>
          </a:xfrm>
          <a:prstGeom prst="rect">
            <a:avLst/>
          </a:prstGeom>
          <a:solidFill>
            <a:srgbClr val="F2F2F2"/>
          </a:solidFill>
          <a:ln>
            <a:noFill/>
          </a:ln>
          <a:effectLst/>
        </p:spPr>
        <p:txBody>
          <a:bodyPr rtlCol="0" anchor="ctr"/>
          <a:lstStyle/>
          <a:p>
            <a:pPr algn="ctr"/>
          </a:p>
        </p:txBody>
      </p:sp>
      <p:sp>
        <p:nvSpPr>
          <p:cNvPr id="7" name="TextBox 6"/>
          <p:cNvSpPr txBox="1"/>
          <p:nvPr/>
        </p:nvSpPr>
        <p:spPr>
          <a:xfrm>
            <a:off x="822960" y="1527048"/>
            <a:ext cx="5493852" cy="4208138"/>
          </a:xfrm>
          <a:prstGeom prst="rect">
            <a:avLst/>
          </a:prstGeom>
          <a:noFill/>
        </p:spPr>
        <p:txBody>
          <a:bodyPr wrap="square" anchor="t" lIns="0" rIns="0" tIns="18288" bIns="18288">
            <a:spAutoFit/>
          </a:bodyPr>
          <a:lstStyle/>
          <a:p>
            <a:pPr>
              <a:spcAft>
                <a:spcPts val="0"/>
              </a:spcAft>
            </a:pPr>
            <a:r>
              <a:rPr sz="1242" b="0" i="0">
                <a:solidFill>
                  <a:srgbClr val="1A1A1A"/>
                </a:solidFill>
                <a:latin typeface="Courier New"/>
              </a:rPr>
              <a:t>#include &lt;WebServer.h&gt;</a:t>
            </a:r>
          </a:p>
          <a:p>
            <a:pPr>
              <a:spcAft>
                <a:spcPts val="0"/>
              </a:spcAft>
            </a:pPr>
            <a:r>
              <a:rPr sz="1242" b="0" i="0">
                <a:solidFill>
                  <a:srgbClr val="1A1A1A"/>
                </a:solidFill>
                <a:latin typeface="Courier New"/>
              </a:rPr>
              <a:t>WebServer server(80);</a:t>
            </a:r>
          </a:p>
          <a:p>
            <a:pPr>
              <a:spcAft>
                <a:spcPts val="0"/>
              </a:spcAft>
            </a:pPr>
            <a:r>
              <a:rPr sz="1242" b="0" i="0">
                <a:solidFill>
                  <a:srgbClr val="1A1A1A"/>
                </a:solidFill>
                <a:latin typeface="Courier New"/>
              </a:rPr>
              <a:t> </a:t>
            </a:r>
          </a:p>
          <a:p>
            <a:pPr>
              <a:spcAft>
                <a:spcPts val="0"/>
              </a:spcAft>
            </a:pPr>
            <a:r>
              <a:rPr sz="1242" b="0" i="0">
                <a:solidFill>
                  <a:srgbClr val="1A1A1A"/>
                </a:solidFill>
                <a:latin typeface="Courier New"/>
              </a:rPr>
              <a:t>void handleStatus() {</a:t>
            </a:r>
          </a:p>
          <a:p>
            <a:pPr>
              <a:spcAft>
                <a:spcPts val="0"/>
              </a:spcAft>
            </a:pPr>
            <a:r>
              <a:rPr sz="1242" b="0" i="0">
                <a:solidFill>
                  <a:srgbClr val="1A1A1A"/>
                </a:solidFill>
                <a:latin typeface="Courier New"/>
              </a:rPr>
              <a:t>  String j = "{\"uptime_s\":" + String(millis()/1000);</a:t>
            </a:r>
          </a:p>
          <a:p>
            <a:pPr>
              <a:spcAft>
                <a:spcPts val="0"/>
              </a:spcAft>
            </a:pPr>
            <a:r>
              <a:rPr sz="1242" b="0" i="0">
                <a:solidFill>
                  <a:srgbClr val="1A1A1A"/>
                </a:solidFill>
                <a:latin typeface="Courier New"/>
              </a:rPr>
              <a:t>  j += ",\"temp_c\":" + String(temperatureRead(), 1);</a:t>
            </a:r>
          </a:p>
          <a:p>
            <a:pPr>
              <a:spcAft>
                <a:spcPts val="0"/>
              </a:spcAft>
            </a:pPr>
            <a:r>
              <a:rPr sz="1242" b="0" i="0">
                <a:solidFill>
                  <a:srgbClr val="1A1A1A"/>
                </a:solidFill>
                <a:latin typeface="Courier New"/>
              </a:rPr>
              <a:t>  j += ",\"led\":" + String(ledOn ? 1 : 0) + "}";</a:t>
            </a:r>
          </a:p>
          <a:p>
            <a:pPr>
              <a:spcAft>
                <a:spcPts val="0"/>
              </a:spcAft>
            </a:pPr>
            <a:r>
              <a:rPr sz="1242" b="0" i="0">
                <a:solidFill>
                  <a:srgbClr val="1A1A1A"/>
                </a:solidFill>
                <a:latin typeface="Courier New"/>
              </a:rPr>
              <a:t>  server.send(200, "application/json", j);</a:t>
            </a:r>
          </a:p>
          <a:p>
            <a:pPr>
              <a:spcAft>
                <a:spcPts val="0"/>
              </a:spcAft>
            </a:pPr>
            <a:r>
              <a:rPr sz="1242" b="0" i="0">
                <a:solidFill>
                  <a:srgbClr val="1A1A1A"/>
                </a:solidFill>
                <a:latin typeface="Courier New"/>
              </a:rPr>
              <a:t>}</a:t>
            </a:r>
          </a:p>
          <a:p>
            <a:pPr>
              <a:spcAft>
                <a:spcPts val="0"/>
              </a:spcAft>
            </a:pPr>
            <a:r>
              <a:rPr sz="1242" b="0" i="0">
                <a:solidFill>
                  <a:srgbClr val="1A1A1A"/>
                </a:solidFill>
                <a:latin typeface="Courier New"/>
              </a:rPr>
              <a:t> </a:t>
            </a:r>
          </a:p>
          <a:p>
            <a:pPr>
              <a:spcAft>
                <a:spcPts val="0"/>
              </a:spcAft>
            </a:pPr>
            <a:r>
              <a:rPr sz="1242" b="0" i="0">
                <a:solidFill>
                  <a:srgbClr val="1A1A1A"/>
                </a:solidFill>
                <a:latin typeface="Courier New"/>
              </a:rPr>
              <a:t>void setup() {</a:t>
            </a:r>
          </a:p>
          <a:p>
            <a:pPr>
              <a:spcAft>
                <a:spcPts val="0"/>
              </a:spcAft>
            </a:pPr>
            <a:r>
              <a:rPr sz="1242" b="0" i="0">
                <a:solidFill>
                  <a:srgbClr val="1A1A1A"/>
                </a:solidFill>
                <a:latin typeface="Courier New"/>
              </a:rPr>
              <a:t>  </a:t>
            </a:r>
            <a:r>
              <a:rPr sz="1242" b="0" i="0">
                <a:solidFill>
                  <a:srgbClr val="595959"/>
                </a:solidFill>
                <a:latin typeface="Courier New"/>
              </a:rPr>
              <a:t>// ... Wi-Fi AP up ...</a:t>
            </a:r>
          </a:p>
          <a:p>
            <a:pPr>
              <a:spcAft>
                <a:spcPts val="0"/>
              </a:spcAft>
            </a:pPr>
            <a:r>
              <a:rPr sz="1242" b="0" i="0">
                <a:solidFill>
                  <a:srgbClr val="1A1A1A"/>
                </a:solidFill>
                <a:latin typeface="Courier New"/>
              </a:rPr>
              <a:t>  server.on("/",           handlePage);</a:t>
            </a:r>
          </a:p>
          <a:p>
            <a:pPr>
              <a:spcAft>
                <a:spcPts val="0"/>
              </a:spcAft>
            </a:pPr>
            <a:r>
              <a:rPr sz="1242" b="0" i="0">
                <a:solidFill>
                  <a:srgbClr val="1A1A1A"/>
                </a:solidFill>
                <a:latin typeface="Courier New"/>
              </a:rPr>
              <a:t>  server.on("/api/status", handleStatus);</a:t>
            </a:r>
          </a:p>
          <a:p>
            <a:pPr>
              <a:spcAft>
                <a:spcPts val="0"/>
              </a:spcAft>
            </a:pPr>
            <a:r>
              <a:rPr sz="1242" b="0" i="0">
                <a:solidFill>
                  <a:srgbClr val="1A1A1A"/>
                </a:solidFill>
                <a:latin typeface="Courier New"/>
              </a:rPr>
              <a:t>  server.on("/api/led",    handleLed);</a:t>
            </a:r>
          </a:p>
          <a:p>
            <a:pPr>
              <a:spcAft>
                <a:spcPts val="0"/>
              </a:spcAft>
            </a:pPr>
            <a:r>
              <a:rPr sz="1242" b="0" i="0">
                <a:solidFill>
                  <a:srgbClr val="1A1A1A"/>
                </a:solidFill>
                <a:latin typeface="Courier New"/>
              </a:rPr>
              <a:t>  server.begin();</a:t>
            </a:r>
          </a:p>
          <a:p>
            <a:pPr>
              <a:spcAft>
                <a:spcPts val="0"/>
              </a:spcAft>
            </a:pPr>
            <a:r>
              <a:rPr sz="1242" b="0" i="0">
                <a:solidFill>
                  <a:srgbClr val="1A1A1A"/>
                </a:solidFill>
                <a:latin typeface="Courier New"/>
              </a:rPr>
              <a:t>}</a:t>
            </a:r>
          </a:p>
          <a:p>
            <a:pPr>
              <a:spcAft>
                <a:spcPts val="0"/>
              </a:spcAft>
            </a:pPr>
            <a:r>
              <a:rPr sz="1242" b="0" i="0">
                <a:solidFill>
                  <a:srgbClr val="1A1A1A"/>
                </a:solidFill>
                <a:latin typeface="Courier New"/>
              </a:rPr>
              <a:t>void loop() {</a:t>
            </a:r>
          </a:p>
          <a:p>
            <a:pPr>
              <a:spcAft>
                <a:spcPts val="0"/>
              </a:spcAft>
            </a:pPr>
            <a:r>
              <a:rPr sz="1242" b="0" i="0">
                <a:solidFill>
                  <a:srgbClr val="1A1A1A"/>
                </a:solidFill>
                <a:latin typeface="Courier New"/>
              </a:rPr>
              <a:t>  server.handleClient();</a:t>
            </a:r>
          </a:p>
          <a:p>
            <a:pPr>
              <a:spcAft>
                <a:spcPts val="0"/>
              </a:spcAft>
            </a:pPr>
            <a:r>
              <a:rPr sz="1242" b="0" i="0">
                <a:solidFill>
                  <a:srgbClr val="1A1A1A"/>
                </a:solidFill>
                <a:latin typeface="Courier New"/>
              </a:rPr>
              <a:t>  updateLed();</a:t>
            </a:r>
          </a:p>
          <a:p>
            <a:pPr>
              <a:spcAft>
                <a:spcPts val="0"/>
              </a:spcAft>
            </a:pPr>
            <a:r>
              <a:rPr sz="1242" b="0" i="0">
                <a:solidFill>
                  <a:srgbClr val="1A1A1A"/>
                </a:solidFill>
                <a:latin typeface="Courier New"/>
              </a:rPr>
              <a:t>}</a:t>
            </a:r>
          </a:p>
        </p:txBody>
      </p:sp>
      <p:sp>
        <p:nvSpPr>
          <p:cNvPr id="8" name="TextBox 7"/>
          <p:cNvSpPr txBox="1"/>
          <p:nvPr/>
        </p:nvSpPr>
        <p:spPr>
          <a:xfrm>
            <a:off x="6819732" y="1417320"/>
            <a:ext cx="4686162" cy="4138742"/>
          </a:xfrm>
          <a:prstGeom prst="rect">
            <a:avLst/>
          </a:prstGeom>
          <a:noFill/>
        </p:spPr>
        <p:txBody>
          <a:bodyPr wrap="square" anchor="t" lIns="0" rIns="0" tIns="18288" bIns="18288">
            <a:spAutoFit/>
          </a:bodyPr>
          <a:lstStyle/>
          <a:p>
            <a:pPr>
              <a:spcAft>
                <a:spcPts val="500"/>
              </a:spcAft>
            </a:pPr>
            <a:r>
              <a:rPr sz="1395" b="0" i="0">
                <a:solidFill>
                  <a:srgbClr val="595959"/>
                </a:solidFill>
                <a:latin typeface="Arial"/>
              </a:rPr>
              <a:t>–  </a:t>
            </a:r>
            <a:r>
              <a:rPr sz="1395" b="0" i="0">
                <a:solidFill>
                  <a:srgbClr val="1A1A1A"/>
                </a:solidFill>
                <a:latin typeface="Arial"/>
              </a:rPr>
              <a:t>A request is text: </a:t>
            </a:r>
            <a:r>
              <a:rPr sz="1325" b="0" i="0">
                <a:solidFill>
                  <a:srgbClr val="1A1A1A"/>
                </a:solidFill>
                <a:latin typeface="Courier New"/>
              </a:rPr>
              <a:t>GET /api/led?state=on HTTP/1.1</a:t>
            </a:r>
            <a:r>
              <a:rPr sz="1395" b="0" i="0">
                <a:solidFill>
                  <a:srgbClr val="1A1A1A"/>
                </a:solidFill>
                <a:latin typeface="Arial"/>
              </a:rPr>
              <a:t>. The server matches the path to a function you registered with </a:t>
            </a:r>
            <a:r>
              <a:rPr sz="1325" b="0" i="0">
                <a:solidFill>
                  <a:srgbClr val="1A1A1A"/>
                </a:solidFill>
                <a:latin typeface="Courier New"/>
              </a:rPr>
              <a:t>server.on()</a:t>
            </a:r>
            <a:r>
              <a:rPr sz="1395" b="0" i="0">
                <a:solidFill>
                  <a:srgbClr val="1A1A1A"/>
                </a:solidFill>
                <a:latin typeface="Arial"/>
              </a:rPr>
              <a:t>, the function builds a reply, </a:t>
            </a:r>
            <a:r>
              <a:rPr sz="1325" b="0" i="0">
                <a:solidFill>
                  <a:srgbClr val="1A1A1A"/>
                </a:solidFill>
                <a:latin typeface="Courier New"/>
              </a:rPr>
              <a:t>server.send()</a:t>
            </a:r>
            <a:r>
              <a:rPr sz="1395" b="0" i="0">
                <a:solidFill>
                  <a:srgbClr val="1A1A1A"/>
                </a:solidFill>
                <a:latin typeface="Arial"/>
              </a:rPr>
              <a:t> writes status code, content type and body.</a:t>
            </a:r>
          </a:p>
          <a:p>
            <a:pPr>
              <a:spcAft>
                <a:spcPts val="500"/>
              </a:spcAft>
            </a:pPr>
            <a:r>
              <a:rPr sz="1395" b="0" i="0">
                <a:solidFill>
                  <a:srgbClr val="595959"/>
                </a:solidFill>
                <a:latin typeface="Arial"/>
              </a:rPr>
              <a:t>–  </a:t>
            </a:r>
            <a:r>
              <a:rPr sz="1325" b="0" i="0">
                <a:solidFill>
                  <a:srgbClr val="1A1A1A"/>
                </a:solidFill>
                <a:latin typeface="Courier New"/>
              </a:rPr>
              <a:t>WebServer</a:t>
            </a:r>
            <a:r>
              <a:rPr sz="1395" b="0" i="0">
                <a:solidFill>
                  <a:srgbClr val="1A1A1A"/>
                </a:solidFill>
                <a:latin typeface="Arial"/>
              </a:rPr>
              <a:t> is single-threaded and </a:t>
            </a:r>
            <a:r>
              <a:rPr sz="1395" b="1" i="0">
                <a:solidFill>
                  <a:srgbClr val="1A1A1A"/>
                </a:solidFill>
                <a:latin typeface="Arial"/>
              </a:rPr>
              <a:t>polled</a:t>
            </a:r>
            <a:r>
              <a:rPr sz="1395" b="0" i="0">
                <a:solidFill>
                  <a:srgbClr val="1A1A1A"/>
                </a:solidFill>
                <a:latin typeface="Arial"/>
              </a:rPr>
              <a:t>: </a:t>
            </a:r>
            <a:r>
              <a:rPr sz="1325" b="0" i="0">
                <a:solidFill>
                  <a:srgbClr val="1A1A1A"/>
                </a:solidFill>
                <a:latin typeface="Courier New"/>
              </a:rPr>
              <a:t>handleClient()</a:t>
            </a:r>
            <a:r>
              <a:rPr sz="1395" b="0" i="0">
                <a:solidFill>
                  <a:srgbClr val="1A1A1A"/>
                </a:solidFill>
                <a:latin typeface="Arial"/>
              </a:rPr>
              <a:t> checks for a waiting connection each time </a:t>
            </a:r>
            <a:r>
              <a:rPr sz="1325" b="0" i="0">
                <a:solidFill>
                  <a:srgbClr val="1A1A1A"/>
                </a:solidFill>
                <a:latin typeface="Courier New"/>
              </a:rPr>
              <a:t>loop()</a:t>
            </a:r>
            <a:r>
              <a:rPr sz="1395" b="0" i="0">
                <a:solidFill>
                  <a:srgbClr val="1A1A1A"/>
                </a:solidFill>
                <a:latin typeface="Arial"/>
              </a:rPr>
              <a:t> calls it. No </a:t>
            </a:r>
            <a:r>
              <a:rPr sz="1325" b="0" i="0">
                <a:solidFill>
                  <a:srgbClr val="1A1A1A"/>
                </a:solidFill>
                <a:latin typeface="Courier New"/>
              </a:rPr>
              <a:t>delay()</a:t>
            </a:r>
            <a:r>
              <a:rPr sz="1395" b="0" i="0">
                <a:solidFill>
                  <a:srgbClr val="1A1A1A"/>
                </a:solidFill>
                <a:latin typeface="Arial"/>
              </a:rPr>
              <a:t> in </a:t>
            </a:r>
            <a:r>
              <a:rPr sz="1325" b="0" i="0">
                <a:solidFill>
                  <a:srgbClr val="1A1A1A"/>
                </a:solidFill>
                <a:latin typeface="Courier New"/>
              </a:rPr>
              <a:t>loop()</a:t>
            </a:r>
            <a:r>
              <a:rPr sz="1395" b="0" i="0">
                <a:solidFill>
                  <a:srgbClr val="1A1A1A"/>
                </a:solidFill>
                <a:latin typeface="Arial"/>
              </a:rPr>
              <a:t>, or the page stalls.</a:t>
            </a:r>
          </a:p>
          <a:p>
            <a:pPr>
              <a:spcAft>
                <a:spcPts val="500"/>
              </a:spcAft>
            </a:pPr>
            <a:r>
              <a:rPr sz="1395" b="0" i="0">
                <a:solidFill>
                  <a:srgbClr val="595959"/>
                </a:solidFill>
                <a:latin typeface="Arial"/>
              </a:rPr>
              <a:t>–  </a:t>
            </a:r>
            <a:r>
              <a:rPr sz="1395" b="0" i="0">
                <a:solidFill>
                  <a:srgbClr val="1A1A1A"/>
                </a:solidFill>
                <a:latin typeface="Arial"/>
              </a:rPr>
              <a:t>Query parameters: </a:t>
            </a:r>
            <a:r>
              <a:rPr sz="1325" b="0" i="0">
                <a:solidFill>
                  <a:srgbClr val="1A1A1A"/>
                </a:solidFill>
                <a:latin typeface="Courier New"/>
              </a:rPr>
              <a:t>server.arg("state")</a:t>
            </a:r>
            <a:r>
              <a:rPr sz="1395" b="0" i="0">
                <a:solidFill>
                  <a:srgbClr val="1A1A1A"/>
                </a:solidFill>
                <a:latin typeface="Arial"/>
              </a:rPr>
              <a:t>, </a:t>
            </a:r>
            <a:r>
              <a:rPr sz="1325" b="0" i="0">
                <a:solidFill>
                  <a:srgbClr val="1A1A1A"/>
                </a:solidFill>
                <a:latin typeface="Courier New"/>
              </a:rPr>
              <a:t>server.hasArg("n")</a:t>
            </a:r>
            <a:r>
              <a:rPr sz="1395" b="0" i="0">
                <a:solidFill>
                  <a:srgbClr val="1A1A1A"/>
                </a:solidFill>
                <a:latin typeface="Arial"/>
              </a:rPr>
              <a:t>.</a:t>
            </a:r>
          </a:p>
          <a:p>
            <a:pPr>
              <a:spcAft>
                <a:spcPts val="500"/>
              </a:spcAft>
            </a:pPr>
            <a:r>
              <a:rPr sz="1395" b="0" i="0">
                <a:solidFill>
                  <a:srgbClr val="595959"/>
                </a:solidFill>
                <a:latin typeface="Arial"/>
              </a:rPr>
              <a:t>–  </a:t>
            </a:r>
            <a:r>
              <a:rPr sz="1395" b="0" i="0">
                <a:solidFill>
                  <a:srgbClr val="1A1A1A"/>
                </a:solidFill>
                <a:latin typeface="Arial"/>
              </a:rPr>
              <a:t>JSON is built by hand here, with a few </a:t>
            </a:r>
            <a:r>
              <a:rPr sz="1325" b="0" i="0">
                <a:solidFill>
                  <a:srgbClr val="1A1A1A"/>
                </a:solidFill>
                <a:latin typeface="Courier New"/>
              </a:rPr>
              <a:t>String</a:t>
            </a:r>
            <a:r>
              <a:rPr sz="1395" b="0" i="0">
                <a:solidFill>
                  <a:srgbClr val="1A1A1A"/>
                </a:solidFill>
                <a:latin typeface="Arial"/>
              </a:rPr>
              <a:t> concatenations. For anything bigger, the </a:t>
            </a:r>
            <a:r>
              <a:rPr sz="1325" b="0" i="0">
                <a:solidFill>
                  <a:srgbClr val="1A1A1A"/>
                </a:solidFill>
                <a:latin typeface="Courier New"/>
              </a:rPr>
              <a:t>ArduinoJson</a:t>
            </a:r>
            <a:r>
              <a:rPr sz="1395" b="0" i="0">
                <a:solidFill>
                  <a:srgbClr val="1A1A1A"/>
                </a:solidFill>
                <a:latin typeface="Arial"/>
              </a:rPr>
              <a:t> library.</a:t>
            </a:r>
          </a:p>
          <a:p>
            <a:pPr>
              <a:spcAft>
                <a:spcPts val="500"/>
              </a:spcAft>
            </a:pPr>
            <a:r>
              <a:rPr sz="1395" b="0" i="0">
                <a:solidFill>
                  <a:srgbClr val="595959"/>
                </a:solidFill>
                <a:latin typeface="Arial"/>
              </a:rPr>
              <a:t>–  </a:t>
            </a:r>
            <a:r>
              <a:rPr sz="1395" b="0" i="0">
                <a:solidFill>
                  <a:srgbClr val="1A1A1A"/>
                </a:solidFill>
                <a:latin typeface="Arial"/>
              </a:rPr>
              <a:t>The page HTML lives in </a:t>
            </a:r>
            <a:r>
              <a:rPr sz="1325" b="0" i="0">
                <a:solidFill>
                  <a:srgbClr val="1A1A1A"/>
                </a:solidFill>
                <a:latin typeface="Courier New"/>
              </a:rPr>
              <a:t>page.h</a:t>
            </a:r>
            <a:r>
              <a:rPr sz="1395" b="0" i="0">
                <a:solidFill>
                  <a:srgbClr val="1A1A1A"/>
                </a:solidFill>
                <a:latin typeface="Arial"/>
              </a:rPr>
              <a:t> as a raw string literal in flash (</a:t>
            </a:r>
            <a:r>
              <a:rPr sz="1325" b="0" i="0">
                <a:solidFill>
                  <a:srgbClr val="1A1A1A"/>
                </a:solidFill>
                <a:latin typeface="Courier New"/>
              </a:rPr>
              <a:t>PROGMEM</a:t>
            </a:r>
            <a:r>
              <a:rPr sz="1395" b="0" i="0">
                <a:solidFill>
                  <a:srgbClr val="1A1A1A"/>
                </a:solidFill>
                <a:latin typeface="Arial"/>
              </a:rPr>
              <a:t>), ~8 KB. One page, no external files, so it works with no internet.</a:t>
            </a:r>
          </a:p>
          <a:p>
            <a:pPr>
              <a:spcAft>
                <a:spcPts val="500"/>
              </a:spcAft>
            </a:pPr>
            <a:r>
              <a:rPr sz="1395" b="0" i="0">
                <a:solidFill>
                  <a:srgbClr val="595959"/>
                </a:solidFill>
                <a:latin typeface="Arial"/>
              </a:rPr>
              <a:t>–  </a:t>
            </a:r>
            <a:r>
              <a:rPr sz="1395" b="0" i="0">
                <a:solidFill>
                  <a:srgbClr val="1A1A1A"/>
                </a:solidFill>
                <a:latin typeface="Arial"/>
              </a:rPr>
              <a:t>Throughput: roughly 20–50 small requests per second. Plenty for one phone polling once a second.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0"/>
            <a:ext cx="7315200" cy="274320"/>
          </a:xfrm>
          <a:prstGeom prst="rect">
            <a:avLst/>
          </a:prstGeom>
          <a:noFill/>
        </p:spPr>
        <p:txBody>
          <a:bodyPr wrap="square" anchor="t" lIns="0" rIns="0" tIns="18288" bIns="18288">
            <a:spAutoFit/>
          </a:bodyPr>
          <a:lstStyle/>
          <a:p>
            <a:pPr algn="l"/>
            <a:r>
              <a:rPr sz="1000" b="0" i="0">
                <a:solidFill>
                  <a:srgbClr val="595959"/>
                </a:solidFill>
                <a:latin typeface="Arial"/>
              </a:rPr>
              <a:t>HackHardware · Getting started with the ESP32</a:t>
            </a:r>
          </a:p>
        </p:txBody>
      </p:sp>
      <p:sp>
        <p:nvSpPr>
          <p:cNvPr id="3" name="TextBox 2"/>
          <p:cNvSpPr txBox="1"/>
          <p:nvPr/>
        </p:nvSpPr>
        <p:spPr>
          <a:xfrm>
            <a:off x="10134295" y="6400800"/>
            <a:ext cx="1371600" cy="274320"/>
          </a:xfrm>
          <a:prstGeom prst="rect">
            <a:avLst/>
          </a:prstGeom>
          <a:noFill/>
        </p:spPr>
        <p:txBody>
          <a:bodyPr wrap="square" anchor="t" lIns="0" rIns="0" tIns="18288" bIns="18288">
            <a:spAutoFit/>
          </a:bodyPr>
          <a:lstStyle/>
          <a:p>
            <a:pPr algn="r"/>
            <a:r>
              <a:rPr sz="1000" b="0" i="0">
                <a:solidFill>
                  <a:srgbClr val="595959"/>
                </a:solidFill>
                <a:latin typeface="Arial"/>
              </a:rPr>
              <a:t>25</a:t>
            </a:r>
          </a:p>
        </p:txBody>
      </p:sp>
      <p:sp>
        <p:nvSpPr>
          <p:cNvPr id="4" name="TextBox 3"/>
          <p:cNvSpPr txBox="1"/>
          <p:nvPr/>
        </p:nvSpPr>
        <p:spPr>
          <a:xfrm>
            <a:off x="685800" y="457200"/>
            <a:ext cx="10820095" cy="822960"/>
          </a:xfrm>
          <a:prstGeom prst="rect">
            <a:avLst/>
          </a:prstGeom>
          <a:noFill/>
        </p:spPr>
        <p:txBody>
          <a:bodyPr wrap="square" anchor="b" lIns="0" rIns="0" tIns="18288" bIns="18288">
            <a:spAutoFit/>
          </a:bodyPr>
          <a:lstStyle/>
          <a:p>
            <a:pPr algn="l"/>
            <a:r>
              <a:rPr sz="3000" b="1" i="0">
                <a:solidFill>
                  <a:srgbClr val="1A1A1A"/>
                </a:solidFill>
                <a:latin typeface="Arial"/>
              </a:rPr>
              <a:t>How the page and the board talk</a:t>
            </a:r>
          </a:p>
        </p:txBody>
      </p:sp>
      <p:cxnSp>
        <p:nvCxnSpPr>
          <p:cNvPr id="5" name="Connector 4"/>
          <p:cNvCxnSpPr/>
          <p:nvPr/>
        </p:nvCxnSpPr>
        <p:spPr>
          <a:xfrm>
            <a:off x="685800" y="1298448"/>
            <a:ext cx="10820095" cy="0"/>
          </a:xfrm>
          <a:prstGeom prst="line">
            <a:avLst/>
          </a:prstGeom>
          <a:ln w="9525">
            <a:solidFill>
              <a:srgbClr val="BFBFBF"/>
            </a:solidFill>
          </a:ln>
        </p:spPr>
      </p:cxnSp>
      <p:sp>
        <p:nvSpPr>
          <p:cNvPr id="6" name="Rectangle 5"/>
          <p:cNvSpPr/>
          <p:nvPr/>
        </p:nvSpPr>
        <p:spPr>
          <a:xfrm>
            <a:off x="685800" y="1463040"/>
            <a:ext cx="2377440" cy="1828800"/>
          </a:xfrm>
          <a:prstGeom prst="rect">
            <a:avLst/>
          </a:prstGeom>
          <a:noFill/>
          <a:ln w="12700">
            <a:solidFill>
              <a:srgbClr val="1A1A1A"/>
            </a:solidFill>
          </a:ln>
          <a:effectLst/>
        </p:spPr>
        <p:txBody>
          <a:bodyPr rtlCol="0" anchor="ctr"/>
          <a:lstStyle/>
          <a:p>
            <a:pPr algn="ctr"/>
          </a:p>
        </p:txBody>
      </p:sp>
      <p:sp>
        <p:nvSpPr>
          <p:cNvPr id="7" name="TextBox 6"/>
          <p:cNvSpPr txBox="1"/>
          <p:nvPr/>
        </p:nvSpPr>
        <p:spPr>
          <a:xfrm>
            <a:off x="795528" y="1536192"/>
            <a:ext cx="2194560" cy="274320"/>
          </a:xfrm>
          <a:prstGeom prst="rect">
            <a:avLst/>
          </a:prstGeom>
          <a:noFill/>
        </p:spPr>
        <p:txBody>
          <a:bodyPr wrap="square" anchor="t" lIns="0" rIns="0" tIns="18288" bIns="18288">
            <a:spAutoFit/>
          </a:bodyPr>
          <a:lstStyle/>
          <a:p>
            <a:pPr algn="l"/>
            <a:r>
              <a:rPr sz="1100" b="1" i="0">
                <a:solidFill>
                  <a:srgbClr val="1A1A1A"/>
                </a:solidFill>
                <a:latin typeface="Arial"/>
              </a:rPr>
              <a:t>Browser on your phone</a:t>
            </a:r>
          </a:p>
        </p:txBody>
      </p:sp>
      <p:sp>
        <p:nvSpPr>
          <p:cNvPr id="8" name="TextBox 7"/>
          <p:cNvSpPr txBox="1"/>
          <p:nvPr/>
        </p:nvSpPr>
        <p:spPr>
          <a:xfrm>
            <a:off x="795528" y="1828800"/>
            <a:ext cx="2194560" cy="1371600"/>
          </a:xfrm>
          <a:prstGeom prst="rect">
            <a:avLst/>
          </a:prstGeom>
          <a:noFill/>
        </p:spPr>
        <p:txBody>
          <a:bodyPr wrap="square" anchor="t" lIns="0" rIns="0" tIns="18288" bIns="18288">
            <a:spAutoFit/>
          </a:bodyPr>
          <a:lstStyle/>
          <a:p>
            <a:pPr algn="l"/>
            <a:r>
              <a:rPr sz="1000" b="0" i="0">
                <a:solidFill>
                  <a:srgbClr val="595959"/>
                </a:solidFill>
                <a:latin typeface="Arial"/>
              </a:rPr>
              <a:t>page HTML + JavaScript</a:t>
            </a:r>
          </a:p>
          <a:p>
            <a:pPr algn="l"/>
          </a:p>
          <a:p>
            <a:pPr algn="l"/>
            <a:r>
              <a:rPr sz="1000" b="0" i="0">
                <a:solidFill>
                  <a:srgbClr val="595959"/>
                </a:solidFill>
                <a:latin typeface="Arial"/>
              </a:rPr>
              <a:t>setInterval(…, 1000):</a:t>
            </a:r>
          </a:p>
          <a:p>
            <a:pPr algn="l"/>
            <a:r>
              <a:rPr sz="1000" b="0" i="0">
                <a:solidFill>
                  <a:srgbClr val="595959"/>
                </a:solidFill>
                <a:latin typeface="Arial"/>
              </a:rPr>
              <a:t>  fetch('/api/status')</a:t>
            </a:r>
          </a:p>
          <a:p>
            <a:pPr algn="l"/>
            <a:r>
              <a:rPr sz="1000" b="0" i="0">
                <a:solidFill>
                  <a:srgbClr val="595959"/>
                </a:solidFill>
                <a:latin typeface="Arial"/>
              </a:rPr>
              <a:t>  → update the numbers</a:t>
            </a:r>
          </a:p>
        </p:txBody>
      </p:sp>
      <p:sp>
        <p:nvSpPr>
          <p:cNvPr id="9" name="Rectangle 8"/>
          <p:cNvSpPr/>
          <p:nvPr/>
        </p:nvSpPr>
        <p:spPr>
          <a:xfrm>
            <a:off x="8762695" y="1463040"/>
            <a:ext cx="2743200" cy="1828800"/>
          </a:xfrm>
          <a:prstGeom prst="rect">
            <a:avLst/>
          </a:prstGeom>
          <a:noFill/>
          <a:ln w="12700">
            <a:solidFill>
              <a:srgbClr val="1A1A1A"/>
            </a:solidFill>
          </a:ln>
          <a:effectLst/>
        </p:spPr>
        <p:txBody>
          <a:bodyPr rtlCol="0" anchor="ctr"/>
          <a:lstStyle/>
          <a:p>
            <a:pPr algn="ctr"/>
          </a:p>
        </p:txBody>
      </p:sp>
      <p:sp>
        <p:nvSpPr>
          <p:cNvPr id="10" name="TextBox 9"/>
          <p:cNvSpPr txBox="1"/>
          <p:nvPr/>
        </p:nvSpPr>
        <p:spPr>
          <a:xfrm>
            <a:off x="8872423" y="1536192"/>
            <a:ext cx="2560320" cy="274320"/>
          </a:xfrm>
          <a:prstGeom prst="rect">
            <a:avLst/>
          </a:prstGeom>
          <a:noFill/>
        </p:spPr>
        <p:txBody>
          <a:bodyPr wrap="square" anchor="t" lIns="0" rIns="0" tIns="18288" bIns="18288">
            <a:spAutoFit/>
          </a:bodyPr>
          <a:lstStyle/>
          <a:p>
            <a:pPr algn="l"/>
            <a:r>
              <a:rPr sz="1100" b="1" i="0">
                <a:solidFill>
                  <a:srgbClr val="1A1A1A"/>
                </a:solidFill>
                <a:latin typeface="Arial"/>
              </a:rPr>
              <a:t>ESP32 at 192.168.4.1:80</a:t>
            </a:r>
          </a:p>
        </p:txBody>
      </p:sp>
      <p:sp>
        <p:nvSpPr>
          <p:cNvPr id="11" name="TextBox 10"/>
          <p:cNvSpPr txBox="1"/>
          <p:nvPr/>
        </p:nvSpPr>
        <p:spPr>
          <a:xfrm>
            <a:off x="8872423" y="1828800"/>
            <a:ext cx="2560320" cy="1371600"/>
          </a:xfrm>
          <a:prstGeom prst="rect">
            <a:avLst/>
          </a:prstGeom>
          <a:noFill/>
        </p:spPr>
        <p:txBody>
          <a:bodyPr wrap="square" anchor="t" lIns="0" rIns="0" tIns="18288" bIns="18288">
            <a:spAutoFit/>
          </a:bodyPr>
          <a:lstStyle/>
          <a:p>
            <a:pPr algn="l"/>
            <a:r>
              <a:rPr sz="1000" b="0" i="0">
                <a:solidFill>
                  <a:srgbClr val="595959"/>
                </a:solidFill>
                <a:latin typeface="Arial"/>
              </a:rPr>
              <a:t>loop():</a:t>
            </a:r>
          </a:p>
          <a:p>
            <a:pPr algn="l"/>
            <a:r>
              <a:rPr sz="1000" b="0" i="0">
                <a:solidFill>
                  <a:srgbClr val="595959"/>
                </a:solidFill>
                <a:latin typeface="Arial"/>
              </a:rPr>
              <a:t>  server.handleClient()</a:t>
            </a:r>
          </a:p>
          <a:p>
            <a:pPr algn="l"/>
            <a:r>
              <a:rPr sz="1000" b="0" i="0">
                <a:solidFill>
                  <a:srgbClr val="595959"/>
                </a:solidFill>
                <a:latin typeface="Arial"/>
              </a:rPr>
              <a:t>    → match path to handler</a:t>
            </a:r>
          </a:p>
          <a:p>
            <a:pPr algn="l"/>
            <a:r>
              <a:rPr sz="1000" b="0" i="0">
                <a:solidFill>
                  <a:srgbClr val="595959"/>
                </a:solidFill>
                <a:latin typeface="Arial"/>
              </a:rPr>
              <a:t>    → read sensors, build JSON</a:t>
            </a:r>
          </a:p>
          <a:p>
            <a:pPr algn="l"/>
            <a:r>
              <a:rPr sz="1000" b="0" i="0">
                <a:solidFill>
                  <a:srgbClr val="595959"/>
                </a:solidFill>
                <a:latin typeface="Arial"/>
              </a:rPr>
              <a:t>    → server.send(200, …)</a:t>
            </a:r>
          </a:p>
        </p:txBody>
      </p:sp>
      <p:cxnSp>
        <p:nvCxnSpPr>
          <p:cNvPr id="12" name="Connector 11"/>
          <p:cNvCxnSpPr/>
          <p:nvPr/>
        </p:nvCxnSpPr>
        <p:spPr>
          <a:xfrm>
            <a:off x="3063240" y="2011680"/>
            <a:ext cx="5699455" cy="0"/>
          </a:xfrm>
          <a:prstGeom prst="line">
            <a:avLst/>
          </a:prstGeom>
          <a:ln w="12700">
            <a:solidFill>
              <a:srgbClr val="1A1A1A"/>
            </a:solidFill>
            <a:tailEnd type="triangle" w="med" len="med"/>
          </a:ln>
        </p:spPr>
      </p:cxnSp>
      <p:sp>
        <p:nvSpPr>
          <p:cNvPr id="13" name="TextBox 12"/>
          <p:cNvSpPr txBox="1"/>
          <p:nvPr/>
        </p:nvSpPr>
        <p:spPr>
          <a:xfrm>
            <a:off x="3063240" y="1737360"/>
            <a:ext cx="5699455" cy="228600"/>
          </a:xfrm>
          <a:prstGeom prst="rect">
            <a:avLst/>
          </a:prstGeom>
          <a:noFill/>
        </p:spPr>
        <p:txBody>
          <a:bodyPr wrap="square" anchor="t" lIns="0" rIns="0" tIns="18288" bIns="18288">
            <a:spAutoFit/>
          </a:bodyPr>
          <a:lstStyle/>
          <a:p>
            <a:pPr algn="ctr"/>
            <a:r>
              <a:rPr sz="950" b="0" i="0">
                <a:solidFill>
                  <a:srgbClr val="1A1A1A"/>
                </a:solidFill>
                <a:latin typeface="Courier New"/>
              </a:rPr>
              <a:t>GET /api/status HTTP/1.1</a:t>
            </a:r>
          </a:p>
        </p:txBody>
      </p:sp>
      <p:cxnSp>
        <p:nvCxnSpPr>
          <p:cNvPr id="14" name="Connector 13"/>
          <p:cNvCxnSpPr/>
          <p:nvPr/>
        </p:nvCxnSpPr>
        <p:spPr>
          <a:xfrm flipH="1">
            <a:off x="3063240" y="2651760"/>
            <a:ext cx="5699455" cy="0"/>
          </a:xfrm>
          <a:prstGeom prst="line">
            <a:avLst/>
          </a:prstGeom>
          <a:ln w="12700">
            <a:solidFill>
              <a:srgbClr val="1A1A1A"/>
            </a:solidFill>
            <a:tailEnd type="triangle" w="med" len="med"/>
          </a:ln>
        </p:spPr>
      </p:cxnSp>
      <p:sp>
        <p:nvSpPr>
          <p:cNvPr id="15" name="TextBox 14"/>
          <p:cNvSpPr txBox="1"/>
          <p:nvPr/>
        </p:nvSpPr>
        <p:spPr>
          <a:xfrm>
            <a:off x="3063240" y="2697480"/>
            <a:ext cx="5699455" cy="228600"/>
          </a:xfrm>
          <a:prstGeom prst="rect">
            <a:avLst/>
          </a:prstGeom>
          <a:noFill/>
        </p:spPr>
        <p:txBody>
          <a:bodyPr wrap="square" anchor="t" lIns="0" rIns="0" tIns="18288" bIns="18288">
            <a:spAutoFit/>
          </a:bodyPr>
          <a:lstStyle/>
          <a:p>
            <a:pPr algn="ctr"/>
            <a:r>
              <a:rPr sz="950" b="0" i="0">
                <a:solidFill>
                  <a:srgbClr val="1A1A1A"/>
                </a:solidFill>
                <a:latin typeface="Courier New"/>
              </a:rPr>
              <a:t>200 OK  {"uptime_s":42,"temp_c":41.2,"led":1}</a:t>
            </a:r>
          </a:p>
        </p:txBody>
      </p:sp>
      <p:sp>
        <p:nvSpPr>
          <p:cNvPr id="16" name="TextBox 15"/>
          <p:cNvSpPr txBox="1"/>
          <p:nvPr/>
        </p:nvSpPr>
        <p:spPr>
          <a:xfrm>
            <a:off x="3063240" y="3017520"/>
            <a:ext cx="5699455" cy="228600"/>
          </a:xfrm>
          <a:prstGeom prst="rect">
            <a:avLst/>
          </a:prstGeom>
          <a:noFill/>
        </p:spPr>
        <p:txBody>
          <a:bodyPr wrap="square" anchor="t" lIns="0" rIns="0" tIns="18288" bIns="18288">
            <a:spAutoFit/>
          </a:bodyPr>
          <a:lstStyle/>
          <a:p>
            <a:pPr algn="ctr"/>
            <a:r>
              <a:rPr sz="900" b="0" i="0">
                <a:solidFill>
                  <a:srgbClr val="595959"/>
                </a:solidFill>
                <a:latin typeface="Arial"/>
              </a:rPr>
              <a:t>one round trip ≈ 5–30 ms on the local link</a:t>
            </a:r>
          </a:p>
        </p:txBody>
      </p:sp>
      <p:sp>
        <p:nvSpPr>
          <p:cNvPr id="17" name="Rectangle 16"/>
          <p:cNvSpPr/>
          <p:nvPr/>
        </p:nvSpPr>
        <p:spPr>
          <a:xfrm>
            <a:off x="685800" y="3520440"/>
            <a:ext cx="10820095" cy="1897736"/>
          </a:xfrm>
          <a:prstGeom prst="rect">
            <a:avLst/>
          </a:prstGeom>
          <a:solidFill>
            <a:srgbClr val="F2F2F2"/>
          </a:solidFill>
          <a:ln>
            <a:noFill/>
          </a:ln>
          <a:effectLst/>
        </p:spPr>
        <p:txBody>
          <a:bodyPr rtlCol="0" anchor="ctr"/>
          <a:lstStyle/>
          <a:p>
            <a:pPr algn="ctr"/>
          </a:p>
        </p:txBody>
      </p:sp>
      <p:sp>
        <p:nvSpPr>
          <p:cNvPr id="18" name="TextBox 17"/>
          <p:cNvSpPr txBox="1"/>
          <p:nvPr/>
        </p:nvSpPr>
        <p:spPr>
          <a:xfrm>
            <a:off x="822960" y="3630168"/>
            <a:ext cx="10545775" cy="1714856"/>
          </a:xfrm>
          <a:prstGeom prst="rect">
            <a:avLst/>
          </a:prstGeom>
          <a:noFill/>
        </p:spPr>
        <p:txBody>
          <a:bodyPr wrap="square" anchor="t" lIns="0" rIns="0" tIns="18288" bIns="18288">
            <a:spAutoFit/>
          </a:bodyPr>
          <a:lstStyle/>
          <a:p>
            <a:pPr>
              <a:spcAft>
                <a:spcPts val="0"/>
              </a:spcAft>
            </a:pPr>
            <a:r>
              <a:rPr sz="1029" b="0" i="0">
                <a:solidFill>
                  <a:srgbClr val="1A1A1A"/>
                </a:solidFill>
                <a:latin typeface="Courier New"/>
              </a:rPr>
              <a:t/>
            </a:r>
            <a:r>
              <a:rPr sz="1029" b="0" i="0">
                <a:solidFill>
                  <a:srgbClr val="595959"/>
                </a:solidFill>
                <a:latin typeface="Courier New"/>
              </a:rPr>
              <a:t>// in page.h: the JavaScript the browser runs</a:t>
            </a:r>
          </a:p>
          <a:p>
            <a:pPr>
              <a:spcAft>
                <a:spcPts val="0"/>
              </a:spcAft>
            </a:pPr>
            <a:r>
              <a:rPr sz="1029" b="0" i="0">
                <a:solidFill>
                  <a:srgbClr val="1A1A1A"/>
                </a:solidFill>
                <a:latin typeface="Courier New"/>
              </a:rPr>
              <a:t>setInterval(async () =&gt; {</a:t>
            </a:r>
          </a:p>
          <a:p>
            <a:pPr>
              <a:spcAft>
                <a:spcPts val="0"/>
              </a:spcAft>
            </a:pPr>
            <a:r>
              <a:rPr sz="1029" b="0" i="0">
                <a:solidFill>
                  <a:srgbClr val="1A1A1A"/>
                </a:solidFill>
                <a:latin typeface="Courier New"/>
              </a:rPr>
              <a:t>  const s = await (await fetch('/api/status')).json();</a:t>
            </a:r>
          </a:p>
          <a:p>
            <a:pPr>
              <a:spcAft>
                <a:spcPts val="0"/>
              </a:spcAft>
            </a:pPr>
            <a:r>
              <a:rPr sz="1029" b="0" i="0">
                <a:solidFill>
                  <a:srgbClr val="1A1A1A"/>
                </a:solidFill>
                <a:latin typeface="Courier New"/>
              </a:rPr>
              <a:t>  document.getElementById('temp').textContent</a:t>
            </a:r>
          </a:p>
          <a:p>
            <a:pPr>
              <a:spcAft>
                <a:spcPts val="0"/>
              </a:spcAft>
            </a:pPr>
            <a:r>
              <a:rPr sz="1029" b="0" i="0">
                <a:solidFill>
                  <a:srgbClr val="1A1A1A"/>
                </a:solidFill>
                <a:latin typeface="Courier New"/>
              </a:rPr>
              <a:t>      = s.temp_c.toFixed(1) + ' °C';</a:t>
            </a:r>
          </a:p>
          <a:p>
            <a:pPr>
              <a:spcAft>
                <a:spcPts val="0"/>
              </a:spcAft>
            </a:pPr>
            <a:r>
              <a:rPr sz="1029" b="0" i="0">
                <a:solidFill>
                  <a:srgbClr val="1A1A1A"/>
                </a:solidFill>
                <a:latin typeface="Courier New"/>
              </a:rPr>
              <a:t>  document.getElementById('led').textContent</a:t>
            </a:r>
          </a:p>
          <a:p>
            <a:pPr>
              <a:spcAft>
                <a:spcPts val="0"/>
              </a:spcAft>
            </a:pPr>
            <a:r>
              <a:rPr sz="1029" b="0" i="0">
                <a:solidFill>
                  <a:srgbClr val="1A1A1A"/>
                </a:solidFill>
                <a:latin typeface="Courier New"/>
              </a:rPr>
              <a:t>      = s.led ? 'on' : 'off';</a:t>
            </a:r>
          </a:p>
          <a:p>
            <a:pPr>
              <a:spcAft>
                <a:spcPts val="0"/>
              </a:spcAft>
            </a:pPr>
            <a:r>
              <a:rPr sz="1029" b="0" i="0">
                <a:solidFill>
                  <a:srgbClr val="1A1A1A"/>
                </a:solidFill>
                <a:latin typeface="Courier New"/>
              </a:rPr>
              <a:t>}, 1000);</a:t>
            </a:r>
          </a:p>
          <a:p>
            <a:pPr>
              <a:spcAft>
                <a:spcPts val="0"/>
              </a:spcAft>
            </a:pPr>
            <a:r>
              <a:rPr sz="1029" b="0" i="0">
                <a:solidFill>
                  <a:srgbClr val="1A1A1A"/>
                </a:solidFill>
                <a:latin typeface="Courier New"/>
              </a:rPr>
              <a:t> </a:t>
            </a:r>
          </a:p>
          <a:p>
            <a:pPr>
              <a:spcAft>
                <a:spcPts val="0"/>
              </a:spcAft>
            </a:pPr>
            <a:r>
              <a:rPr sz="1029" b="0" i="0">
                <a:solidFill>
                  <a:srgbClr val="1A1A1A"/>
                </a:solidFill>
                <a:latin typeface="Courier New"/>
              </a:rPr>
              <a:t/>
            </a:r>
            <a:r>
              <a:rPr sz="1029" b="0" i="0">
                <a:solidFill>
                  <a:srgbClr val="595959"/>
                </a:solidFill>
                <a:latin typeface="Courier New"/>
              </a:rPr>
              <a:t>// a button:  onclick="fetch('/api/led?state=on')"</a:t>
            </a:r>
          </a:p>
        </p:txBody>
      </p:sp>
      <p:sp>
        <p:nvSpPr>
          <p:cNvPr id="19" name="TextBox 18"/>
          <p:cNvSpPr txBox="1"/>
          <p:nvPr/>
        </p:nvSpPr>
        <p:spPr>
          <a:xfrm>
            <a:off x="685800" y="5509616"/>
            <a:ext cx="10820095" cy="551407"/>
          </a:xfrm>
          <a:prstGeom prst="rect">
            <a:avLst/>
          </a:prstGeom>
          <a:noFill/>
        </p:spPr>
        <p:txBody>
          <a:bodyPr wrap="square" anchor="t" lIns="0" rIns="0" tIns="18288" bIns="18288">
            <a:spAutoFit/>
          </a:bodyPr>
          <a:lstStyle/>
          <a:p>
            <a:r>
              <a:rPr sz="1534" b="0" i="0">
                <a:solidFill>
                  <a:srgbClr val="595959"/>
                </a:solidFill>
                <a:latin typeface="Arial"/>
              </a:rPr>
              <a:t>The board never pushes anything; the browser asks once a second. That is the simplest possible “live” page. WebSockets or Server-Sent Events are the next step if you need lower latency.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0"/>
            <a:ext cx="7315200" cy="274320"/>
          </a:xfrm>
          <a:prstGeom prst="rect">
            <a:avLst/>
          </a:prstGeom>
          <a:noFill/>
        </p:spPr>
        <p:txBody>
          <a:bodyPr wrap="square" anchor="t" lIns="0" rIns="0" tIns="18288" bIns="18288">
            <a:spAutoFit/>
          </a:bodyPr>
          <a:lstStyle/>
          <a:p>
            <a:pPr algn="l"/>
            <a:r>
              <a:rPr sz="1000" b="0" i="0">
                <a:solidFill>
                  <a:srgbClr val="595959"/>
                </a:solidFill>
                <a:latin typeface="Arial"/>
              </a:rPr>
              <a:t>HackHardware · Getting started with the ESP32</a:t>
            </a:r>
          </a:p>
        </p:txBody>
      </p:sp>
      <p:sp>
        <p:nvSpPr>
          <p:cNvPr id="3" name="TextBox 2"/>
          <p:cNvSpPr txBox="1"/>
          <p:nvPr/>
        </p:nvSpPr>
        <p:spPr>
          <a:xfrm>
            <a:off x="10134295" y="6400800"/>
            <a:ext cx="1371600" cy="274320"/>
          </a:xfrm>
          <a:prstGeom prst="rect">
            <a:avLst/>
          </a:prstGeom>
          <a:noFill/>
        </p:spPr>
        <p:txBody>
          <a:bodyPr wrap="square" anchor="t" lIns="0" rIns="0" tIns="18288" bIns="18288">
            <a:spAutoFit/>
          </a:bodyPr>
          <a:lstStyle/>
          <a:p>
            <a:pPr algn="r"/>
            <a:r>
              <a:rPr sz="1000" b="0" i="0">
                <a:solidFill>
                  <a:srgbClr val="595959"/>
                </a:solidFill>
                <a:latin typeface="Arial"/>
              </a:rPr>
              <a:t>26</a:t>
            </a:r>
          </a:p>
        </p:txBody>
      </p:sp>
      <p:sp>
        <p:nvSpPr>
          <p:cNvPr id="4" name="TextBox 3"/>
          <p:cNvSpPr txBox="1"/>
          <p:nvPr/>
        </p:nvSpPr>
        <p:spPr>
          <a:xfrm>
            <a:off x="685800" y="457200"/>
            <a:ext cx="10820095" cy="822960"/>
          </a:xfrm>
          <a:prstGeom prst="rect">
            <a:avLst/>
          </a:prstGeom>
          <a:noFill/>
        </p:spPr>
        <p:txBody>
          <a:bodyPr wrap="square" anchor="b" lIns="0" rIns="0" tIns="18288" bIns="18288">
            <a:spAutoFit/>
          </a:bodyPr>
          <a:lstStyle/>
          <a:p>
            <a:pPr algn="l"/>
            <a:r>
              <a:rPr sz="3000" b="1" i="0">
                <a:solidFill>
                  <a:srgbClr val="1A1A1A"/>
                </a:solidFill>
                <a:latin typeface="Arial"/>
              </a:rPr>
              <a:t>Extending the dashboard</a:t>
            </a:r>
          </a:p>
        </p:txBody>
      </p:sp>
      <p:cxnSp>
        <p:nvCxnSpPr>
          <p:cNvPr id="5" name="Connector 4"/>
          <p:cNvCxnSpPr/>
          <p:nvPr/>
        </p:nvCxnSpPr>
        <p:spPr>
          <a:xfrm>
            <a:off x="685800" y="1298448"/>
            <a:ext cx="10820095" cy="0"/>
          </a:xfrm>
          <a:prstGeom prst="line">
            <a:avLst/>
          </a:prstGeom>
          <a:ln w="9525">
            <a:solidFill>
              <a:srgbClr val="BFBFBF"/>
            </a:solidFill>
          </a:ln>
        </p:spPr>
      </p:cxnSp>
      <p:sp>
        <p:nvSpPr>
          <p:cNvPr id="6" name="TextBox 5"/>
          <p:cNvSpPr txBox="1"/>
          <p:nvPr/>
        </p:nvSpPr>
        <p:spPr>
          <a:xfrm>
            <a:off x="685800" y="1453896"/>
            <a:ext cx="5227167" cy="379476"/>
          </a:xfrm>
          <a:prstGeom prst="rect">
            <a:avLst/>
          </a:prstGeom>
          <a:noFill/>
        </p:spPr>
        <p:txBody>
          <a:bodyPr wrap="square" anchor="t" lIns="0" rIns="0" tIns="18288" bIns="18288">
            <a:spAutoFit/>
          </a:bodyPr>
          <a:lstStyle/>
          <a:p>
            <a:r>
              <a:rPr sz="1800" b="1" i="0">
                <a:solidFill>
                  <a:srgbClr val="1A1A1A"/>
                </a:solidFill>
                <a:latin typeface="Arial"/>
              </a:rPr>
              <a:t>Add a field to the JSON</a:t>
            </a:r>
          </a:p>
        </p:txBody>
      </p:sp>
      <p:sp>
        <p:nvSpPr>
          <p:cNvPr id="7" name="Rectangle 6"/>
          <p:cNvSpPr/>
          <p:nvPr/>
        </p:nvSpPr>
        <p:spPr>
          <a:xfrm>
            <a:off x="685800" y="1869948"/>
            <a:ext cx="5227167" cy="1173480"/>
          </a:xfrm>
          <a:prstGeom prst="rect">
            <a:avLst/>
          </a:prstGeom>
          <a:solidFill>
            <a:srgbClr val="F2F2F2"/>
          </a:solidFill>
          <a:ln>
            <a:noFill/>
          </a:ln>
          <a:effectLst/>
        </p:spPr>
        <p:txBody>
          <a:bodyPr rtlCol="0" anchor="ctr"/>
          <a:lstStyle/>
          <a:p>
            <a:pPr algn="ctr"/>
          </a:p>
        </p:txBody>
      </p:sp>
      <p:sp>
        <p:nvSpPr>
          <p:cNvPr id="8" name="TextBox 7"/>
          <p:cNvSpPr txBox="1"/>
          <p:nvPr/>
        </p:nvSpPr>
        <p:spPr>
          <a:xfrm>
            <a:off x="822960" y="1979676"/>
            <a:ext cx="4952847" cy="990599"/>
          </a:xfrm>
          <a:prstGeom prst="rect">
            <a:avLst/>
          </a:prstGeom>
          <a:noFill/>
        </p:spPr>
        <p:txBody>
          <a:bodyPr wrap="square" anchor="t" lIns="0" rIns="0" tIns="18288" bIns="18288">
            <a:spAutoFit/>
          </a:bodyPr>
          <a:lstStyle/>
          <a:p>
            <a:pPr>
              <a:spcAft>
                <a:spcPts val="0"/>
              </a:spcAft>
            </a:pPr>
            <a:r>
              <a:rPr sz="1425" b="0" i="0">
                <a:solidFill>
                  <a:srgbClr val="1A1A1A"/>
                </a:solidFill>
                <a:latin typeface="Courier New"/>
              </a:rPr>
              <a:t/>
            </a:r>
            <a:r>
              <a:rPr sz="1425" b="0" i="0">
                <a:solidFill>
                  <a:srgbClr val="595959"/>
                </a:solidFill>
                <a:latin typeface="Courier New"/>
              </a:rPr>
              <a:t>// handleStatus(), at the marked comment:</a:t>
            </a:r>
          </a:p>
          <a:p>
            <a:pPr>
              <a:spcAft>
                <a:spcPts val="0"/>
              </a:spcAft>
            </a:pPr>
            <a:r>
              <a:rPr sz="1425" b="0" i="0">
                <a:solidFill>
                  <a:srgbClr val="1A1A1A"/>
                </a:solidFill>
                <a:latin typeface="Courier New"/>
              </a:rPr>
              <a:t>j += ",\"heap_free\":"</a:t>
            </a:r>
          </a:p>
          <a:p>
            <a:pPr>
              <a:spcAft>
                <a:spcPts val="0"/>
              </a:spcAft>
            </a:pPr>
            <a:r>
              <a:rPr sz="1425" b="0" i="0">
                <a:solidFill>
                  <a:srgbClr val="1A1A1A"/>
                </a:solidFill>
                <a:latin typeface="Courier New"/>
              </a:rPr>
              <a:t>   + String(ESP.getFreeHeap());</a:t>
            </a:r>
          </a:p>
          <a:p>
            <a:pPr>
              <a:spcAft>
                <a:spcPts val="0"/>
              </a:spcAft>
            </a:pPr>
            <a:r>
              <a:rPr sz="1425" b="0" i="0">
                <a:solidFill>
                  <a:srgbClr val="1A1A1A"/>
                </a:solidFill>
                <a:latin typeface="Courier New"/>
              </a:rPr>
              <a:t>j += ",\"rssi\":" + String(WiFi.RSSI());</a:t>
            </a:r>
          </a:p>
        </p:txBody>
      </p:sp>
      <p:sp>
        <p:nvSpPr>
          <p:cNvPr id="9" name="TextBox 8"/>
          <p:cNvSpPr txBox="1"/>
          <p:nvPr/>
        </p:nvSpPr>
        <p:spPr>
          <a:xfrm>
            <a:off x="685800" y="3153156"/>
            <a:ext cx="5227167" cy="379476"/>
          </a:xfrm>
          <a:prstGeom prst="rect">
            <a:avLst/>
          </a:prstGeom>
          <a:noFill/>
        </p:spPr>
        <p:txBody>
          <a:bodyPr wrap="square" anchor="t" lIns="0" rIns="0" tIns="18288" bIns="18288">
            <a:spAutoFit/>
          </a:bodyPr>
          <a:lstStyle/>
          <a:p>
            <a:r>
              <a:rPr sz="1800" b="1" i="0">
                <a:solidFill>
                  <a:srgbClr val="1A1A1A"/>
                </a:solidFill>
                <a:latin typeface="Arial"/>
              </a:rPr>
              <a:t>Show it on the page (page.h)</a:t>
            </a:r>
          </a:p>
        </p:txBody>
      </p:sp>
      <p:sp>
        <p:nvSpPr>
          <p:cNvPr id="10" name="Rectangle 9"/>
          <p:cNvSpPr/>
          <p:nvPr/>
        </p:nvSpPr>
        <p:spPr>
          <a:xfrm>
            <a:off x="685800" y="3569208"/>
            <a:ext cx="5227167" cy="1623060"/>
          </a:xfrm>
          <a:prstGeom prst="rect">
            <a:avLst/>
          </a:prstGeom>
          <a:solidFill>
            <a:srgbClr val="F2F2F2"/>
          </a:solidFill>
          <a:ln>
            <a:noFill/>
          </a:ln>
          <a:effectLst/>
        </p:spPr>
        <p:txBody>
          <a:bodyPr rtlCol="0" anchor="ctr"/>
          <a:lstStyle/>
          <a:p>
            <a:pPr algn="ctr"/>
          </a:p>
        </p:txBody>
      </p:sp>
      <p:sp>
        <p:nvSpPr>
          <p:cNvPr id="11" name="TextBox 10"/>
          <p:cNvSpPr txBox="1"/>
          <p:nvPr/>
        </p:nvSpPr>
        <p:spPr>
          <a:xfrm>
            <a:off x="822960" y="3678936"/>
            <a:ext cx="4952847" cy="1440180"/>
          </a:xfrm>
          <a:prstGeom prst="rect">
            <a:avLst/>
          </a:prstGeom>
          <a:noFill/>
        </p:spPr>
        <p:txBody>
          <a:bodyPr wrap="square" anchor="t" lIns="0" rIns="0" tIns="18288" bIns="18288">
            <a:spAutoFit/>
          </a:bodyPr>
          <a:lstStyle/>
          <a:p>
            <a:pPr>
              <a:spcAft>
                <a:spcPts val="0"/>
              </a:spcAft>
            </a:pPr>
            <a:r>
              <a:rPr sz="1425" b="0" i="0">
                <a:solidFill>
                  <a:srgbClr val="1A1A1A"/>
                </a:solidFill>
                <a:latin typeface="Courier New"/>
              </a:rPr>
              <a:t>&lt;div&gt;Free heap:</a:t>
            </a:r>
          </a:p>
          <a:p>
            <a:pPr>
              <a:spcAft>
                <a:spcPts val="0"/>
              </a:spcAft>
            </a:pPr>
            <a:r>
              <a:rPr sz="1425" b="0" i="0">
                <a:solidFill>
                  <a:srgbClr val="1A1A1A"/>
                </a:solidFill>
                <a:latin typeface="Courier New"/>
              </a:rPr>
              <a:t>  &lt;span id="heap"&gt;–&lt;/span&gt; bytes&lt;/div&gt;</a:t>
            </a:r>
          </a:p>
          <a:p>
            <a:pPr>
              <a:spcAft>
                <a:spcPts val="0"/>
              </a:spcAft>
            </a:pPr>
            <a:r>
              <a:rPr sz="1425" b="0" i="0">
                <a:solidFill>
                  <a:srgbClr val="1A1A1A"/>
                </a:solidFill>
                <a:latin typeface="Courier New"/>
              </a:rPr>
              <a:t> </a:t>
            </a:r>
          </a:p>
          <a:p>
            <a:pPr>
              <a:spcAft>
                <a:spcPts val="0"/>
              </a:spcAft>
            </a:pPr>
            <a:r>
              <a:rPr sz="1425" b="0" i="0">
                <a:solidFill>
                  <a:srgbClr val="1A1A1A"/>
                </a:solidFill>
                <a:latin typeface="Courier New"/>
              </a:rPr>
              <a:t/>
            </a:r>
            <a:r>
              <a:rPr sz="1425" b="0" i="0">
                <a:solidFill>
                  <a:srgbClr val="595959"/>
                </a:solidFill>
                <a:latin typeface="Courier New"/>
              </a:rPr>
              <a:t>// in the setInterval callback:</a:t>
            </a:r>
          </a:p>
          <a:p>
            <a:pPr>
              <a:spcAft>
                <a:spcPts val="0"/>
              </a:spcAft>
            </a:pPr>
            <a:r>
              <a:rPr sz="1425" b="0" i="0">
                <a:solidFill>
                  <a:srgbClr val="1A1A1A"/>
                </a:solidFill>
                <a:latin typeface="Courier New"/>
              </a:rPr>
              <a:t>document.getElementById('heap')</a:t>
            </a:r>
          </a:p>
          <a:p>
            <a:pPr>
              <a:spcAft>
                <a:spcPts val="0"/>
              </a:spcAft>
            </a:pPr>
            <a:r>
              <a:rPr sz="1425" b="0" i="0">
                <a:solidFill>
                  <a:srgbClr val="1A1A1A"/>
                </a:solidFill>
                <a:latin typeface="Courier New"/>
              </a:rPr>
              <a:t>        .textContent = s.heap_free;</a:t>
            </a:r>
          </a:p>
        </p:txBody>
      </p:sp>
      <p:sp>
        <p:nvSpPr>
          <p:cNvPr id="12" name="TextBox 11"/>
          <p:cNvSpPr txBox="1"/>
          <p:nvPr/>
        </p:nvSpPr>
        <p:spPr>
          <a:xfrm>
            <a:off x="6278727" y="1453896"/>
            <a:ext cx="5227167" cy="379476"/>
          </a:xfrm>
          <a:prstGeom prst="rect">
            <a:avLst/>
          </a:prstGeom>
          <a:noFill/>
        </p:spPr>
        <p:txBody>
          <a:bodyPr wrap="square" anchor="t" lIns="0" rIns="0" tIns="18288" bIns="18288">
            <a:spAutoFit/>
          </a:bodyPr>
          <a:lstStyle/>
          <a:p>
            <a:r>
              <a:rPr sz="1800" b="1" i="0">
                <a:solidFill>
                  <a:srgbClr val="1A1A1A"/>
                </a:solidFill>
                <a:latin typeface="Arial"/>
              </a:rPr>
              <a:t>Add a command</a:t>
            </a:r>
          </a:p>
        </p:txBody>
      </p:sp>
      <p:sp>
        <p:nvSpPr>
          <p:cNvPr id="13" name="Rectangle 12"/>
          <p:cNvSpPr/>
          <p:nvPr/>
        </p:nvSpPr>
        <p:spPr>
          <a:xfrm>
            <a:off x="6278727" y="1869948"/>
            <a:ext cx="5227167" cy="2971799"/>
          </a:xfrm>
          <a:prstGeom prst="rect">
            <a:avLst/>
          </a:prstGeom>
          <a:solidFill>
            <a:srgbClr val="F2F2F2"/>
          </a:solidFill>
          <a:ln>
            <a:noFill/>
          </a:ln>
          <a:effectLst/>
        </p:spPr>
        <p:txBody>
          <a:bodyPr rtlCol="0" anchor="ctr"/>
          <a:lstStyle/>
          <a:p>
            <a:pPr algn="ctr"/>
          </a:p>
        </p:txBody>
      </p:sp>
      <p:sp>
        <p:nvSpPr>
          <p:cNvPr id="14" name="TextBox 13"/>
          <p:cNvSpPr txBox="1"/>
          <p:nvPr/>
        </p:nvSpPr>
        <p:spPr>
          <a:xfrm>
            <a:off x="6415887" y="1979676"/>
            <a:ext cx="4952847" cy="2788919"/>
          </a:xfrm>
          <a:prstGeom prst="rect">
            <a:avLst/>
          </a:prstGeom>
          <a:noFill/>
        </p:spPr>
        <p:txBody>
          <a:bodyPr wrap="square" anchor="t" lIns="0" rIns="0" tIns="18288" bIns="18288">
            <a:spAutoFit/>
          </a:bodyPr>
          <a:lstStyle/>
          <a:p>
            <a:pPr>
              <a:spcAft>
                <a:spcPts val="0"/>
              </a:spcAft>
            </a:pPr>
            <a:r>
              <a:rPr sz="1425" b="0" i="0">
                <a:solidFill>
                  <a:srgbClr val="1A1A1A"/>
                </a:solidFill>
                <a:latin typeface="Courier New"/>
              </a:rPr>
              <a:t>int blinksLeft = 0;</a:t>
            </a:r>
          </a:p>
          <a:p>
            <a:pPr>
              <a:spcAft>
                <a:spcPts val="0"/>
              </a:spcAft>
            </a:pPr>
            <a:r>
              <a:rPr sz="1425" b="0" i="0">
                <a:solidFill>
                  <a:srgbClr val="1A1A1A"/>
                </a:solidFill>
                <a:latin typeface="Courier New"/>
              </a:rPr>
              <a:t> </a:t>
            </a:r>
          </a:p>
          <a:p>
            <a:pPr>
              <a:spcAft>
                <a:spcPts val="0"/>
              </a:spcAft>
            </a:pPr>
            <a:r>
              <a:rPr sz="1425" b="0" i="0">
                <a:solidFill>
                  <a:srgbClr val="1A1A1A"/>
                </a:solidFill>
                <a:latin typeface="Courier New"/>
              </a:rPr>
              <a:t/>
            </a:r>
            <a:r>
              <a:rPr sz="1425" b="0" i="0">
                <a:solidFill>
                  <a:srgbClr val="595959"/>
                </a:solidFill>
                <a:latin typeface="Courier New"/>
              </a:rPr>
              <a:t>// GET /api/blink?n=3</a:t>
            </a:r>
          </a:p>
          <a:p>
            <a:pPr>
              <a:spcAft>
                <a:spcPts val="0"/>
              </a:spcAft>
            </a:pPr>
            <a:r>
              <a:rPr sz="1425" b="0" i="0">
                <a:solidFill>
                  <a:srgbClr val="1A1A1A"/>
                </a:solidFill>
                <a:latin typeface="Courier New"/>
              </a:rPr>
              <a:t>void handleBlink() {</a:t>
            </a:r>
          </a:p>
          <a:p>
            <a:pPr>
              <a:spcAft>
                <a:spcPts val="0"/>
              </a:spcAft>
            </a:pPr>
            <a:r>
              <a:rPr sz="1425" b="0" i="0">
                <a:solidFill>
                  <a:srgbClr val="1A1A1A"/>
                </a:solidFill>
                <a:latin typeface="Courier New"/>
              </a:rPr>
              <a:t>  blinksLeft = server.arg("n").toInt();</a:t>
            </a:r>
          </a:p>
          <a:p>
            <a:pPr>
              <a:spcAft>
                <a:spcPts val="0"/>
              </a:spcAft>
            </a:pPr>
            <a:r>
              <a:rPr sz="1425" b="0" i="0">
                <a:solidFill>
                  <a:srgbClr val="1A1A1A"/>
                </a:solidFill>
                <a:latin typeface="Courier New"/>
              </a:rPr>
              <a:t>  server.send(200, "application/json",</a:t>
            </a:r>
          </a:p>
          <a:p>
            <a:pPr>
              <a:spcAft>
                <a:spcPts val="0"/>
              </a:spcAft>
            </a:pPr>
            <a:r>
              <a:rPr sz="1425" b="0" i="0">
                <a:solidFill>
                  <a:srgbClr val="1A1A1A"/>
                </a:solidFill>
                <a:latin typeface="Courier New"/>
              </a:rPr>
              <a:t>              "{\"ok\":true}");</a:t>
            </a:r>
          </a:p>
          <a:p>
            <a:pPr>
              <a:spcAft>
                <a:spcPts val="0"/>
              </a:spcAft>
            </a:pPr>
            <a:r>
              <a:rPr sz="1425" b="0" i="0">
                <a:solidFill>
                  <a:srgbClr val="1A1A1A"/>
                </a:solidFill>
                <a:latin typeface="Courier New"/>
              </a:rPr>
              <a:t>}</a:t>
            </a:r>
          </a:p>
          <a:p>
            <a:pPr>
              <a:spcAft>
                <a:spcPts val="0"/>
              </a:spcAft>
            </a:pPr>
            <a:r>
              <a:rPr sz="1425" b="0" i="0">
                <a:solidFill>
                  <a:srgbClr val="1A1A1A"/>
                </a:solidFill>
                <a:latin typeface="Courier New"/>
              </a:rPr>
              <a:t/>
            </a:r>
            <a:r>
              <a:rPr sz="1425" b="0" i="0">
                <a:solidFill>
                  <a:srgbClr val="595959"/>
                </a:solidFill>
                <a:latin typeface="Courier New"/>
              </a:rPr>
              <a:t>// in setup():</a:t>
            </a:r>
          </a:p>
          <a:p>
            <a:pPr>
              <a:spcAft>
                <a:spcPts val="0"/>
              </a:spcAft>
            </a:pPr>
            <a:r>
              <a:rPr sz="1425" b="0" i="0">
                <a:solidFill>
                  <a:srgbClr val="1A1A1A"/>
                </a:solidFill>
                <a:latin typeface="Courier New"/>
              </a:rPr>
              <a:t/>
            </a:r>
            <a:r>
              <a:rPr sz="1425" b="0" i="0">
                <a:solidFill>
                  <a:srgbClr val="595959"/>
                </a:solidFill>
                <a:latin typeface="Courier New"/>
              </a:rPr>
              <a:t>//   server.on("/api/blink", handleBlink);</a:t>
            </a:r>
          </a:p>
          <a:p>
            <a:pPr>
              <a:spcAft>
                <a:spcPts val="0"/>
              </a:spcAft>
            </a:pPr>
            <a:r>
              <a:rPr sz="1425" b="0" i="0">
                <a:solidFill>
                  <a:srgbClr val="1A1A1A"/>
                </a:solidFill>
                <a:latin typeface="Courier New"/>
              </a:rPr>
              <a:t/>
            </a:r>
            <a:r>
              <a:rPr sz="1425" b="0" i="0">
                <a:solidFill>
                  <a:srgbClr val="595959"/>
                </a:solidFill>
                <a:latin typeface="Courier New"/>
              </a:rPr>
              <a:t>// in loop():</a:t>
            </a:r>
          </a:p>
          <a:p>
            <a:pPr>
              <a:spcAft>
                <a:spcPts val="0"/>
              </a:spcAft>
            </a:pPr>
            <a:r>
              <a:rPr sz="1425" b="0" i="0">
                <a:solidFill>
                  <a:srgbClr val="1A1A1A"/>
                </a:solidFill>
                <a:latin typeface="Courier New"/>
              </a:rPr>
              <a:t/>
            </a:r>
            <a:r>
              <a:rPr sz="1425" b="0" i="0">
                <a:solidFill>
                  <a:srgbClr val="595959"/>
                </a:solidFill>
                <a:latin typeface="Courier New"/>
              </a:rPr>
              <a:t>//   if (blinksLeft &gt; 0) blinkWithMillis();</a:t>
            </a:r>
          </a:p>
        </p:txBody>
      </p:sp>
      <p:sp>
        <p:nvSpPr>
          <p:cNvPr id="15" name="TextBox 14"/>
          <p:cNvSpPr txBox="1"/>
          <p:nvPr/>
        </p:nvSpPr>
        <p:spPr>
          <a:xfrm>
            <a:off x="6278727" y="4914900"/>
            <a:ext cx="5227167" cy="1110488"/>
          </a:xfrm>
          <a:prstGeom prst="rect">
            <a:avLst/>
          </a:prstGeom>
          <a:noFill/>
        </p:spPr>
        <p:txBody>
          <a:bodyPr wrap="square" anchor="t" lIns="0" rIns="0" tIns="18288" bIns="18288">
            <a:spAutoFit/>
          </a:bodyPr>
          <a:lstStyle/>
          <a:p>
            <a:r>
              <a:rPr sz="1700" b="0" i="0">
                <a:solidFill>
                  <a:srgbClr val="595959"/>
                </a:solidFill>
                <a:latin typeface="Arial"/>
              </a:rPr>
              <a:t>Handlers must return immediately. Set a variable; let </a:t>
            </a:r>
            <a:r>
              <a:rPr sz="1614" b="0" i="0">
                <a:solidFill>
                  <a:srgbClr val="595959"/>
                </a:solidFill>
                <a:latin typeface="Courier New"/>
              </a:rPr>
              <a:t>loop()</a:t>
            </a:r>
            <a:r>
              <a:rPr sz="1700" b="0" i="0">
                <a:solidFill>
                  <a:srgbClr val="595959"/>
                </a:solidFill>
                <a:latin typeface="Arial"/>
              </a:rPr>
              <a:t> do the slow thing. Test a new route by typing its URL in the browser before wiring up a button.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0"/>
            <a:ext cx="7315200" cy="274320"/>
          </a:xfrm>
          <a:prstGeom prst="rect">
            <a:avLst/>
          </a:prstGeom>
          <a:noFill/>
        </p:spPr>
        <p:txBody>
          <a:bodyPr wrap="square" anchor="t" lIns="0" rIns="0" tIns="18288" bIns="18288">
            <a:spAutoFit/>
          </a:bodyPr>
          <a:lstStyle/>
          <a:p>
            <a:pPr algn="l"/>
            <a:r>
              <a:rPr sz="1000" b="0" i="0">
                <a:solidFill>
                  <a:srgbClr val="595959"/>
                </a:solidFill>
                <a:latin typeface="Arial"/>
              </a:rPr>
              <a:t>HackHardware · Getting started with the ESP32</a:t>
            </a:r>
          </a:p>
        </p:txBody>
      </p:sp>
      <p:sp>
        <p:nvSpPr>
          <p:cNvPr id="3" name="TextBox 2"/>
          <p:cNvSpPr txBox="1"/>
          <p:nvPr/>
        </p:nvSpPr>
        <p:spPr>
          <a:xfrm>
            <a:off x="10134295" y="6400800"/>
            <a:ext cx="1371600" cy="274320"/>
          </a:xfrm>
          <a:prstGeom prst="rect">
            <a:avLst/>
          </a:prstGeom>
          <a:noFill/>
        </p:spPr>
        <p:txBody>
          <a:bodyPr wrap="square" anchor="t" lIns="0" rIns="0" tIns="18288" bIns="18288">
            <a:spAutoFit/>
          </a:bodyPr>
          <a:lstStyle/>
          <a:p>
            <a:pPr algn="r"/>
            <a:r>
              <a:rPr sz="1000" b="0" i="0">
                <a:solidFill>
                  <a:srgbClr val="595959"/>
                </a:solidFill>
                <a:latin typeface="Arial"/>
              </a:rPr>
              <a:t>27</a:t>
            </a:r>
          </a:p>
        </p:txBody>
      </p:sp>
      <p:sp>
        <p:nvSpPr>
          <p:cNvPr id="4" name="TextBox 3"/>
          <p:cNvSpPr txBox="1"/>
          <p:nvPr/>
        </p:nvSpPr>
        <p:spPr>
          <a:xfrm>
            <a:off x="685800" y="457200"/>
            <a:ext cx="10820095" cy="822960"/>
          </a:xfrm>
          <a:prstGeom prst="rect">
            <a:avLst/>
          </a:prstGeom>
          <a:noFill/>
        </p:spPr>
        <p:txBody>
          <a:bodyPr wrap="square" anchor="b" lIns="0" rIns="0" tIns="18288" bIns="18288">
            <a:spAutoFit/>
          </a:bodyPr>
          <a:lstStyle/>
          <a:p>
            <a:pPr algn="l"/>
            <a:r>
              <a:rPr sz="3000" b="1" i="0">
                <a:solidFill>
                  <a:srgbClr val="1A1A1A"/>
                </a:solidFill>
                <a:latin typeface="Arial"/>
              </a:rPr>
              <a:t>Task 5: Messages between boards (optional)</a:t>
            </a:r>
          </a:p>
        </p:txBody>
      </p:sp>
      <p:cxnSp>
        <p:nvCxnSpPr>
          <p:cNvPr id="5" name="Connector 4"/>
          <p:cNvCxnSpPr/>
          <p:nvPr/>
        </p:nvCxnSpPr>
        <p:spPr>
          <a:xfrm>
            <a:off x="685800" y="1298448"/>
            <a:ext cx="10820095" cy="0"/>
          </a:xfrm>
          <a:prstGeom prst="line">
            <a:avLst/>
          </a:prstGeom>
          <a:ln w="9525">
            <a:solidFill>
              <a:srgbClr val="BFBFBF"/>
            </a:solidFill>
          </a:ln>
        </p:spPr>
      </p:cxnSp>
      <p:sp>
        <p:nvSpPr>
          <p:cNvPr id="6" name="TextBox 5"/>
          <p:cNvSpPr txBox="1"/>
          <p:nvPr/>
        </p:nvSpPr>
        <p:spPr>
          <a:xfrm>
            <a:off x="685800" y="1453896"/>
            <a:ext cx="10820095" cy="349503"/>
          </a:xfrm>
          <a:prstGeom prst="rect">
            <a:avLst/>
          </a:prstGeom>
          <a:noFill/>
        </p:spPr>
        <p:txBody>
          <a:bodyPr wrap="square" anchor="t" lIns="0" rIns="0" tIns="18288" bIns="18288">
            <a:spAutoFit/>
          </a:bodyPr>
          <a:lstStyle/>
          <a:p>
            <a:r>
              <a:rPr sz="1600" b="1" i="0">
                <a:solidFill>
                  <a:srgbClr val="1A1A1A"/>
                </a:solidFill>
                <a:latin typeface="Arial"/>
              </a:rPr>
              <a:t>Do this</a:t>
            </a:r>
          </a:p>
        </p:txBody>
      </p:sp>
      <p:sp>
        <p:nvSpPr>
          <p:cNvPr id="7" name="TextBox 6"/>
          <p:cNvSpPr txBox="1"/>
          <p:nvPr/>
        </p:nvSpPr>
        <p:spPr>
          <a:xfrm>
            <a:off x="685800" y="1858264"/>
            <a:ext cx="10820095" cy="1940052"/>
          </a:xfrm>
          <a:prstGeom prst="rect">
            <a:avLst/>
          </a:prstGeom>
          <a:noFill/>
        </p:spPr>
        <p:txBody>
          <a:bodyPr wrap="square" anchor="t" lIns="0" rIns="0" tIns="18288" bIns="18288">
            <a:spAutoFit/>
          </a:bodyPr>
          <a:lstStyle/>
          <a:p>
            <a:pPr>
              <a:spcAft>
                <a:spcPts val="600"/>
              </a:spcAft>
            </a:pPr>
            <a:r>
              <a:rPr sz="1700" b="0" i="0">
                <a:solidFill>
                  <a:srgbClr val="595959"/>
                </a:solidFill>
                <a:latin typeface="Arial"/>
              </a:rPr>
              <a:t>1.  </a:t>
            </a:r>
            <a:r>
              <a:rPr sz="1700" b="0" i="0">
                <a:solidFill>
                  <a:srgbClr val="1A1A1A"/>
                </a:solidFill>
                <a:latin typeface="Arial"/>
              </a:rPr>
              <a:t>Open </a:t>
            </a:r>
            <a:r>
              <a:rPr sz="1614" b="0" i="0">
                <a:solidFill>
                  <a:srgbClr val="1A1A1A"/>
                </a:solidFill>
                <a:latin typeface="Courier New"/>
              </a:rPr>
              <a:t>tasks/05_esp_now/05_esp_now.ino</a:t>
            </a:r>
            <a:r>
              <a:rPr sz="1700" b="0" i="0">
                <a:solidFill>
                  <a:srgbClr val="1A1A1A"/>
                </a:solidFill>
                <a:latin typeface="Arial"/>
              </a:rPr>
              <a:t> (same </a:t>
            </a:r>
            <a:r>
              <a:rPr sz="1614" b="0" i="0">
                <a:solidFill>
                  <a:srgbClr val="1A1A1A"/>
                </a:solidFill>
                <a:latin typeface="Courier New"/>
              </a:rPr>
              <a:t>BOARD_NAME</a:t>
            </a:r>
            <a:r>
              <a:rPr sz="1700" b="0" i="0">
                <a:solidFill>
                  <a:srgbClr val="1A1A1A"/>
                </a:solidFill>
                <a:latin typeface="Arial"/>
              </a:rPr>
              <a:t> as before), </a:t>
            </a:r>
            <a:r>
              <a:rPr sz="1700" b="1" i="0">
                <a:solidFill>
                  <a:srgbClr val="1A1A1A"/>
                </a:solidFill>
                <a:latin typeface="Arial"/>
              </a:rPr>
              <a:t>Upload</a:t>
            </a:r>
            <a:r>
              <a:rPr sz="1700" b="0" i="0">
                <a:solidFill>
                  <a:srgbClr val="1A1A1A"/>
                </a:solidFill>
                <a:latin typeface="Arial"/>
              </a:rPr>
              <a:t>.</a:t>
            </a:r>
          </a:p>
          <a:p>
            <a:pPr>
              <a:spcAft>
                <a:spcPts val="600"/>
              </a:spcAft>
            </a:pPr>
            <a:r>
              <a:rPr sz="1700" b="0" i="0">
                <a:solidFill>
                  <a:srgbClr val="595959"/>
                </a:solidFill>
                <a:latin typeface="Arial"/>
              </a:rPr>
              <a:t>2.  </a:t>
            </a:r>
            <a:r>
              <a:rPr sz="1700" b="0" i="0">
                <a:solidFill>
                  <a:srgbClr val="1A1A1A"/>
                </a:solidFill>
                <a:latin typeface="Arial"/>
              </a:rPr>
              <a:t>Serial prints your board's MAC address and, every 2 s, a table of other boards it can hear: name, age, temperature, LED state.</a:t>
            </a:r>
          </a:p>
          <a:p>
            <a:pPr>
              <a:spcAft>
                <a:spcPts val="600"/>
              </a:spcAft>
            </a:pPr>
            <a:r>
              <a:rPr sz="1700" b="0" i="0">
                <a:solidFill>
                  <a:srgbClr val="595959"/>
                </a:solidFill>
                <a:latin typeface="Arial"/>
              </a:rPr>
              <a:t>3.  </a:t>
            </a:r>
            <a:r>
              <a:rPr sz="1700" b="0" i="0">
                <a:solidFill>
                  <a:srgbClr val="1A1A1A"/>
                </a:solidFill>
                <a:latin typeface="Arial"/>
              </a:rPr>
              <a:t>Reload </a:t>
            </a:r>
            <a:r>
              <a:rPr sz="1700" b="1" i="0">
                <a:solidFill>
                  <a:srgbClr val="1A1A1A"/>
                </a:solidFill>
                <a:latin typeface="Arial"/>
              </a:rPr>
              <a:t>http://192.168.4.1</a:t>
            </a:r>
            <a:r>
              <a:rPr sz="1700" b="0" i="0">
                <a:solidFill>
                  <a:srgbClr val="1A1A1A"/>
                </a:solidFill>
                <a:latin typeface="Arial"/>
              </a:rPr>
              <a:t>. A new section, </a:t>
            </a:r>
            <a:r>
              <a:rPr sz="1700" b="1" i="0">
                <a:solidFill>
                  <a:srgbClr val="1A1A1A"/>
                </a:solidFill>
                <a:latin typeface="Arial"/>
              </a:rPr>
              <a:t>Boards nearby</a:t>
            </a:r>
            <a:r>
              <a:rPr sz="1700" b="0" i="0">
                <a:solidFill>
                  <a:srgbClr val="1A1A1A"/>
                </a:solidFill>
                <a:latin typeface="Arial"/>
              </a:rPr>
              <a:t>, lists the same table.</a:t>
            </a:r>
          </a:p>
          <a:p>
            <a:pPr>
              <a:spcAft>
                <a:spcPts val="600"/>
              </a:spcAft>
            </a:pPr>
            <a:r>
              <a:rPr sz="1700" b="0" i="0">
                <a:solidFill>
                  <a:srgbClr val="595959"/>
                </a:solidFill>
                <a:latin typeface="Arial"/>
              </a:rPr>
              <a:t>4.  </a:t>
            </a:r>
            <a:r>
              <a:rPr sz="1700" b="0" i="0">
                <a:solidFill>
                  <a:srgbClr val="1A1A1A"/>
                </a:solidFill>
                <a:latin typeface="Arial"/>
              </a:rPr>
              <a:t>Walk to another table. Watch boards appear and drop off after 10 s without a packet.</a:t>
            </a:r>
          </a:p>
          <a:p>
            <a:pPr>
              <a:spcAft>
                <a:spcPts val="600"/>
              </a:spcAft>
            </a:pPr>
            <a:r>
              <a:rPr sz="1700" b="0" i="0">
                <a:solidFill>
                  <a:srgbClr val="595959"/>
                </a:solidFill>
                <a:latin typeface="Arial"/>
              </a:rPr>
              <a:t>5.  </a:t>
            </a:r>
            <a:r>
              <a:rPr sz="1700" b="0" i="0">
                <a:solidFill>
                  <a:srgbClr val="1A1A1A"/>
                </a:solidFill>
                <a:latin typeface="Arial"/>
              </a:rPr>
              <a:t>Look at </a:t>
            </a:r>
            <a:r>
              <a:rPr sz="1614" b="0" i="0">
                <a:solidFill>
                  <a:srgbClr val="1A1A1A"/>
                </a:solidFill>
                <a:latin typeface="Courier New"/>
              </a:rPr>
              <a:t>struct Message</a:t>
            </a:r>
            <a:r>
              <a:rPr sz="1700" b="0" i="0">
                <a:solidFill>
                  <a:srgbClr val="1A1A1A"/>
                </a:solidFill>
                <a:latin typeface="Arial"/>
              </a:rPr>
              <a:t> in the sketch: 24 bytes. That is the whole packet payload.</a:t>
            </a:r>
          </a:p>
        </p:txBody>
      </p:sp>
      <p:sp>
        <p:nvSpPr>
          <p:cNvPr id="8" name="TextBox 7"/>
          <p:cNvSpPr txBox="1"/>
          <p:nvPr/>
        </p:nvSpPr>
        <p:spPr>
          <a:xfrm>
            <a:off x="685800" y="4026916"/>
            <a:ext cx="10820095" cy="346202"/>
          </a:xfrm>
          <a:prstGeom prst="rect">
            <a:avLst/>
          </a:prstGeom>
          <a:noFill/>
        </p:spPr>
        <p:txBody>
          <a:bodyPr wrap="square" anchor="t" lIns="0" rIns="0" tIns="18288" bIns="18288">
            <a:spAutoFit/>
          </a:bodyPr>
          <a:lstStyle/>
          <a:p>
            <a:r>
              <a:rPr sz="1700" b="1" i="0">
                <a:solidFill>
                  <a:srgbClr val="1A1A1A"/>
                </a:solidFill>
                <a:latin typeface="Arial"/>
              </a:rPr>
              <a:t>Check:</a:t>
            </a:r>
            <a:r>
              <a:rPr sz="1700" b="0" i="0">
                <a:solidFill>
                  <a:srgbClr val="1A1A1A"/>
                </a:solidFill>
                <a:latin typeface="Arial"/>
              </a:rPr>
              <a:t> another board's name appears in your list.</a:t>
            </a:r>
          </a:p>
        </p:txBody>
      </p:sp>
      <p:sp>
        <p:nvSpPr>
          <p:cNvPr id="9" name="TextBox 8"/>
          <p:cNvSpPr txBox="1"/>
          <p:nvPr/>
        </p:nvSpPr>
        <p:spPr>
          <a:xfrm>
            <a:off x="685800" y="4574286"/>
            <a:ext cx="10820095" cy="541020"/>
          </a:xfrm>
          <a:prstGeom prst="rect">
            <a:avLst/>
          </a:prstGeom>
          <a:noFill/>
        </p:spPr>
        <p:txBody>
          <a:bodyPr wrap="square" anchor="t" lIns="0" rIns="0" tIns="18288" bIns="18288">
            <a:spAutoFit/>
          </a:bodyPr>
          <a:lstStyle/>
          <a:p>
            <a:r>
              <a:rPr sz="1500" b="0" i="0">
                <a:solidFill>
                  <a:srgbClr val="595959"/>
                </a:solidFill>
                <a:latin typeface="Arial"/>
              </a:rPr>
              <a:t>If you finish early: send a command instead of a status: press BOOT on your board and make a neighbour's LED toggle; add the sender's RSSI (</a:t>
            </a:r>
            <a:r>
              <a:rPr sz="1425" b="0" i="0">
                <a:solidFill>
                  <a:srgbClr val="595959"/>
                </a:solidFill>
                <a:latin typeface="Courier New"/>
              </a:rPr>
              <a:t>info-&gt;rx_ctrl-&gt;rssi</a:t>
            </a:r>
            <a:r>
              <a:rPr sz="1500" b="0" i="0">
                <a:solidFill>
                  <a:srgbClr val="595959"/>
                </a:solidFill>
                <a:latin typeface="Arial"/>
              </a:rPr>
              <a:t>) to the table.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0"/>
            <a:ext cx="7315200" cy="274320"/>
          </a:xfrm>
          <a:prstGeom prst="rect">
            <a:avLst/>
          </a:prstGeom>
          <a:noFill/>
        </p:spPr>
        <p:txBody>
          <a:bodyPr wrap="square" anchor="t" lIns="0" rIns="0" tIns="18288" bIns="18288">
            <a:spAutoFit/>
          </a:bodyPr>
          <a:lstStyle/>
          <a:p>
            <a:pPr algn="l"/>
            <a:r>
              <a:rPr sz="1000" b="0" i="0">
                <a:solidFill>
                  <a:srgbClr val="595959"/>
                </a:solidFill>
                <a:latin typeface="Arial"/>
              </a:rPr>
              <a:t>HackHardware · Getting started with the ESP32</a:t>
            </a:r>
          </a:p>
        </p:txBody>
      </p:sp>
      <p:sp>
        <p:nvSpPr>
          <p:cNvPr id="3" name="TextBox 2"/>
          <p:cNvSpPr txBox="1"/>
          <p:nvPr/>
        </p:nvSpPr>
        <p:spPr>
          <a:xfrm>
            <a:off x="10134295" y="6400800"/>
            <a:ext cx="1371600" cy="274320"/>
          </a:xfrm>
          <a:prstGeom prst="rect">
            <a:avLst/>
          </a:prstGeom>
          <a:noFill/>
        </p:spPr>
        <p:txBody>
          <a:bodyPr wrap="square" anchor="t" lIns="0" rIns="0" tIns="18288" bIns="18288">
            <a:spAutoFit/>
          </a:bodyPr>
          <a:lstStyle/>
          <a:p>
            <a:pPr algn="r"/>
            <a:r>
              <a:rPr sz="1000" b="0" i="0">
                <a:solidFill>
                  <a:srgbClr val="595959"/>
                </a:solidFill>
                <a:latin typeface="Arial"/>
              </a:rPr>
              <a:t>28</a:t>
            </a:r>
          </a:p>
        </p:txBody>
      </p:sp>
      <p:sp>
        <p:nvSpPr>
          <p:cNvPr id="4" name="TextBox 3"/>
          <p:cNvSpPr txBox="1"/>
          <p:nvPr/>
        </p:nvSpPr>
        <p:spPr>
          <a:xfrm>
            <a:off x="685800" y="457200"/>
            <a:ext cx="10820095" cy="822960"/>
          </a:xfrm>
          <a:prstGeom prst="rect">
            <a:avLst/>
          </a:prstGeom>
          <a:noFill/>
        </p:spPr>
        <p:txBody>
          <a:bodyPr wrap="square" anchor="b" lIns="0" rIns="0" tIns="18288" bIns="18288">
            <a:spAutoFit/>
          </a:bodyPr>
          <a:lstStyle/>
          <a:p>
            <a:pPr algn="l"/>
            <a:r>
              <a:rPr sz="3000" b="1" i="0">
                <a:solidFill>
                  <a:srgbClr val="1A1A1A"/>
                </a:solidFill>
                <a:latin typeface="Arial"/>
              </a:rPr>
              <a:t>ESP-NOW: what is on the air</a:t>
            </a:r>
          </a:p>
        </p:txBody>
      </p:sp>
      <p:cxnSp>
        <p:nvCxnSpPr>
          <p:cNvPr id="5" name="Connector 4"/>
          <p:cNvCxnSpPr/>
          <p:nvPr/>
        </p:nvCxnSpPr>
        <p:spPr>
          <a:xfrm>
            <a:off x="685800" y="1298448"/>
            <a:ext cx="10820095" cy="0"/>
          </a:xfrm>
          <a:prstGeom prst="line">
            <a:avLst/>
          </a:prstGeom>
          <a:ln w="9525">
            <a:solidFill>
              <a:srgbClr val="BFBFBF"/>
            </a:solidFill>
          </a:ln>
        </p:spPr>
      </p:cxnSp>
      <p:sp>
        <p:nvSpPr>
          <p:cNvPr id="6" name="Rectangle 5"/>
          <p:cNvSpPr/>
          <p:nvPr/>
        </p:nvSpPr>
        <p:spPr>
          <a:xfrm>
            <a:off x="685800" y="1463040"/>
            <a:ext cx="1865533" cy="640080"/>
          </a:xfrm>
          <a:prstGeom prst="rect">
            <a:avLst/>
          </a:prstGeom>
          <a:solidFill>
            <a:srgbClr val="F2F2F2"/>
          </a:solidFill>
          <a:ln w="9525">
            <a:solidFill>
              <a:srgbClr val="1A1A1A"/>
            </a:solidFill>
          </a:ln>
          <a:effectLst/>
        </p:spPr>
        <p:txBody>
          <a:bodyPr rtlCol="0" anchor="ctr" wrap="square" lIns="45720" rIns="45720" tIns="18288" bIns="18288"/>
          <a:lstStyle/>
          <a:p>
            <a:pPr algn="ctr"/>
            <a:r>
              <a:rPr sz="800" b="0" i="0">
                <a:solidFill>
                  <a:srgbClr val="1A1A1A"/>
                </a:solidFill>
                <a:latin typeface="Arial"/>
              </a:rPr>
              <a:t>802.11 MAC header</a:t>
            </a:r>
          </a:p>
          <a:p>
            <a:pPr algn="ctr"/>
            <a:r>
              <a:rPr sz="800" b="0" i="0">
                <a:solidFill>
                  <a:srgbClr val="1A1A1A"/>
                </a:solidFill>
                <a:latin typeface="Arial"/>
              </a:rPr>
              <a:t>24 B</a:t>
            </a:r>
          </a:p>
        </p:txBody>
      </p:sp>
      <p:sp>
        <p:nvSpPr>
          <p:cNvPr id="7" name="Rectangle 6"/>
          <p:cNvSpPr/>
          <p:nvPr/>
        </p:nvSpPr>
        <p:spPr>
          <a:xfrm>
            <a:off x="2551333" y="1463040"/>
            <a:ext cx="1212596" cy="640080"/>
          </a:xfrm>
          <a:prstGeom prst="rect">
            <a:avLst/>
          </a:prstGeom>
          <a:solidFill>
            <a:srgbClr val="F2F2F2"/>
          </a:solidFill>
          <a:ln w="9525">
            <a:solidFill>
              <a:srgbClr val="1A1A1A"/>
            </a:solidFill>
          </a:ln>
          <a:effectLst/>
        </p:spPr>
        <p:txBody>
          <a:bodyPr rtlCol="0" anchor="ctr" wrap="square" lIns="45720" rIns="45720" tIns="18288" bIns="18288"/>
          <a:lstStyle/>
          <a:p>
            <a:pPr algn="ctr"/>
            <a:r>
              <a:rPr sz="800" b="0" i="0">
                <a:solidFill>
                  <a:srgbClr val="1A1A1A"/>
                </a:solidFill>
                <a:latin typeface="Arial"/>
              </a:rPr>
              <a:t>Category</a:t>
            </a:r>
          </a:p>
          <a:p>
            <a:pPr algn="ctr"/>
            <a:r>
              <a:rPr sz="800" b="0" i="0">
                <a:solidFill>
                  <a:srgbClr val="1A1A1A"/>
                </a:solidFill>
                <a:latin typeface="Arial"/>
              </a:rPr>
              <a:t>1 B (127 = vendor)</a:t>
            </a:r>
          </a:p>
        </p:txBody>
      </p:sp>
      <p:sp>
        <p:nvSpPr>
          <p:cNvPr id="8" name="Rectangle 7"/>
          <p:cNvSpPr/>
          <p:nvPr/>
        </p:nvSpPr>
        <p:spPr>
          <a:xfrm>
            <a:off x="3763930" y="1463040"/>
            <a:ext cx="839490" cy="640080"/>
          </a:xfrm>
          <a:prstGeom prst="rect">
            <a:avLst/>
          </a:prstGeom>
          <a:solidFill>
            <a:srgbClr val="F2F2F2"/>
          </a:solidFill>
          <a:ln w="9525">
            <a:solidFill>
              <a:srgbClr val="1A1A1A"/>
            </a:solidFill>
          </a:ln>
          <a:effectLst/>
        </p:spPr>
        <p:txBody>
          <a:bodyPr rtlCol="0" anchor="ctr" wrap="square" lIns="45720" rIns="45720" tIns="18288" bIns="18288"/>
          <a:lstStyle/>
          <a:p>
            <a:pPr algn="ctr"/>
            <a:r>
              <a:rPr sz="800" b="0" i="0">
                <a:solidFill>
                  <a:srgbClr val="1A1A1A"/>
                </a:solidFill>
                <a:latin typeface="Arial"/>
              </a:rPr>
              <a:t>Org. ID</a:t>
            </a:r>
          </a:p>
          <a:p>
            <a:pPr algn="ctr"/>
            <a:r>
              <a:rPr sz="800" b="0" i="0">
                <a:solidFill>
                  <a:srgbClr val="1A1A1A"/>
                </a:solidFill>
                <a:latin typeface="Arial"/>
              </a:rPr>
              <a:t>3 B</a:t>
            </a:r>
          </a:p>
        </p:txBody>
      </p:sp>
      <p:sp>
        <p:nvSpPr>
          <p:cNvPr id="9" name="Rectangle 8"/>
          <p:cNvSpPr/>
          <p:nvPr/>
        </p:nvSpPr>
        <p:spPr>
          <a:xfrm>
            <a:off x="4603420" y="1463040"/>
            <a:ext cx="839490" cy="640080"/>
          </a:xfrm>
          <a:prstGeom prst="rect">
            <a:avLst/>
          </a:prstGeom>
          <a:solidFill>
            <a:srgbClr val="F2F2F2"/>
          </a:solidFill>
          <a:ln w="9525">
            <a:solidFill>
              <a:srgbClr val="1A1A1A"/>
            </a:solidFill>
          </a:ln>
          <a:effectLst/>
        </p:spPr>
        <p:txBody>
          <a:bodyPr rtlCol="0" anchor="ctr" wrap="square" lIns="45720" rIns="45720" tIns="18288" bIns="18288"/>
          <a:lstStyle/>
          <a:p>
            <a:pPr algn="ctr"/>
            <a:r>
              <a:rPr sz="800" b="0" i="0">
                <a:solidFill>
                  <a:srgbClr val="1A1A1A"/>
                </a:solidFill>
                <a:latin typeface="Arial"/>
              </a:rPr>
              <a:t>Random</a:t>
            </a:r>
          </a:p>
          <a:p>
            <a:pPr algn="ctr"/>
            <a:r>
              <a:rPr sz="800" b="0" i="0">
                <a:solidFill>
                  <a:srgbClr val="1A1A1A"/>
                </a:solidFill>
                <a:latin typeface="Arial"/>
              </a:rPr>
              <a:t>4 B</a:t>
            </a:r>
          </a:p>
        </p:txBody>
      </p:sp>
      <p:sp>
        <p:nvSpPr>
          <p:cNvPr id="10" name="Rectangle 9"/>
          <p:cNvSpPr/>
          <p:nvPr/>
        </p:nvSpPr>
        <p:spPr>
          <a:xfrm>
            <a:off x="5442910" y="1463040"/>
            <a:ext cx="1026043" cy="640080"/>
          </a:xfrm>
          <a:prstGeom prst="rect">
            <a:avLst/>
          </a:prstGeom>
          <a:solidFill>
            <a:srgbClr val="F2F2F2"/>
          </a:solidFill>
          <a:ln w="9525">
            <a:solidFill>
              <a:srgbClr val="1A1A1A"/>
            </a:solidFill>
          </a:ln>
          <a:effectLst/>
        </p:spPr>
        <p:txBody>
          <a:bodyPr rtlCol="0" anchor="ctr" wrap="square" lIns="45720" rIns="45720" tIns="18288" bIns="18288"/>
          <a:lstStyle/>
          <a:p>
            <a:pPr algn="ctr"/>
            <a:r>
              <a:rPr sz="800" b="0" i="0">
                <a:solidFill>
                  <a:srgbClr val="1A1A1A"/>
                </a:solidFill>
                <a:latin typeface="Arial"/>
              </a:rPr>
              <a:t>Element ID</a:t>
            </a:r>
          </a:p>
          <a:p>
            <a:pPr algn="ctr"/>
            <a:r>
              <a:rPr sz="800" b="0" i="0">
                <a:solidFill>
                  <a:srgbClr val="1A1A1A"/>
                </a:solidFill>
                <a:latin typeface="Arial"/>
              </a:rPr>
              <a:t>1 B (221)</a:t>
            </a:r>
          </a:p>
        </p:txBody>
      </p:sp>
      <p:sp>
        <p:nvSpPr>
          <p:cNvPr id="11" name="Rectangle 10"/>
          <p:cNvSpPr/>
          <p:nvPr/>
        </p:nvSpPr>
        <p:spPr>
          <a:xfrm>
            <a:off x="6468954" y="1463040"/>
            <a:ext cx="746213" cy="640080"/>
          </a:xfrm>
          <a:prstGeom prst="rect">
            <a:avLst/>
          </a:prstGeom>
          <a:solidFill>
            <a:srgbClr val="F2F2F2"/>
          </a:solidFill>
          <a:ln w="9525">
            <a:solidFill>
              <a:srgbClr val="1A1A1A"/>
            </a:solidFill>
          </a:ln>
          <a:effectLst/>
        </p:spPr>
        <p:txBody>
          <a:bodyPr rtlCol="0" anchor="ctr" wrap="square" lIns="45720" rIns="45720" tIns="18288" bIns="18288"/>
          <a:lstStyle/>
          <a:p>
            <a:pPr algn="ctr"/>
            <a:r>
              <a:rPr sz="800" b="0" i="0">
                <a:solidFill>
                  <a:srgbClr val="1A1A1A"/>
                </a:solidFill>
                <a:latin typeface="Arial"/>
              </a:rPr>
              <a:t>Length</a:t>
            </a:r>
          </a:p>
          <a:p>
            <a:pPr algn="ctr"/>
            <a:r>
              <a:rPr sz="800" b="0" i="0">
                <a:solidFill>
                  <a:srgbClr val="1A1A1A"/>
                </a:solidFill>
                <a:latin typeface="Arial"/>
              </a:rPr>
              <a:t>1 B</a:t>
            </a:r>
          </a:p>
        </p:txBody>
      </p:sp>
      <p:sp>
        <p:nvSpPr>
          <p:cNvPr id="12" name="Rectangle 11"/>
          <p:cNvSpPr/>
          <p:nvPr/>
        </p:nvSpPr>
        <p:spPr>
          <a:xfrm>
            <a:off x="7215167" y="1463040"/>
            <a:ext cx="746213" cy="640080"/>
          </a:xfrm>
          <a:prstGeom prst="rect">
            <a:avLst/>
          </a:prstGeom>
          <a:solidFill>
            <a:srgbClr val="F2F2F2"/>
          </a:solidFill>
          <a:ln w="9525">
            <a:solidFill>
              <a:srgbClr val="1A1A1A"/>
            </a:solidFill>
          </a:ln>
          <a:effectLst/>
        </p:spPr>
        <p:txBody>
          <a:bodyPr rtlCol="0" anchor="ctr" wrap="square" lIns="45720" rIns="45720" tIns="18288" bIns="18288"/>
          <a:lstStyle/>
          <a:p>
            <a:pPr algn="ctr"/>
            <a:r>
              <a:rPr sz="800" b="0" i="0">
                <a:solidFill>
                  <a:srgbClr val="1A1A1A"/>
                </a:solidFill>
                <a:latin typeface="Arial"/>
              </a:rPr>
              <a:t>OUI</a:t>
            </a:r>
          </a:p>
          <a:p>
            <a:pPr algn="ctr"/>
            <a:r>
              <a:rPr sz="800" b="0" i="0">
                <a:solidFill>
                  <a:srgbClr val="1A1A1A"/>
                </a:solidFill>
                <a:latin typeface="Arial"/>
              </a:rPr>
              <a:t>3 B</a:t>
            </a:r>
          </a:p>
        </p:txBody>
      </p:sp>
      <p:sp>
        <p:nvSpPr>
          <p:cNvPr id="13" name="Rectangle 12"/>
          <p:cNvSpPr/>
          <p:nvPr/>
        </p:nvSpPr>
        <p:spPr>
          <a:xfrm>
            <a:off x="7961381" y="1463040"/>
            <a:ext cx="652936" cy="640080"/>
          </a:xfrm>
          <a:prstGeom prst="rect">
            <a:avLst/>
          </a:prstGeom>
          <a:solidFill>
            <a:srgbClr val="F2F2F2"/>
          </a:solidFill>
          <a:ln w="9525">
            <a:solidFill>
              <a:srgbClr val="1A1A1A"/>
            </a:solidFill>
          </a:ln>
          <a:effectLst/>
        </p:spPr>
        <p:txBody>
          <a:bodyPr rtlCol="0" anchor="ctr" wrap="square" lIns="45720" rIns="45720" tIns="18288" bIns="18288"/>
          <a:lstStyle/>
          <a:p>
            <a:pPr algn="ctr"/>
            <a:r>
              <a:rPr sz="800" b="0" i="0">
                <a:solidFill>
                  <a:srgbClr val="1A1A1A"/>
                </a:solidFill>
                <a:latin typeface="Arial"/>
              </a:rPr>
              <a:t>Type</a:t>
            </a:r>
          </a:p>
          <a:p>
            <a:pPr algn="ctr"/>
            <a:r>
              <a:rPr sz="800" b="0" i="0">
                <a:solidFill>
                  <a:srgbClr val="1A1A1A"/>
                </a:solidFill>
                <a:latin typeface="Arial"/>
              </a:rPr>
              <a:t>1 B</a:t>
            </a:r>
          </a:p>
        </p:txBody>
      </p:sp>
      <p:sp>
        <p:nvSpPr>
          <p:cNvPr id="14" name="Rectangle 13"/>
          <p:cNvSpPr/>
          <p:nvPr/>
        </p:nvSpPr>
        <p:spPr>
          <a:xfrm>
            <a:off x="8614318" y="1463040"/>
            <a:ext cx="652936" cy="640080"/>
          </a:xfrm>
          <a:prstGeom prst="rect">
            <a:avLst/>
          </a:prstGeom>
          <a:solidFill>
            <a:srgbClr val="F2F2F2"/>
          </a:solidFill>
          <a:ln w="9525">
            <a:solidFill>
              <a:srgbClr val="1A1A1A"/>
            </a:solidFill>
          </a:ln>
          <a:effectLst/>
        </p:spPr>
        <p:txBody>
          <a:bodyPr rtlCol="0" anchor="ctr" wrap="square" lIns="45720" rIns="45720" tIns="18288" bIns="18288"/>
          <a:lstStyle/>
          <a:p>
            <a:pPr algn="ctr"/>
            <a:r>
              <a:rPr sz="800" b="0" i="0">
                <a:solidFill>
                  <a:srgbClr val="1A1A1A"/>
                </a:solidFill>
                <a:latin typeface="Arial"/>
              </a:rPr>
              <a:t>Ver.</a:t>
            </a:r>
          </a:p>
          <a:p>
            <a:pPr algn="ctr"/>
            <a:r>
              <a:rPr sz="800" b="0" i="0">
                <a:solidFill>
                  <a:srgbClr val="1A1A1A"/>
                </a:solidFill>
                <a:latin typeface="Arial"/>
              </a:rPr>
              <a:t>1 B</a:t>
            </a:r>
          </a:p>
        </p:txBody>
      </p:sp>
      <p:sp>
        <p:nvSpPr>
          <p:cNvPr id="15" name="Rectangle 14"/>
          <p:cNvSpPr/>
          <p:nvPr/>
        </p:nvSpPr>
        <p:spPr>
          <a:xfrm>
            <a:off x="9267254" y="1463040"/>
            <a:ext cx="2238640" cy="640080"/>
          </a:xfrm>
          <a:prstGeom prst="rect">
            <a:avLst/>
          </a:prstGeom>
          <a:solidFill>
            <a:srgbClr val="FFFFFF"/>
          </a:solidFill>
          <a:ln w="9525">
            <a:solidFill>
              <a:srgbClr val="1A1A1A"/>
            </a:solidFill>
          </a:ln>
          <a:effectLst/>
        </p:spPr>
        <p:txBody>
          <a:bodyPr rtlCol="0" anchor="ctr" wrap="square" lIns="45720" rIns="45720" tIns="18288" bIns="18288"/>
          <a:lstStyle/>
          <a:p>
            <a:pPr algn="ctr"/>
            <a:r>
              <a:rPr sz="800" b="0" i="0">
                <a:solidFill>
                  <a:srgbClr val="1A1A1A"/>
                </a:solidFill>
                <a:latin typeface="Arial"/>
              </a:rPr>
              <a:t>Body — your struct</a:t>
            </a:r>
          </a:p>
          <a:p>
            <a:pPr algn="ctr"/>
            <a:r>
              <a:rPr sz="800" b="0" i="0">
                <a:solidFill>
                  <a:srgbClr val="1A1A1A"/>
                </a:solidFill>
                <a:latin typeface="Arial"/>
              </a:rPr>
              <a:t>0–250 B</a:t>
            </a:r>
          </a:p>
        </p:txBody>
      </p:sp>
      <p:sp>
        <p:nvSpPr>
          <p:cNvPr id="16" name="TextBox 15"/>
          <p:cNvSpPr txBox="1"/>
          <p:nvPr/>
        </p:nvSpPr>
        <p:spPr>
          <a:xfrm>
            <a:off x="685800" y="2194560"/>
            <a:ext cx="10820095" cy="274320"/>
          </a:xfrm>
          <a:prstGeom prst="rect">
            <a:avLst/>
          </a:prstGeom>
          <a:noFill/>
        </p:spPr>
        <p:txBody>
          <a:bodyPr wrap="square" anchor="t" lIns="0" rIns="0" tIns="18288" bIns="18288">
            <a:spAutoFit/>
          </a:bodyPr>
          <a:lstStyle/>
          <a:p>
            <a:pPr algn="l"/>
            <a:r>
              <a:rPr sz="1000" b="0" i="0">
                <a:solidFill>
                  <a:srgbClr val="595959"/>
                </a:solidFill>
                <a:latin typeface="Arial"/>
              </a:rPr>
              <a:t>A vendor-specific action frame: a management frame any 802.11 radio can receive without joining a network. Sent at 1 Mbps by default; a full 250-byte packet takes about 2.5 ms of air time.</a:t>
            </a:r>
          </a:p>
        </p:txBody>
      </p:sp>
      <p:sp>
        <p:nvSpPr>
          <p:cNvPr id="17" name="TextBox 16"/>
          <p:cNvSpPr txBox="1"/>
          <p:nvPr/>
        </p:nvSpPr>
        <p:spPr>
          <a:xfrm>
            <a:off x="685800" y="2697480"/>
            <a:ext cx="4794363" cy="2683001"/>
          </a:xfrm>
          <a:prstGeom prst="rect">
            <a:avLst/>
          </a:prstGeom>
          <a:noFill/>
        </p:spPr>
        <p:txBody>
          <a:bodyPr wrap="square" anchor="t" lIns="0" rIns="0" tIns="18288" bIns="18288">
            <a:spAutoFit/>
          </a:bodyPr>
          <a:lstStyle/>
          <a:p>
            <a:pPr>
              <a:spcAft>
                <a:spcPts val="500"/>
              </a:spcAft>
            </a:pPr>
            <a:r>
              <a:rPr sz="1500" b="0" i="0">
                <a:solidFill>
                  <a:srgbClr val="595959"/>
                </a:solidFill>
                <a:latin typeface="Arial"/>
              </a:rPr>
              <a:t>–  </a:t>
            </a:r>
            <a:r>
              <a:rPr sz="1500" b="0" i="0">
                <a:solidFill>
                  <a:srgbClr val="1A1A1A"/>
                </a:solidFill>
                <a:latin typeface="Arial"/>
              </a:rPr>
              <a:t>No association, no DHCP, no TCP: a board sends a frame to a MAC address (or </a:t>
            </a:r>
            <a:r>
              <a:rPr sz="1425" b="0" i="0">
                <a:solidFill>
                  <a:srgbClr val="1A1A1A"/>
                </a:solidFill>
                <a:latin typeface="Courier New"/>
              </a:rPr>
              <a:t>FF:FF:FF:FF:FF:FF</a:t>
            </a:r>
            <a:r>
              <a:rPr sz="1500" b="0" i="0">
                <a:solidFill>
                  <a:srgbClr val="1A1A1A"/>
                </a:solidFill>
                <a:latin typeface="Arial"/>
              </a:rPr>
              <a:t> for everyone) and any ESP32 listening on that </a:t>
            </a:r>
            <a:r>
              <a:rPr sz="1500" b="1" i="0">
                <a:solidFill>
                  <a:srgbClr val="1A1A1A"/>
                </a:solidFill>
                <a:latin typeface="Arial"/>
              </a:rPr>
              <a:t>channel</a:t>
            </a:r>
            <a:r>
              <a:rPr sz="1500" b="0" i="0">
                <a:solidFill>
                  <a:srgbClr val="1A1A1A"/>
                </a:solidFill>
                <a:latin typeface="Arial"/>
              </a:rPr>
              <a:t> receives it. Latency is a few ms.</a:t>
            </a:r>
          </a:p>
          <a:p>
            <a:pPr>
              <a:spcAft>
                <a:spcPts val="500"/>
              </a:spcAft>
            </a:pPr>
            <a:r>
              <a:rPr sz="1500" b="0" i="0">
                <a:solidFill>
                  <a:srgbClr val="595959"/>
                </a:solidFill>
                <a:latin typeface="Arial"/>
              </a:rPr>
              <a:t>–  </a:t>
            </a:r>
            <a:r>
              <a:rPr sz="1500" b="0" i="0">
                <a:solidFill>
                  <a:srgbClr val="1A1A1A"/>
                </a:solidFill>
                <a:latin typeface="Arial"/>
              </a:rPr>
              <a:t>Payload up to </a:t>
            </a:r>
            <a:r>
              <a:rPr sz="1500" b="1" i="0">
                <a:solidFill>
                  <a:srgbClr val="1A1A1A"/>
                </a:solidFill>
                <a:latin typeface="Arial"/>
              </a:rPr>
              <a:t>250 bytes</a:t>
            </a:r>
            <a:r>
              <a:rPr sz="1500" b="0" i="0">
                <a:solidFill>
                  <a:srgbClr val="1A1A1A"/>
                </a:solidFill>
                <a:latin typeface="Arial"/>
              </a:rPr>
              <a:t> in v1; the S3 on core 3.x also speaks ESP-NOW v2 with up to 1470 bytes between v2 boards. Optional per-peer AES encryption; up to 20 peers.</a:t>
            </a:r>
          </a:p>
          <a:p>
            <a:pPr>
              <a:spcAft>
                <a:spcPts val="500"/>
              </a:spcAft>
            </a:pPr>
            <a:r>
              <a:rPr sz="1500" b="0" i="0">
                <a:solidFill>
                  <a:srgbClr val="595959"/>
                </a:solidFill>
                <a:latin typeface="Arial"/>
              </a:rPr>
              <a:t>–  </a:t>
            </a:r>
            <a:r>
              <a:rPr sz="1500" b="0" i="0">
                <a:solidFill>
                  <a:srgbClr val="1A1A1A"/>
                </a:solidFill>
                <a:latin typeface="Arial"/>
              </a:rPr>
              <a:t>Coexists with the access point: </a:t>
            </a:r>
            <a:r>
              <a:rPr sz="1425" b="0" i="0">
                <a:solidFill>
                  <a:srgbClr val="1A1A1A"/>
                </a:solidFill>
                <a:latin typeface="Courier New"/>
              </a:rPr>
              <a:t>WiFi.mode(WIFI_AP_STA)</a:t>
            </a:r>
            <a:r>
              <a:rPr sz="1500" b="0" i="0">
                <a:solidFill>
                  <a:srgbClr val="1A1A1A"/>
                </a:solidFill>
                <a:latin typeface="Arial"/>
              </a:rPr>
              <a:t> and fix the AP channel so both radios agree. The sketch uses channel 1.</a:t>
            </a:r>
          </a:p>
        </p:txBody>
      </p:sp>
      <p:sp>
        <p:nvSpPr>
          <p:cNvPr id="18" name="Rectangle 17"/>
          <p:cNvSpPr/>
          <p:nvPr/>
        </p:nvSpPr>
        <p:spPr>
          <a:xfrm>
            <a:off x="5845923" y="2697480"/>
            <a:ext cx="5659971" cy="3151631"/>
          </a:xfrm>
          <a:prstGeom prst="rect">
            <a:avLst/>
          </a:prstGeom>
          <a:solidFill>
            <a:srgbClr val="F2F2F2"/>
          </a:solidFill>
          <a:ln>
            <a:noFill/>
          </a:ln>
          <a:effectLst/>
        </p:spPr>
        <p:txBody>
          <a:bodyPr rtlCol="0" anchor="ctr"/>
          <a:lstStyle/>
          <a:p>
            <a:pPr algn="ctr"/>
          </a:p>
        </p:txBody>
      </p:sp>
      <p:sp>
        <p:nvSpPr>
          <p:cNvPr id="19" name="TextBox 18"/>
          <p:cNvSpPr txBox="1"/>
          <p:nvPr/>
        </p:nvSpPr>
        <p:spPr>
          <a:xfrm>
            <a:off x="5983083" y="2807208"/>
            <a:ext cx="5385651" cy="2968751"/>
          </a:xfrm>
          <a:prstGeom prst="rect">
            <a:avLst/>
          </a:prstGeom>
          <a:noFill/>
        </p:spPr>
        <p:txBody>
          <a:bodyPr wrap="square" anchor="t" lIns="0" rIns="0" tIns="18288" bIns="18288">
            <a:spAutoFit/>
          </a:bodyPr>
          <a:lstStyle/>
          <a:p>
            <a:pPr>
              <a:spcAft>
                <a:spcPts val="0"/>
              </a:spcAft>
            </a:pPr>
            <a:r>
              <a:rPr sz="1139" b="0" i="0">
                <a:solidFill>
                  <a:srgbClr val="1A1A1A"/>
                </a:solidFill>
                <a:latin typeface="Courier New"/>
              </a:rPr>
              <a:t>struct Message {</a:t>
            </a:r>
          </a:p>
          <a:p>
            <a:pPr>
              <a:spcAft>
                <a:spcPts val="0"/>
              </a:spcAft>
            </a:pPr>
            <a:r>
              <a:rPr sz="1139" b="0" i="0">
                <a:solidFill>
                  <a:srgbClr val="1A1A1A"/>
                </a:solidFill>
                <a:latin typeface="Courier New"/>
              </a:rPr>
              <a:t>  char     name[12];</a:t>
            </a:r>
          </a:p>
          <a:p>
            <a:pPr>
              <a:spcAft>
                <a:spcPts val="0"/>
              </a:spcAft>
            </a:pPr>
            <a:r>
              <a:rPr sz="1139" b="0" i="0">
                <a:solidFill>
                  <a:srgbClr val="1A1A1A"/>
                </a:solidFill>
                <a:latin typeface="Courier New"/>
              </a:rPr>
              <a:t>  uint32_t uptime_s;</a:t>
            </a:r>
          </a:p>
          <a:p>
            <a:pPr>
              <a:spcAft>
                <a:spcPts val="0"/>
              </a:spcAft>
            </a:pPr>
            <a:r>
              <a:rPr sz="1139" b="0" i="0">
                <a:solidFill>
                  <a:srgbClr val="1A1A1A"/>
                </a:solidFill>
                <a:latin typeface="Courier New"/>
              </a:rPr>
              <a:t>  float    temp_c;</a:t>
            </a:r>
          </a:p>
          <a:p>
            <a:pPr>
              <a:spcAft>
                <a:spcPts val="0"/>
              </a:spcAft>
            </a:pPr>
            <a:r>
              <a:rPr sz="1139" b="0" i="0">
                <a:solidFill>
                  <a:srgbClr val="1A1A1A"/>
                </a:solidFill>
                <a:latin typeface="Courier New"/>
              </a:rPr>
              <a:t>  uint8_t  led;</a:t>
            </a:r>
          </a:p>
          <a:p>
            <a:pPr>
              <a:spcAft>
                <a:spcPts val="0"/>
              </a:spcAft>
            </a:pPr>
            <a:r>
              <a:rPr sz="1139" b="0" i="0">
                <a:solidFill>
                  <a:srgbClr val="1A1A1A"/>
                </a:solidFill>
                <a:latin typeface="Courier New"/>
              </a:rPr>
              <a:t>};                          </a:t>
            </a:r>
            <a:r>
              <a:rPr sz="1139" b="0" i="0">
                <a:solidFill>
                  <a:srgbClr val="595959"/>
                </a:solidFill>
                <a:latin typeface="Courier New"/>
              </a:rPr>
              <a:t>// 24 bytes</a:t>
            </a:r>
          </a:p>
          <a:p>
            <a:pPr>
              <a:spcAft>
                <a:spcPts val="0"/>
              </a:spcAft>
            </a:pPr>
            <a:r>
              <a:rPr sz="1139" b="0" i="0">
                <a:solidFill>
                  <a:srgbClr val="1A1A1A"/>
                </a:solidFill>
                <a:latin typeface="Courier New"/>
              </a:rPr>
              <a:t> </a:t>
            </a:r>
          </a:p>
          <a:p>
            <a:pPr>
              <a:spcAft>
                <a:spcPts val="0"/>
              </a:spcAft>
            </a:pPr>
            <a:r>
              <a:rPr sz="1139" b="0" i="0">
                <a:solidFill>
                  <a:srgbClr val="1A1A1A"/>
                </a:solidFill>
                <a:latin typeface="Courier New"/>
              </a:rPr>
              <a:t>void onReceive(const esp_now_recv_info_t *info,</a:t>
            </a:r>
          </a:p>
          <a:p>
            <a:pPr>
              <a:spcAft>
                <a:spcPts val="0"/>
              </a:spcAft>
            </a:pPr>
            <a:r>
              <a:rPr sz="1139" b="0" i="0">
                <a:solidFill>
                  <a:srgbClr val="1A1A1A"/>
                </a:solidFill>
                <a:latin typeface="Courier New"/>
              </a:rPr>
              <a:t>               const uint8_t *data, int len) {</a:t>
            </a:r>
          </a:p>
          <a:p>
            <a:pPr>
              <a:spcAft>
                <a:spcPts val="0"/>
              </a:spcAft>
            </a:pPr>
            <a:r>
              <a:rPr sz="1139" b="0" i="0">
                <a:solidFill>
                  <a:srgbClr val="1A1A1A"/>
                </a:solidFill>
                <a:latin typeface="Courier New"/>
              </a:rPr>
              <a:t>  Message m; memcpy(&amp;m, data, sizeof m);</a:t>
            </a:r>
          </a:p>
          <a:p>
            <a:pPr>
              <a:spcAft>
                <a:spcPts val="0"/>
              </a:spcAft>
            </a:pPr>
            <a:r>
              <a:rPr sz="1139" b="0" i="0">
                <a:solidFill>
                  <a:srgbClr val="1A1A1A"/>
                </a:solidFill>
                <a:latin typeface="Courier New"/>
              </a:rPr>
              <a:t>  addPeer(m, info-&gt;src_addr);  </a:t>
            </a:r>
            <a:r>
              <a:rPr sz="1139" b="0" i="0">
                <a:solidFill>
                  <a:srgbClr val="595959"/>
                </a:solidFill>
                <a:latin typeface="Courier New"/>
              </a:rPr>
              <a:t>// keep it short</a:t>
            </a:r>
          </a:p>
          <a:p>
            <a:pPr>
              <a:spcAft>
                <a:spcPts val="0"/>
              </a:spcAft>
            </a:pPr>
            <a:r>
              <a:rPr sz="1139" b="0" i="0">
                <a:solidFill>
                  <a:srgbClr val="1A1A1A"/>
                </a:solidFill>
                <a:latin typeface="Courier New"/>
              </a:rPr>
              <a:t>}</a:t>
            </a:r>
          </a:p>
          <a:p>
            <a:pPr>
              <a:spcAft>
                <a:spcPts val="0"/>
              </a:spcAft>
            </a:pPr>
            <a:r>
              <a:rPr sz="1139" b="0" i="0">
                <a:solidFill>
                  <a:srgbClr val="1A1A1A"/>
                </a:solidFill>
                <a:latin typeface="Courier New"/>
              </a:rPr>
              <a:t> </a:t>
            </a:r>
          </a:p>
          <a:p>
            <a:pPr>
              <a:spcAft>
                <a:spcPts val="0"/>
              </a:spcAft>
            </a:pPr>
            <a:r>
              <a:rPr sz="1139" b="0" i="0">
                <a:solidFill>
                  <a:srgbClr val="1A1A1A"/>
                </a:solidFill>
                <a:latin typeface="Courier New"/>
              </a:rPr>
              <a:t>esp_now_init();</a:t>
            </a:r>
          </a:p>
          <a:p>
            <a:pPr>
              <a:spcAft>
                <a:spcPts val="0"/>
              </a:spcAft>
            </a:pPr>
            <a:r>
              <a:rPr sz="1139" b="0" i="0">
                <a:solidFill>
                  <a:srgbClr val="1A1A1A"/>
                </a:solidFill>
                <a:latin typeface="Courier New"/>
              </a:rPr>
              <a:t>esp_now_register_recv_cb(onReceive);</a:t>
            </a:r>
          </a:p>
          <a:p>
            <a:pPr>
              <a:spcAft>
                <a:spcPts val="0"/>
              </a:spcAft>
            </a:pPr>
            <a:r>
              <a:rPr sz="1139" b="0" i="0">
                <a:solidFill>
                  <a:srgbClr val="1A1A1A"/>
                </a:solidFill>
                <a:latin typeface="Courier New"/>
              </a:rPr>
              <a:t>esp_now_send(bcast, (uint8_t*)&amp;me, sizeof me);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0"/>
            <a:ext cx="7315200" cy="274320"/>
          </a:xfrm>
          <a:prstGeom prst="rect">
            <a:avLst/>
          </a:prstGeom>
          <a:noFill/>
        </p:spPr>
        <p:txBody>
          <a:bodyPr wrap="square" anchor="t" lIns="0" rIns="0" tIns="18288" bIns="18288">
            <a:spAutoFit/>
          </a:bodyPr>
          <a:lstStyle/>
          <a:p>
            <a:pPr algn="l"/>
            <a:r>
              <a:rPr sz="1000" b="0" i="0">
                <a:solidFill>
                  <a:srgbClr val="595959"/>
                </a:solidFill>
                <a:latin typeface="Arial"/>
              </a:rPr>
              <a:t>HackHardware · Getting started with the ESP32</a:t>
            </a:r>
          </a:p>
        </p:txBody>
      </p:sp>
      <p:sp>
        <p:nvSpPr>
          <p:cNvPr id="3" name="TextBox 2"/>
          <p:cNvSpPr txBox="1"/>
          <p:nvPr/>
        </p:nvSpPr>
        <p:spPr>
          <a:xfrm>
            <a:off x="10134295" y="6400800"/>
            <a:ext cx="1371600" cy="274320"/>
          </a:xfrm>
          <a:prstGeom prst="rect">
            <a:avLst/>
          </a:prstGeom>
          <a:noFill/>
        </p:spPr>
        <p:txBody>
          <a:bodyPr wrap="square" anchor="t" lIns="0" rIns="0" tIns="18288" bIns="18288">
            <a:spAutoFit/>
          </a:bodyPr>
          <a:lstStyle/>
          <a:p>
            <a:pPr algn="r"/>
            <a:r>
              <a:rPr sz="1000" b="0" i="0">
                <a:solidFill>
                  <a:srgbClr val="595959"/>
                </a:solidFill>
                <a:latin typeface="Arial"/>
              </a:rPr>
              <a:t>29</a:t>
            </a:r>
          </a:p>
        </p:txBody>
      </p:sp>
      <p:sp>
        <p:nvSpPr>
          <p:cNvPr id="4" name="TextBox 3"/>
          <p:cNvSpPr txBox="1"/>
          <p:nvPr/>
        </p:nvSpPr>
        <p:spPr>
          <a:xfrm>
            <a:off x="685800" y="457200"/>
            <a:ext cx="10820095" cy="822960"/>
          </a:xfrm>
          <a:prstGeom prst="rect">
            <a:avLst/>
          </a:prstGeom>
          <a:noFill/>
        </p:spPr>
        <p:txBody>
          <a:bodyPr wrap="square" anchor="b" lIns="0" rIns="0" tIns="18288" bIns="18288">
            <a:spAutoFit/>
          </a:bodyPr>
          <a:lstStyle/>
          <a:p>
            <a:pPr algn="l"/>
            <a:r>
              <a:rPr sz="3000" b="1" i="0">
                <a:solidFill>
                  <a:srgbClr val="1A1A1A"/>
                </a:solidFill>
                <a:latin typeface="Arial"/>
              </a:rPr>
              <a:t>Time left? Pick one</a:t>
            </a:r>
          </a:p>
        </p:txBody>
      </p:sp>
      <p:cxnSp>
        <p:nvCxnSpPr>
          <p:cNvPr id="5" name="Connector 4"/>
          <p:cNvCxnSpPr/>
          <p:nvPr/>
        </p:nvCxnSpPr>
        <p:spPr>
          <a:xfrm>
            <a:off x="685800" y="1298448"/>
            <a:ext cx="10820095" cy="0"/>
          </a:xfrm>
          <a:prstGeom prst="line">
            <a:avLst/>
          </a:prstGeom>
          <a:ln w="9525">
            <a:solidFill>
              <a:srgbClr val="BFBFBF"/>
            </a:solidFill>
          </a:ln>
        </p:spPr>
      </p:cxnSp>
      <p:sp>
        <p:nvSpPr>
          <p:cNvPr id="6" name="TextBox 5"/>
          <p:cNvSpPr txBox="1"/>
          <p:nvPr/>
        </p:nvSpPr>
        <p:spPr>
          <a:xfrm>
            <a:off x="685800" y="1453896"/>
            <a:ext cx="5227167" cy="359332"/>
          </a:xfrm>
          <a:prstGeom prst="rect">
            <a:avLst/>
          </a:prstGeom>
          <a:noFill/>
        </p:spPr>
        <p:txBody>
          <a:bodyPr wrap="square" anchor="t" lIns="0" rIns="0" tIns="18288" bIns="18288">
            <a:spAutoFit/>
          </a:bodyPr>
          <a:lstStyle/>
          <a:p>
            <a:r>
              <a:rPr sz="1665" b="1" i="0">
                <a:solidFill>
                  <a:srgbClr val="1A1A1A"/>
                </a:solidFill>
                <a:latin typeface="Arial"/>
              </a:rPr>
              <a:t>Shorter</a:t>
            </a:r>
          </a:p>
        </p:txBody>
      </p:sp>
      <p:sp>
        <p:nvSpPr>
          <p:cNvPr id="7" name="TextBox 6"/>
          <p:cNvSpPr txBox="1"/>
          <p:nvPr/>
        </p:nvSpPr>
        <p:spPr>
          <a:xfrm>
            <a:off x="685800" y="1849804"/>
            <a:ext cx="5227167" cy="2698620"/>
          </a:xfrm>
          <a:prstGeom prst="rect">
            <a:avLst/>
          </a:prstGeom>
          <a:noFill/>
        </p:spPr>
        <p:txBody>
          <a:bodyPr wrap="square" anchor="t" lIns="0" rIns="0" tIns="18288" bIns="18288">
            <a:spAutoFit/>
          </a:bodyPr>
          <a:lstStyle/>
          <a:p>
            <a:pPr>
              <a:spcAft>
                <a:spcPts val="500"/>
              </a:spcAft>
            </a:pPr>
            <a:r>
              <a:rPr sz="1763" b="0" i="0">
                <a:solidFill>
                  <a:srgbClr val="595959"/>
                </a:solidFill>
                <a:latin typeface="Arial"/>
              </a:rPr>
              <a:t>–  </a:t>
            </a:r>
            <a:r>
              <a:rPr sz="1763" b="0" i="0">
                <a:solidFill>
                  <a:srgbClr val="1A1A1A"/>
                </a:solidFill>
                <a:latin typeface="Arial"/>
              </a:rPr>
              <a:t>Blink your board name in Morse code</a:t>
            </a:r>
          </a:p>
          <a:p>
            <a:pPr>
              <a:spcAft>
                <a:spcPts val="500"/>
              </a:spcAft>
            </a:pPr>
            <a:r>
              <a:rPr sz="1763" b="0" i="0">
                <a:solidFill>
                  <a:srgbClr val="595959"/>
                </a:solidFill>
                <a:latin typeface="Arial"/>
              </a:rPr>
              <a:t>–  </a:t>
            </a:r>
            <a:r>
              <a:rPr sz="1763" b="0" i="0">
                <a:solidFill>
                  <a:srgbClr val="1A1A1A"/>
                </a:solidFill>
                <a:latin typeface="Arial"/>
              </a:rPr>
              <a:t>Reaction-time game: LED comes on at a random moment, press BOOT, print your time</a:t>
            </a:r>
          </a:p>
          <a:p>
            <a:pPr>
              <a:spcAft>
                <a:spcPts val="500"/>
              </a:spcAft>
            </a:pPr>
            <a:r>
              <a:rPr sz="1763" b="0" i="0">
                <a:solidFill>
                  <a:srgbClr val="595959"/>
                </a:solidFill>
                <a:latin typeface="Arial"/>
              </a:rPr>
              <a:t>–  </a:t>
            </a:r>
            <a:r>
              <a:rPr sz="1763" b="0" i="0">
                <a:solidFill>
                  <a:srgbClr val="1A1A1A"/>
                </a:solidFill>
                <a:latin typeface="Arial"/>
              </a:rPr>
              <a:t>Touch pin controls the LED's brightness or colour with </a:t>
            </a:r>
            <a:r>
              <a:rPr sz="1675" b="0" i="0">
                <a:solidFill>
                  <a:srgbClr val="1A1A1A"/>
                </a:solidFill>
                <a:latin typeface="Courier New"/>
              </a:rPr>
              <a:t>rgbLedWrite</a:t>
            </a:r>
          </a:p>
          <a:p>
            <a:pPr>
              <a:spcAft>
                <a:spcPts val="500"/>
              </a:spcAft>
            </a:pPr>
            <a:r>
              <a:rPr sz="1763" b="0" i="0">
                <a:solidFill>
                  <a:srgbClr val="595959"/>
                </a:solidFill>
                <a:latin typeface="Arial"/>
              </a:rPr>
              <a:t>–  </a:t>
            </a:r>
            <a:r>
              <a:rPr sz="1763" b="0" i="0">
                <a:solidFill>
                  <a:srgbClr val="1A1A1A"/>
                </a:solidFill>
                <a:latin typeface="Arial"/>
              </a:rPr>
              <a:t>Reach the board at </a:t>
            </a:r>
            <a:r>
              <a:rPr sz="1675" b="0" i="0">
                <a:solidFill>
                  <a:srgbClr val="1A1A1A"/>
                </a:solidFill>
                <a:latin typeface="Courier New"/>
              </a:rPr>
              <a:t>http://&lt;name&gt;.local</a:t>
            </a:r>
            <a:r>
              <a:rPr sz="1763" b="0" i="0">
                <a:solidFill>
                  <a:srgbClr val="1A1A1A"/>
                </a:solidFill>
                <a:latin typeface="Arial"/>
              </a:rPr>
              <a:t> with </a:t>
            </a:r>
            <a:r>
              <a:rPr sz="1675" b="0" i="0">
                <a:solidFill>
                  <a:srgbClr val="1A1A1A"/>
                </a:solidFill>
                <a:latin typeface="Courier New"/>
              </a:rPr>
              <a:t>ESPmDNS</a:t>
            </a:r>
          </a:p>
          <a:p>
            <a:pPr>
              <a:spcAft>
                <a:spcPts val="500"/>
              </a:spcAft>
            </a:pPr>
            <a:r>
              <a:rPr sz="1763" b="0" i="0">
                <a:solidFill>
                  <a:srgbClr val="595959"/>
                </a:solidFill>
                <a:latin typeface="Arial"/>
              </a:rPr>
              <a:t>–  </a:t>
            </a:r>
            <a:r>
              <a:rPr sz="1763" b="0" i="0">
                <a:solidFill>
                  <a:srgbClr val="1A1A1A"/>
                </a:solidFill>
                <a:latin typeface="Arial"/>
              </a:rPr>
              <a:t>Show the strongest Wi-Fi network live in the Serial Monitor</a:t>
            </a:r>
          </a:p>
        </p:txBody>
      </p:sp>
      <p:sp>
        <p:nvSpPr>
          <p:cNvPr id="8" name="TextBox 7"/>
          <p:cNvSpPr txBox="1"/>
          <p:nvPr/>
        </p:nvSpPr>
        <p:spPr>
          <a:xfrm>
            <a:off x="6278727" y="1453896"/>
            <a:ext cx="5227167" cy="359332"/>
          </a:xfrm>
          <a:prstGeom prst="rect">
            <a:avLst/>
          </a:prstGeom>
          <a:noFill/>
        </p:spPr>
        <p:txBody>
          <a:bodyPr wrap="square" anchor="t" lIns="0" rIns="0" tIns="18288" bIns="18288">
            <a:spAutoFit/>
          </a:bodyPr>
          <a:lstStyle/>
          <a:p>
            <a:r>
              <a:rPr sz="1665" b="1" i="0">
                <a:solidFill>
                  <a:srgbClr val="1A1A1A"/>
                </a:solidFill>
                <a:latin typeface="Arial"/>
              </a:rPr>
              <a:t>Longer</a:t>
            </a:r>
          </a:p>
        </p:txBody>
      </p:sp>
      <p:sp>
        <p:nvSpPr>
          <p:cNvPr id="9" name="TextBox 8"/>
          <p:cNvSpPr txBox="1"/>
          <p:nvPr/>
        </p:nvSpPr>
        <p:spPr>
          <a:xfrm>
            <a:off x="6278727" y="1849804"/>
            <a:ext cx="5227167" cy="3546344"/>
          </a:xfrm>
          <a:prstGeom prst="rect">
            <a:avLst/>
          </a:prstGeom>
          <a:noFill/>
        </p:spPr>
        <p:txBody>
          <a:bodyPr wrap="square" anchor="t" lIns="0" rIns="0" tIns="18288" bIns="18288">
            <a:spAutoFit/>
          </a:bodyPr>
          <a:lstStyle/>
          <a:p>
            <a:pPr>
              <a:spcAft>
                <a:spcPts val="500"/>
              </a:spcAft>
            </a:pPr>
            <a:r>
              <a:rPr sz="1763" b="0" i="0">
                <a:solidFill>
                  <a:srgbClr val="595959"/>
                </a:solidFill>
                <a:latin typeface="Arial"/>
              </a:rPr>
              <a:t>–  </a:t>
            </a:r>
            <a:r>
              <a:rPr sz="1675" b="0" i="0">
                <a:solidFill>
                  <a:srgbClr val="1A1A1A"/>
                </a:solidFill>
                <a:latin typeface="Courier New"/>
              </a:rPr>
              <a:t>/api/blink?n=</a:t>
            </a:r>
            <a:r>
              <a:rPr sz="1763" b="0" i="0">
                <a:solidFill>
                  <a:srgbClr val="1A1A1A"/>
                </a:solidFill>
                <a:latin typeface="Arial"/>
              </a:rPr>
              <a:t> route plus a button on the page; or </a:t>
            </a:r>
            <a:r>
              <a:rPr sz="1675" b="0" i="0">
                <a:solidFill>
                  <a:srgbClr val="1A1A1A"/>
                </a:solidFill>
                <a:latin typeface="Courier New"/>
              </a:rPr>
              <a:t>/api/color?r=&amp;g=&amp;b=</a:t>
            </a:r>
            <a:r>
              <a:rPr sz="1763" b="0" i="0">
                <a:solidFill>
                  <a:srgbClr val="1A1A1A"/>
                </a:solidFill>
                <a:latin typeface="Arial"/>
              </a:rPr>
              <a:t> with an </a:t>
            </a:r>
            <a:r>
              <a:rPr sz="1675" b="0" i="0">
                <a:solidFill>
                  <a:srgbClr val="1A1A1A"/>
                </a:solidFill>
                <a:latin typeface="Courier New"/>
              </a:rPr>
              <a:t>&lt;input type="color"&gt;</a:t>
            </a:r>
          </a:p>
          <a:p>
            <a:pPr>
              <a:spcAft>
                <a:spcPts val="500"/>
              </a:spcAft>
            </a:pPr>
            <a:r>
              <a:rPr sz="1763" b="0" i="0">
                <a:solidFill>
                  <a:srgbClr val="595959"/>
                </a:solidFill>
                <a:latin typeface="Arial"/>
              </a:rPr>
              <a:t>–  </a:t>
            </a:r>
            <a:r>
              <a:rPr sz="1763" b="0" i="0">
                <a:solidFill>
                  <a:srgbClr val="1A1A1A"/>
                </a:solidFill>
                <a:latin typeface="Arial"/>
              </a:rPr>
              <a:t>Remember the board name across reboots with </a:t>
            </a:r>
            <a:r>
              <a:rPr sz="1675" b="0" i="0">
                <a:solidFill>
                  <a:srgbClr val="1A1A1A"/>
                </a:solidFill>
                <a:latin typeface="Courier New"/>
              </a:rPr>
              <a:t>Preferences.h</a:t>
            </a:r>
            <a:r>
              <a:rPr sz="1763" b="0" i="0">
                <a:solidFill>
                  <a:srgbClr val="1A1A1A"/>
                </a:solidFill>
                <a:latin typeface="Arial"/>
              </a:rPr>
              <a:t> (NVS)</a:t>
            </a:r>
          </a:p>
          <a:p>
            <a:pPr>
              <a:spcAft>
                <a:spcPts val="500"/>
              </a:spcAft>
            </a:pPr>
            <a:r>
              <a:rPr sz="1763" b="0" i="0">
                <a:solidFill>
                  <a:srgbClr val="595959"/>
                </a:solidFill>
                <a:latin typeface="Arial"/>
              </a:rPr>
              <a:t>–  </a:t>
            </a:r>
            <a:r>
              <a:rPr sz="1763" b="0" i="0">
                <a:solidFill>
                  <a:srgbClr val="1A1A1A"/>
                </a:solidFill>
                <a:latin typeface="Arial"/>
              </a:rPr>
              <a:t>Temperature graph on the page with </a:t>
            </a:r>
            <a:r>
              <a:rPr sz="1675" b="0" i="0">
                <a:solidFill>
                  <a:srgbClr val="1A1A1A"/>
                </a:solidFill>
                <a:latin typeface="Courier New"/>
              </a:rPr>
              <a:t>&lt;canvas&gt;</a:t>
            </a:r>
          </a:p>
          <a:p>
            <a:pPr>
              <a:spcAft>
                <a:spcPts val="500"/>
              </a:spcAft>
            </a:pPr>
            <a:r>
              <a:rPr sz="1763" b="0" i="0">
                <a:solidFill>
                  <a:srgbClr val="595959"/>
                </a:solidFill>
                <a:latin typeface="Arial"/>
              </a:rPr>
              <a:t>–  </a:t>
            </a:r>
            <a:r>
              <a:rPr sz="1763" b="0" i="0">
                <a:solidFill>
                  <a:srgbClr val="1A1A1A"/>
                </a:solidFill>
                <a:latin typeface="Arial"/>
              </a:rPr>
              <a:t>Deep sleep for 10 s, wake, print the boot count kept in </a:t>
            </a:r>
            <a:r>
              <a:rPr sz="1675" b="0" i="0">
                <a:solidFill>
                  <a:srgbClr val="1A1A1A"/>
                </a:solidFill>
                <a:latin typeface="Courier New"/>
              </a:rPr>
              <a:t>RTC_DATA_ATTR</a:t>
            </a:r>
            <a:r>
              <a:rPr sz="1763" b="0" i="0">
                <a:solidFill>
                  <a:srgbClr val="1A1A1A"/>
                </a:solidFill>
                <a:latin typeface="Arial"/>
              </a:rPr>
              <a:t> memory</a:t>
            </a:r>
          </a:p>
          <a:p>
            <a:pPr>
              <a:spcAft>
                <a:spcPts val="500"/>
              </a:spcAft>
            </a:pPr>
            <a:r>
              <a:rPr sz="1763" b="0" i="0">
                <a:solidFill>
                  <a:srgbClr val="595959"/>
                </a:solidFill>
                <a:latin typeface="Arial"/>
              </a:rPr>
              <a:t>–  </a:t>
            </a:r>
            <a:r>
              <a:rPr sz="1763" b="0" i="0">
                <a:solidFill>
                  <a:srgbClr val="1A1A1A"/>
                </a:solidFill>
                <a:latin typeface="Arial"/>
              </a:rPr>
              <a:t>Rate-limit your API: reject more than 5 requests/s per client</a:t>
            </a:r>
          </a:p>
          <a:p>
            <a:pPr>
              <a:spcAft>
                <a:spcPts val="500"/>
              </a:spcAft>
            </a:pPr>
            <a:r>
              <a:rPr sz="1763" b="0" i="0">
                <a:solidFill>
                  <a:srgbClr val="595959"/>
                </a:solidFill>
                <a:latin typeface="Arial"/>
              </a:rPr>
              <a:t>–  </a:t>
            </a:r>
            <a:r>
              <a:rPr sz="1763" b="0" i="0">
                <a:solidFill>
                  <a:srgbClr val="1A1A1A"/>
                </a:solidFill>
                <a:latin typeface="Arial"/>
              </a:rPr>
              <a:t>Two boards: press BOOT on one, LED toggles on the other (ESP-NOW)</a:t>
            </a:r>
          </a:p>
        </p:txBody>
      </p:sp>
      <p:sp>
        <p:nvSpPr>
          <p:cNvPr id="10" name="TextBox 9"/>
          <p:cNvSpPr txBox="1"/>
          <p:nvPr/>
        </p:nvSpPr>
        <p:spPr>
          <a:xfrm>
            <a:off x="685800" y="5560740"/>
            <a:ext cx="10820095" cy="590648"/>
          </a:xfrm>
          <a:prstGeom prst="rect">
            <a:avLst/>
          </a:prstGeom>
          <a:noFill/>
        </p:spPr>
        <p:txBody>
          <a:bodyPr wrap="square" anchor="t" lIns="0" rIns="0" tIns="18288" bIns="18288">
            <a:spAutoFit/>
          </a:bodyPr>
          <a:lstStyle/>
          <a:p>
            <a:r>
              <a:rPr sz="1665" b="0" i="0">
                <a:solidFill>
                  <a:srgbClr val="595959"/>
                </a:solidFill>
                <a:latin typeface="Arial"/>
              </a:rPr>
              <a:t>Each one is in </a:t>
            </a:r>
            <a:r>
              <a:rPr sz="1582" b="0" i="0">
                <a:solidFill>
                  <a:srgbClr val="595959"/>
                </a:solidFill>
                <a:latin typeface="Courier New"/>
              </a:rPr>
              <a:t>CHALLENGES.md</a:t>
            </a:r>
            <a:r>
              <a:rPr sz="1665" b="0" i="0">
                <a:solidFill>
                  <a:srgbClr val="595959"/>
                </a:solidFill>
                <a:latin typeface="Arial"/>
              </a:rPr>
              <a:t> with a hint and a “done when”. Ask a helper if you are stuck for more than a few minutes.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0"/>
            <a:ext cx="7315200" cy="274320"/>
          </a:xfrm>
          <a:prstGeom prst="rect">
            <a:avLst/>
          </a:prstGeom>
          <a:noFill/>
        </p:spPr>
        <p:txBody>
          <a:bodyPr wrap="square" anchor="t" lIns="0" rIns="0" tIns="18288" bIns="18288">
            <a:spAutoFit/>
          </a:bodyPr>
          <a:lstStyle/>
          <a:p>
            <a:pPr algn="l"/>
            <a:r>
              <a:rPr sz="1000" b="0" i="0">
                <a:solidFill>
                  <a:srgbClr val="595959"/>
                </a:solidFill>
                <a:latin typeface="Arial"/>
              </a:rPr>
              <a:t>HackHardware · Getting started with the ESP32</a:t>
            </a:r>
          </a:p>
        </p:txBody>
      </p:sp>
      <p:sp>
        <p:nvSpPr>
          <p:cNvPr id="3" name="TextBox 2"/>
          <p:cNvSpPr txBox="1"/>
          <p:nvPr/>
        </p:nvSpPr>
        <p:spPr>
          <a:xfrm>
            <a:off x="10134295" y="6400800"/>
            <a:ext cx="1371600" cy="274320"/>
          </a:xfrm>
          <a:prstGeom prst="rect">
            <a:avLst/>
          </a:prstGeom>
          <a:noFill/>
        </p:spPr>
        <p:txBody>
          <a:bodyPr wrap="square" anchor="t" lIns="0" rIns="0" tIns="18288" bIns="18288">
            <a:spAutoFit/>
          </a:bodyPr>
          <a:lstStyle/>
          <a:p>
            <a:pPr algn="r"/>
            <a:r>
              <a:rPr sz="1000" b="0" i="0">
                <a:solidFill>
                  <a:srgbClr val="595959"/>
                </a:solidFill>
                <a:latin typeface="Arial"/>
              </a:rPr>
              <a:t>30</a:t>
            </a:r>
          </a:p>
        </p:txBody>
      </p:sp>
      <p:sp>
        <p:nvSpPr>
          <p:cNvPr id="4" name="TextBox 3"/>
          <p:cNvSpPr txBox="1"/>
          <p:nvPr/>
        </p:nvSpPr>
        <p:spPr>
          <a:xfrm>
            <a:off x="685800" y="457200"/>
            <a:ext cx="10820095" cy="822960"/>
          </a:xfrm>
          <a:prstGeom prst="rect">
            <a:avLst/>
          </a:prstGeom>
          <a:noFill/>
        </p:spPr>
        <p:txBody>
          <a:bodyPr wrap="square" anchor="b" lIns="0" rIns="0" tIns="18288" bIns="18288">
            <a:spAutoFit/>
          </a:bodyPr>
          <a:lstStyle/>
          <a:p>
            <a:pPr algn="l"/>
            <a:r>
              <a:rPr sz="3000" b="1" i="0">
                <a:solidFill>
                  <a:srgbClr val="1A1A1A"/>
                </a:solidFill>
                <a:latin typeface="Arial"/>
              </a:rPr>
              <a:t>What we skipped, and where to go next</a:t>
            </a:r>
          </a:p>
        </p:txBody>
      </p:sp>
      <p:cxnSp>
        <p:nvCxnSpPr>
          <p:cNvPr id="5" name="Connector 4"/>
          <p:cNvCxnSpPr/>
          <p:nvPr/>
        </p:nvCxnSpPr>
        <p:spPr>
          <a:xfrm>
            <a:off x="685800" y="1298448"/>
            <a:ext cx="10820095" cy="0"/>
          </a:xfrm>
          <a:prstGeom prst="line">
            <a:avLst/>
          </a:prstGeom>
          <a:ln w="9525">
            <a:solidFill>
              <a:srgbClr val="BFBFBF"/>
            </a:solidFill>
          </a:ln>
        </p:spPr>
      </p:cxnSp>
      <p:graphicFrame>
        <p:nvGraphicFramePr>
          <p:cNvPr id="6" name="Table 5"/>
          <p:cNvGraphicFramePr>
            <a:graphicFrameLocks noGrp="1"/>
          </p:cNvGraphicFramePr>
          <p:nvPr/>
        </p:nvGraphicFramePr>
        <p:xfrm>
          <a:off x="685800" y="1417320"/>
          <a:ext cx="6309176" cy="2971557"/>
        </p:xfrm>
        <a:graphic>
          <a:graphicData uri="http://schemas.openxmlformats.org/drawingml/2006/table">
            <a:tbl>
              <a:tblPr firstRow="1" bandRow="0">
                <a:tableStyleId>{2D5ABB26-0587-4C30-8999-92F81FD0307C}</a:tableStyleId>
              </a:tblPr>
              <a:tblGrid>
                <a:gridCol w="1388018"/>
                <a:gridCol w="4921158"/>
              </a:tblGrid>
              <a:tr h="330173">
                <a:tc>
                  <a:txBody>
                    <a:bodyPr wrap="square"/>
                    <a:lstStyle/>
                    <a:p>
                      <a:r>
                        <a:rPr sz="1348" b="1" i="0">
                          <a:solidFill>
                            <a:srgbClr val="1A1A1A"/>
                          </a:solidFill>
                          <a:latin typeface="Arial"/>
                        </a:rPr>
                        <a:t>Topic</a:t>
                      </a:r>
                    </a:p>
                  </a:txBody>
                  <a:tcPr marL="73152" marR="73152" marT="27432" marB="27432" anchor="ctr">
                    <a:solidFill>
                      <a:srgbClr val="F2F2F2"/>
                    </a:solidFill>
                    <a:lnB w="9525" cap="flat" cmpd="sng" algn="ctr">
                      <a:solidFill>
                        <a:srgbClr val="BFBFBF"/>
                      </a:solidFill>
                      <a:prstDash val="solid"/>
                    </a:lnB>
                    <a:lnT w="9525"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348" b="1" i="0">
                          <a:solidFill>
                            <a:srgbClr val="1A1A1A"/>
                          </a:solidFill>
                          <a:latin typeface="Arial"/>
                        </a:rPr>
                        <a:t>One line</a:t>
                      </a:r>
                    </a:p>
                  </a:txBody>
                  <a:tcPr marL="73152" marR="73152" marT="27432" marB="27432" anchor="ctr">
                    <a:solidFill>
                      <a:srgbClr val="F2F2F2"/>
                    </a:solidFill>
                    <a:lnB w="9525" cap="flat" cmpd="sng" algn="ctr">
                      <a:solidFill>
                        <a:srgbClr val="BFBFBF"/>
                      </a:solidFill>
                      <a:prstDash val="solid"/>
                    </a:lnB>
                    <a:lnT w="9525"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30173">
                <a:tc>
                  <a:txBody>
                    <a:bodyPr wrap="square"/>
                    <a:lstStyle/>
                    <a:p>
                      <a:r>
                        <a:rPr sz="1348" b="0" i="0">
                          <a:solidFill>
                            <a:srgbClr val="1A1A1A"/>
                          </a:solidFill>
                          <a:latin typeface="Arial"/>
                        </a:rPr>
                        <a:t>Interrupts</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81" b="0" i="0">
                          <a:solidFill>
                            <a:srgbClr val="1A1A1A"/>
                          </a:solidFill>
                          <a:latin typeface="Courier New"/>
                        </a:rPr>
                        <a:t>attachInterrupt(pin, isr, FALLING)</a:t>
                      </a:r>
                      <a:r>
                        <a:rPr sz="1348" b="0" i="0">
                          <a:solidFill>
                            <a:srgbClr val="1A1A1A"/>
                          </a:solidFill>
                          <a:latin typeface="Arial"/>
                        </a:rPr>
                        <a:t>: react to a pin in microseconds instead of polling</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30173">
                <a:tc>
                  <a:txBody>
                    <a:bodyPr wrap="square"/>
                    <a:lstStyle/>
                    <a:p>
                      <a:r>
                        <a:rPr sz="1348" b="0" i="0">
                          <a:solidFill>
                            <a:srgbClr val="1A1A1A"/>
                          </a:solidFill>
                          <a:latin typeface="Arial"/>
                        </a:rPr>
                        <a:t>FreeRTOS tasks</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81" b="0" i="0">
                          <a:solidFill>
                            <a:srgbClr val="1A1A1A"/>
                          </a:solidFill>
                          <a:latin typeface="Courier New"/>
                        </a:rPr>
                        <a:t>xTaskCreatePinnedToCore</a:t>
                      </a:r>
                      <a:r>
                        <a:rPr sz="1348" b="0" i="0">
                          <a:solidFill>
                            <a:srgbClr val="1A1A1A"/>
                          </a:solidFill>
                          <a:latin typeface="Arial"/>
                        </a:rPr>
                        <a:t>: real parallelism, queues, semaphores</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30173">
                <a:tc>
                  <a:txBody>
                    <a:bodyPr wrap="square"/>
                    <a:lstStyle/>
                    <a:p>
                      <a:r>
                        <a:rPr sz="1348" b="0" i="0">
                          <a:solidFill>
                            <a:srgbClr val="1A1A1A"/>
                          </a:solidFill>
                          <a:latin typeface="Arial"/>
                        </a:rPr>
                        <a:t>I²C / SPI sensors</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81" b="0" i="0">
                          <a:solidFill>
                            <a:srgbClr val="1A1A1A"/>
                          </a:solidFill>
                          <a:latin typeface="Courier New"/>
                        </a:rPr>
                        <a:t>Wire.h</a:t>
                      </a:r>
                      <a:r>
                        <a:rPr sz="1348" b="0" i="0">
                          <a:solidFill>
                            <a:srgbClr val="1A1A1A"/>
                          </a:solidFill>
                          <a:latin typeface="Arial"/>
                        </a:rPr>
                        <a:t>: a BME280 (temp, humidity, pressure) or MPU6050 (motion) costs $2–4</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30173">
                <a:tc>
                  <a:txBody>
                    <a:bodyPr wrap="square"/>
                    <a:lstStyle/>
                    <a:p>
                      <a:r>
                        <a:rPr sz="1348" b="0" i="0">
                          <a:solidFill>
                            <a:srgbClr val="1A1A1A"/>
                          </a:solidFill>
                          <a:latin typeface="Arial"/>
                        </a:rPr>
                        <a:t>Deep sleep</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81" b="0" i="0">
                          <a:solidFill>
                            <a:srgbClr val="1A1A1A"/>
                          </a:solidFill>
                          <a:latin typeface="Courier New"/>
                        </a:rPr>
                        <a:t>esp_deep_sleep(us)</a:t>
                      </a:r>
                      <a:r>
                        <a:rPr sz="1348" b="0" i="0">
                          <a:solidFill>
                            <a:srgbClr val="1A1A1A"/>
                          </a:solidFill>
                          <a:latin typeface="Arial"/>
                        </a:rPr>
                        <a:t>, wake on timer, touch or pin; months on batteries</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30173">
                <a:tc>
                  <a:txBody>
                    <a:bodyPr wrap="square"/>
                    <a:lstStyle/>
                    <a:p>
                      <a:r>
                        <a:rPr sz="1348" b="0" i="0">
                          <a:solidFill>
                            <a:srgbClr val="1A1A1A"/>
                          </a:solidFill>
                          <a:latin typeface="Arial"/>
                        </a:rPr>
                        <a:t>OTA updates</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81" b="0" i="0">
                          <a:solidFill>
                            <a:srgbClr val="1A1A1A"/>
                          </a:solidFill>
                          <a:latin typeface="Courier New"/>
                        </a:rPr>
                        <a:t>ArduinoOTA</a:t>
                      </a:r>
                      <a:r>
                        <a:rPr sz="1348" b="0" i="0">
                          <a:solidFill>
                            <a:srgbClr val="1A1A1A"/>
                          </a:solidFill>
                          <a:latin typeface="Arial"/>
                        </a:rPr>
                        <a:t> or </a:t>
                      </a:r>
                      <a:r>
                        <a:rPr sz="1281" b="0" i="0">
                          <a:solidFill>
                            <a:srgbClr val="1A1A1A"/>
                          </a:solidFill>
                          <a:latin typeface="Courier New"/>
                        </a:rPr>
                        <a:t>Update.h</a:t>
                      </a:r>
                      <a:r>
                        <a:rPr sz="1348" b="0" i="0">
                          <a:solidFill>
                            <a:srgbClr val="1A1A1A"/>
                          </a:solidFill>
                          <a:latin typeface="Arial"/>
                        </a:rPr>
                        <a:t>: reflash over Wi-Fi into the spare app slot</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30173">
                <a:tc>
                  <a:txBody>
                    <a:bodyPr wrap="square"/>
                    <a:lstStyle/>
                    <a:p>
                      <a:r>
                        <a:rPr sz="1348" b="0" i="0">
                          <a:solidFill>
                            <a:srgbClr val="1A1A1A"/>
                          </a:solidFill>
                          <a:latin typeface="Arial"/>
                        </a:rPr>
                        <a:t>MQTT</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81" b="0" i="0">
                          <a:solidFill>
                            <a:srgbClr val="1A1A1A"/>
                          </a:solidFill>
                          <a:latin typeface="Courier New"/>
                        </a:rPr>
                        <a:t>PubSubClient</a:t>
                      </a:r>
                      <a:r>
                        <a:rPr sz="1348" b="0" i="0">
                          <a:solidFill>
                            <a:srgbClr val="1A1A1A"/>
                          </a:solidFill>
                          <a:latin typeface="Arial"/>
                        </a:rPr>
                        <a:t>: publish sensor data to a broker; Home Assistant picks it up</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30173">
                <a:tc>
                  <a:txBody>
                    <a:bodyPr wrap="square"/>
                    <a:lstStyle/>
                    <a:p>
                      <a:r>
                        <a:rPr sz="1348" b="0" i="0">
                          <a:solidFill>
                            <a:srgbClr val="1A1A1A"/>
                          </a:solidFill>
                          <a:latin typeface="Arial"/>
                        </a:rPr>
                        <a:t>Bluetooth</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348" b="0" i="0">
                          <a:solidFill>
                            <a:srgbClr val="1A1A1A"/>
                          </a:solidFill>
                          <a:latin typeface="Arial"/>
                        </a:rPr>
                        <a:t>BLE server in </a:t>
                      </a:r>
                      <a:r>
                        <a:rPr sz="1281" b="0" i="0">
                          <a:solidFill>
                            <a:srgbClr val="1A1A1A"/>
                          </a:solidFill>
                          <a:latin typeface="Courier New"/>
                        </a:rPr>
                        <a:t>BLEDevice.h</a:t>
                      </a:r>
                      <a:r>
                        <a:rPr sz="1348" b="0" i="0">
                          <a:solidFill>
                            <a:srgbClr val="1A1A1A"/>
                          </a:solidFill>
                          <a:latin typeface="Arial"/>
                        </a:rPr>
                        <a:t>; a phone app or Web Bluetooth talks to it</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30173">
                <a:tc>
                  <a:txBody>
                    <a:bodyPr wrap="square"/>
                    <a:lstStyle/>
                    <a:p>
                      <a:r>
                        <a:rPr sz="1348" b="0" i="0">
                          <a:solidFill>
                            <a:srgbClr val="1A1A1A"/>
                          </a:solidFill>
                          <a:latin typeface="Arial"/>
                        </a:rPr>
                        <a:t>Filesystem</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281" b="0" i="0">
                          <a:solidFill>
                            <a:srgbClr val="1A1A1A"/>
                          </a:solidFill>
                          <a:latin typeface="Courier New"/>
                        </a:rPr>
                        <a:t>LittleFS</a:t>
                      </a:r>
                      <a:r>
                        <a:rPr sz="1348" b="0" i="0">
                          <a:solidFill>
                            <a:srgbClr val="1A1A1A"/>
                          </a:solidFill>
                          <a:latin typeface="Arial"/>
                        </a:rPr>
                        <a:t>: store web pages and logs in the spiffs partition</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bl>
          </a:graphicData>
        </a:graphic>
      </p:graphicFrame>
      <p:sp>
        <p:nvSpPr>
          <p:cNvPr id="7" name="TextBox 6"/>
          <p:cNvSpPr txBox="1"/>
          <p:nvPr/>
        </p:nvSpPr>
        <p:spPr>
          <a:xfrm>
            <a:off x="7360737" y="1417320"/>
            <a:ext cx="4145158" cy="3057475"/>
          </a:xfrm>
          <a:prstGeom prst="rect">
            <a:avLst/>
          </a:prstGeom>
          <a:noFill/>
        </p:spPr>
        <p:txBody>
          <a:bodyPr wrap="square" anchor="t" lIns="0" rIns="0" tIns="18288" bIns="18288">
            <a:spAutoFit/>
          </a:bodyPr>
          <a:lstStyle/>
          <a:p>
            <a:pPr>
              <a:spcAft>
                <a:spcPts val="500"/>
              </a:spcAft>
            </a:pPr>
            <a:r>
              <a:rPr sz="1433" b="0" i="0">
                <a:solidFill>
                  <a:srgbClr val="595959"/>
                </a:solidFill>
                <a:latin typeface="Arial"/>
              </a:rPr>
              <a:t>–  </a:t>
            </a:r>
            <a:r>
              <a:rPr sz="1433" b="1" i="0">
                <a:solidFill>
                  <a:srgbClr val="1A1A1A"/>
                </a:solidFill>
                <a:latin typeface="Arial"/>
              </a:rPr>
              <a:t>PlatformIO</a:t>
            </a:r>
            <a:r>
              <a:rPr sz="1433" b="0" i="0">
                <a:solidFill>
                  <a:srgbClr val="1A1A1A"/>
                </a:solidFill>
                <a:latin typeface="Arial"/>
              </a:rPr>
              <a:t> in VS Code: same code, real project structure, library versioning, unit tests.</a:t>
            </a:r>
          </a:p>
          <a:p>
            <a:pPr>
              <a:spcAft>
                <a:spcPts val="500"/>
              </a:spcAft>
            </a:pPr>
            <a:r>
              <a:rPr sz="1433" b="0" i="0">
                <a:solidFill>
                  <a:srgbClr val="595959"/>
                </a:solidFill>
                <a:latin typeface="Arial"/>
              </a:rPr>
              <a:t>–  </a:t>
            </a:r>
            <a:r>
              <a:rPr sz="1433" b="1" i="0">
                <a:solidFill>
                  <a:srgbClr val="1A1A1A"/>
                </a:solidFill>
                <a:latin typeface="Arial"/>
              </a:rPr>
              <a:t>ESP-IDF</a:t>
            </a:r>
            <a:r>
              <a:rPr sz="1433" b="0" i="0">
                <a:solidFill>
                  <a:srgbClr val="1A1A1A"/>
                </a:solidFill>
                <a:latin typeface="Arial"/>
              </a:rPr>
              <a:t> directly: everything Arduino hides: menuconfig, components, the full FreeRTOS API. Arduino can even be a component inside an IDF project.</a:t>
            </a:r>
          </a:p>
          <a:p>
            <a:pPr>
              <a:spcAft>
                <a:spcPts val="500"/>
              </a:spcAft>
            </a:pPr>
            <a:r>
              <a:rPr sz="1433" b="0" i="0">
                <a:solidFill>
                  <a:srgbClr val="595959"/>
                </a:solidFill>
                <a:latin typeface="Arial"/>
              </a:rPr>
              <a:t>–  </a:t>
            </a:r>
            <a:r>
              <a:rPr sz="1433" b="1" i="0">
                <a:solidFill>
                  <a:srgbClr val="1A1A1A"/>
                </a:solidFill>
                <a:latin typeface="Arial"/>
              </a:rPr>
              <a:t>Other chips</a:t>
            </a:r>
            <a:r>
              <a:rPr sz="1433" b="0" i="0">
                <a:solidFill>
                  <a:srgbClr val="1A1A1A"/>
                </a:solidFill>
                <a:latin typeface="Arial"/>
              </a:rPr>
              <a:t>: the original ESP32 (cheaper, Bluetooth Classic, most tutorials), C6 (RISC-V, Wi-Fi 6, Zigbee), P4 (no radio, big CPU). Same Arduino core, different pin numbers.</a:t>
            </a:r>
          </a:p>
          <a:p>
            <a:pPr>
              <a:spcAft>
                <a:spcPts val="500"/>
              </a:spcAft>
            </a:pPr>
            <a:r>
              <a:rPr sz="1433" b="0" i="0">
                <a:solidFill>
                  <a:srgbClr val="595959"/>
                </a:solidFill>
                <a:latin typeface="Arial"/>
              </a:rPr>
              <a:t>–  </a:t>
            </a:r>
            <a:r>
              <a:rPr sz="1433" b="1" i="0">
                <a:solidFill>
                  <a:srgbClr val="1A1A1A"/>
                </a:solidFill>
                <a:latin typeface="Arial"/>
              </a:rPr>
              <a:t>Read the code you ran today.</a:t>
            </a:r>
            <a:r>
              <a:rPr sz="1433" b="0" i="0">
                <a:solidFill>
                  <a:srgbClr val="1A1A1A"/>
                </a:solidFill>
                <a:latin typeface="Arial"/>
              </a:rPr>
              <a:t> Each sketch is commented for exactly this.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0"/>
            <a:ext cx="7315200" cy="274320"/>
          </a:xfrm>
          <a:prstGeom prst="rect">
            <a:avLst/>
          </a:prstGeom>
          <a:noFill/>
        </p:spPr>
        <p:txBody>
          <a:bodyPr wrap="square" anchor="t" lIns="0" rIns="0" tIns="18288" bIns="18288">
            <a:spAutoFit/>
          </a:bodyPr>
          <a:lstStyle/>
          <a:p>
            <a:pPr algn="l"/>
            <a:r>
              <a:rPr sz="1000" b="0" i="0">
                <a:solidFill>
                  <a:srgbClr val="595959"/>
                </a:solidFill>
                <a:latin typeface="Arial"/>
              </a:rPr>
              <a:t>HackHardware · Getting started with the ESP32</a:t>
            </a:r>
          </a:p>
        </p:txBody>
      </p:sp>
      <p:sp>
        <p:nvSpPr>
          <p:cNvPr id="3" name="TextBox 2"/>
          <p:cNvSpPr txBox="1"/>
          <p:nvPr/>
        </p:nvSpPr>
        <p:spPr>
          <a:xfrm>
            <a:off x="10134295" y="6400800"/>
            <a:ext cx="1371600" cy="274320"/>
          </a:xfrm>
          <a:prstGeom prst="rect">
            <a:avLst/>
          </a:prstGeom>
          <a:noFill/>
        </p:spPr>
        <p:txBody>
          <a:bodyPr wrap="square" anchor="t" lIns="0" rIns="0" tIns="18288" bIns="18288">
            <a:spAutoFit/>
          </a:bodyPr>
          <a:lstStyle/>
          <a:p>
            <a:pPr algn="r"/>
            <a:r>
              <a:rPr sz="1000" b="0" i="0">
                <a:solidFill>
                  <a:srgbClr val="595959"/>
                </a:solidFill>
                <a:latin typeface="Arial"/>
              </a:rPr>
              <a:t>31</a:t>
            </a:r>
          </a:p>
        </p:txBody>
      </p:sp>
      <p:sp>
        <p:nvSpPr>
          <p:cNvPr id="4" name="TextBox 3"/>
          <p:cNvSpPr txBox="1"/>
          <p:nvPr/>
        </p:nvSpPr>
        <p:spPr>
          <a:xfrm>
            <a:off x="685800" y="457200"/>
            <a:ext cx="10820095" cy="822960"/>
          </a:xfrm>
          <a:prstGeom prst="rect">
            <a:avLst/>
          </a:prstGeom>
          <a:noFill/>
        </p:spPr>
        <p:txBody>
          <a:bodyPr wrap="square" anchor="b" lIns="0" rIns="0" tIns="18288" bIns="18288">
            <a:spAutoFit/>
          </a:bodyPr>
          <a:lstStyle/>
          <a:p>
            <a:pPr algn="l"/>
            <a:r>
              <a:rPr sz="3000" b="1" i="0">
                <a:solidFill>
                  <a:srgbClr val="1A1A1A"/>
                </a:solidFill>
                <a:latin typeface="Arial"/>
              </a:rPr>
              <a:t>Buying a board</a:t>
            </a:r>
          </a:p>
        </p:txBody>
      </p:sp>
      <p:cxnSp>
        <p:nvCxnSpPr>
          <p:cNvPr id="5" name="Connector 4"/>
          <p:cNvCxnSpPr/>
          <p:nvPr/>
        </p:nvCxnSpPr>
        <p:spPr>
          <a:xfrm>
            <a:off x="685800" y="1298448"/>
            <a:ext cx="10820095" cy="0"/>
          </a:xfrm>
          <a:prstGeom prst="line">
            <a:avLst/>
          </a:prstGeom>
          <a:ln w="9525">
            <a:solidFill>
              <a:srgbClr val="BFBFBF"/>
            </a:solidFill>
          </a:ln>
        </p:spPr>
      </p:cxnSp>
      <p:graphicFrame>
        <p:nvGraphicFramePr>
          <p:cNvPr id="6" name="Table 5"/>
          <p:cNvGraphicFramePr>
            <a:graphicFrameLocks noGrp="1"/>
          </p:cNvGraphicFramePr>
          <p:nvPr/>
        </p:nvGraphicFramePr>
        <p:xfrm>
          <a:off x="685800" y="1417320"/>
          <a:ext cx="10820095" cy="2429413"/>
        </p:xfrm>
        <a:graphic>
          <a:graphicData uri="http://schemas.openxmlformats.org/drawingml/2006/table">
            <a:tbl>
              <a:tblPr firstRow="1" bandRow="0">
                <a:tableStyleId>{2D5ABB26-0587-4C30-8999-92F81FD0307C}</a:tableStyleId>
              </a:tblPr>
              <a:tblGrid>
                <a:gridCol w="4328038"/>
                <a:gridCol w="6492057"/>
              </a:tblGrid>
              <a:tr h="347059">
                <a:tc>
                  <a:txBody>
                    <a:bodyPr wrap="square"/>
                    <a:lstStyle/>
                    <a:p>
                      <a:r>
                        <a:rPr sz="1461" b="1" i="0">
                          <a:solidFill>
                            <a:srgbClr val="1A1A1A"/>
                          </a:solidFill>
                          <a:latin typeface="Arial"/>
                        </a:rPr>
                        <a:t>Look for</a:t>
                      </a:r>
                    </a:p>
                  </a:txBody>
                  <a:tcPr marL="73152" marR="73152" marT="27432" marB="27432" anchor="ctr">
                    <a:solidFill>
                      <a:srgbClr val="F2F2F2"/>
                    </a:solidFill>
                    <a:lnB w="9525" cap="flat" cmpd="sng" algn="ctr">
                      <a:solidFill>
                        <a:srgbClr val="BFBFBF"/>
                      </a:solidFill>
                      <a:prstDash val="solid"/>
                    </a:lnB>
                    <a:lnT w="9525"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61" b="1" i="0">
                          <a:solidFill>
                            <a:srgbClr val="1A1A1A"/>
                          </a:solidFill>
                          <a:latin typeface="Arial"/>
                        </a:rPr>
                        <a:t>Why</a:t>
                      </a:r>
                    </a:p>
                  </a:txBody>
                  <a:tcPr marL="73152" marR="73152" marT="27432" marB="27432" anchor="ctr">
                    <a:solidFill>
                      <a:srgbClr val="F2F2F2"/>
                    </a:solidFill>
                    <a:lnB w="9525" cap="flat" cmpd="sng" algn="ctr">
                      <a:solidFill>
                        <a:srgbClr val="BFBFBF"/>
                      </a:solidFill>
                      <a:prstDash val="solid"/>
                    </a:lnB>
                    <a:lnT w="9525"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47059">
                <a:tc>
                  <a:txBody>
                    <a:bodyPr wrap="square"/>
                    <a:lstStyle/>
                    <a:p>
                      <a:r>
                        <a:rPr sz="1461" b="1" i="0">
                          <a:solidFill>
                            <a:srgbClr val="1A1A1A"/>
                          </a:solidFill>
                          <a:latin typeface="Arial"/>
                        </a:rPr>
                        <a:t>ESP32-S3-DevKitC-1</a:t>
                      </a:r>
                      <a:r>
                        <a:rPr sz="1461" b="0" i="0">
                          <a:solidFill>
                            <a:srgbClr val="1A1A1A"/>
                          </a:solidFill>
                          <a:latin typeface="Arial"/>
                        </a:rPr>
                        <a:t> (N8R8 or N16R8), what you used today</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61" b="0" i="0">
                          <a:solidFill>
                            <a:srgbClr val="1A1A1A"/>
                          </a:solidFill>
                          <a:latin typeface="Arial"/>
                        </a:rPr>
                        <a:t>Espressif's own board, both USB modes, PSRAM. About $10–15. Clones with the same name and layout exist for less; most copy the GPIO 48 revision.</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47059">
                <a:tc>
                  <a:txBody>
                    <a:bodyPr wrap="square"/>
                    <a:lstStyle/>
                    <a:p>
                      <a:r>
                        <a:rPr sz="1461" b="0" i="0">
                          <a:solidFill>
                            <a:srgbClr val="1A1A1A"/>
                          </a:solidFill>
                          <a:latin typeface="Arial"/>
                        </a:rPr>
                        <a:t>"ESP32 DevKit V1" / "ESP32-WROOM-32" (the original chip)</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61" b="0" i="0">
                          <a:solidFill>
                            <a:srgbClr val="1A1A1A"/>
                          </a:solidFill>
                          <a:latin typeface="Arial"/>
                        </a:rPr>
                        <a:t>The board most tutorials are written for. $4–8. Plain LED on GPIO 2, Bluetooth Classic, no native USB. Today's code runs on it with three lines changed in </a:t>
                      </a:r>
                      <a:r>
                        <a:rPr sz="1388" b="0" i="0">
                          <a:solidFill>
                            <a:srgbClr val="1A1A1A"/>
                          </a:solidFill>
                          <a:latin typeface="Courier New"/>
                        </a:rPr>
                        <a:t>config.h</a:t>
                      </a:r>
                      <a:r>
                        <a:rPr sz="1461" b="0" i="0">
                          <a:solidFill>
                            <a:srgbClr val="1A1A1A"/>
                          </a:solidFill>
                          <a:latin typeface="Arial"/>
                        </a:rPr>
                        <a:t>.</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47059">
                <a:tc>
                  <a:txBody>
                    <a:bodyPr wrap="square"/>
                    <a:lstStyle/>
                    <a:p>
                      <a:r>
                        <a:rPr sz="1461" b="1" i="0">
                          <a:solidFill>
                            <a:srgbClr val="1A1A1A"/>
                          </a:solidFill>
                          <a:latin typeface="Arial"/>
                        </a:rPr>
                        <a:t>ESP32-C3 / C6</a:t>
                      </a:r>
                      <a:r>
                        <a:rPr sz="1461" b="0" i="0">
                          <a:solidFill>
                            <a:srgbClr val="1A1A1A"/>
                          </a:solidFill>
                          <a:latin typeface="Arial"/>
                        </a:rPr>
                        <a:t> boards</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61" b="0" i="0">
                          <a:solidFill>
                            <a:srgbClr val="1A1A1A"/>
                          </a:solidFill>
                          <a:latin typeface="Arial"/>
                        </a:rPr>
                        <a:t>Smallest and cheapest ($2–5), RISC-V, single core. Fine for sensors; slower for web serving.</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47059">
                <a:tc>
                  <a:txBody>
                    <a:bodyPr wrap="square"/>
                    <a:lstStyle/>
                    <a:p>
                      <a:r>
                        <a:rPr sz="1461" b="0" i="0">
                          <a:solidFill>
                            <a:srgbClr val="1A1A1A"/>
                          </a:solidFill>
                          <a:latin typeface="Arial"/>
                        </a:rPr>
                        <a:t>Serial chip: CP2102 or CH340</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61" b="0" i="0">
                          <a:solidFill>
                            <a:srgbClr val="1A1A1A"/>
                          </a:solidFill>
                          <a:latin typeface="Arial"/>
                        </a:rPr>
                        <a:t>Both fine. CP2102 (what your board has) has fewer driver problems on Windows.</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47059">
                <a:tc>
                  <a:txBody>
                    <a:bodyPr wrap="square"/>
                    <a:lstStyle/>
                    <a:p>
                      <a:r>
                        <a:rPr sz="1461" b="0" i="0">
                          <a:solidFill>
                            <a:srgbClr val="1A1A1A"/>
                          </a:solidFill>
                          <a:latin typeface="Arial"/>
                        </a:rPr>
                        <a:t>USB-C vs micro-USB</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61" b="0" i="0">
                          <a:solidFill>
                            <a:srgbClr val="1A1A1A"/>
                          </a:solidFill>
                          <a:latin typeface="Arial"/>
                        </a:rPr>
                        <a:t>Check before buying a cable. Either way, a </a:t>
                      </a:r>
                      <a:r>
                        <a:rPr sz="1461" b="1" i="0">
                          <a:solidFill>
                            <a:srgbClr val="1A1A1A"/>
                          </a:solidFill>
                          <a:latin typeface="Arial"/>
                        </a:rPr>
                        <a:t>data</a:t>
                      </a:r>
                      <a:r>
                        <a:rPr sz="1461" b="0" i="0">
                          <a:solidFill>
                            <a:srgbClr val="1A1A1A"/>
                          </a:solidFill>
                          <a:latin typeface="Arial"/>
                        </a:rPr>
                        <a:t> cable.</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r h="347059">
                <a:tc>
                  <a:txBody>
                    <a:bodyPr wrap="square"/>
                    <a:lstStyle/>
                    <a:p>
                      <a:r>
                        <a:rPr sz="1461" b="0" i="0">
                          <a:solidFill>
                            <a:srgbClr val="1A1A1A"/>
                          </a:solidFill>
                          <a:latin typeface="Arial"/>
                        </a:rPr>
                        <a:t>Also useful</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c>
                  <a:txBody>
                    <a:bodyPr wrap="square"/>
                    <a:lstStyle/>
                    <a:p>
                      <a:r>
                        <a:rPr sz="1461" b="0" i="0">
                          <a:solidFill>
                            <a:srgbClr val="1A1A1A"/>
                          </a:solidFill>
                          <a:latin typeface="Arial"/>
                        </a:rPr>
                        <a:t>Breadboard, jumper wires, a few LEDs + 220 Ω resistors, one I²C sensor (BME280, MPU6050), a short WS2812 strip (same </a:t>
                      </a:r>
                      <a:r>
                        <a:rPr sz="1388" b="0" i="0">
                          <a:solidFill>
                            <a:srgbClr val="1A1A1A"/>
                          </a:solidFill>
                          <a:latin typeface="Courier New"/>
                        </a:rPr>
                        <a:t>rgbLedWrite</a:t>
                      </a:r>
                      <a:r>
                        <a:rPr sz="1461" b="0" i="0">
                          <a:solidFill>
                            <a:srgbClr val="1A1A1A"/>
                          </a:solidFill>
                          <a:latin typeface="Arial"/>
                        </a:rPr>
                        <a:t> idea), a USB power bank.</a:t>
                      </a:r>
                    </a:p>
                  </a:txBody>
                  <a:tcPr marL="73152" marR="73152" marT="27432" marB="27432" anchor="ctr">
                    <a:solidFill>
                      <a:srgbClr val="FFFFFF"/>
                    </a:solidFill>
                    <a:lnB w="9525" cap="flat" cmpd="sng" algn="ctr">
                      <a:solidFill>
                        <a:srgbClr val="BFBFBF"/>
                      </a:solidFill>
                      <a:prstDash val="solid"/>
                    </a:lnB>
                    <a:lnT w="0" cap="flat" cmpd="sng" algn="ctr">
                      <a:solidFill>
                        <a:srgbClr val="BFBFBF"/>
                      </a:solidFill>
                      <a:prstDash val="solid"/>
                    </a:lnT>
                    <a:lnL w="0" cap="flat" cmpd="sng" algn="ctr">
                      <a:solidFill>
                        <a:srgbClr val="FFFFFF"/>
                      </a:solidFill>
                      <a:prstDash val="solid"/>
                    </a:lnL>
                    <a:lnR w="0" cap="flat" cmpd="sng" algn="ctr">
                      <a:solidFill>
                        <a:srgbClr val="FFFFFF"/>
                      </a:solidFill>
                      <a:prstDash val="solid"/>
                    </a:lnR>
                  </a:tcPr>
                </a:tc>
              </a:tr>
            </a:tbl>
          </a:graphicData>
        </a:graphic>
      </p:graphicFrame>
      <p:sp>
        <p:nvSpPr>
          <p:cNvPr id="7" name="TextBox 6"/>
          <p:cNvSpPr txBox="1"/>
          <p:nvPr/>
        </p:nvSpPr>
        <p:spPr>
          <a:xfrm>
            <a:off x="685800" y="5562927"/>
            <a:ext cx="10820095" cy="310483"/>
          </a:xfrm>
          <a:prstGeom prst="rect">
            <a:avLst/>
          </a:prstGeom>
          <a:noFill/>
        </p:spPr>
        <p:txBody>
          <a:bodyPr wrap="square" anchor="t" lIns="0" rIns="0" tIns="18288" bIns="18288">
            <a:spAutoFit/>
          </a:bodyPr>
          <a:lstStyle/>
          <a:p>
            <a:r>
              <a:rPr sz="1461" b="0" i="0">
                <a:solidFill>
                  <a:srgbClr val="595959"/>
                </a:solidFill>
                <a:latin typeface="Arial"/>
              </a:rPr>
              <a:t>Sold on every large marketplace and at electronics shops. The club can organise a group order; ask at the end.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0"/>
            <a:ext cx="7315200" cy="274320"/>
          </a:xfrm>
          <a:prstGeom prst="rect">
            <a:avLst/>
          </a:prstGeom>
          <a:noFill/>
        </p:spPr>
        <p:txBody>
          <a:bodyPr wrap="square" anchor="t" lIns="0" rIns="0" tIns="18288" bIns="18288">
            <a:spAutoFit/>
          </a:bodyPr>
          <a:lstStyle/>
          <a:p>
            <a:pPr algn="l"/>
            <a:r>
              <a:rPr sz="1000" b="0" i="0">
                <a:solidFill>
                  <a:srgbClr val="595959"/>
                </a:solidFill>
                <a:latin typeface="Arial"/>
              </a:rPr>
              <a:t>HackHardware · Getting started with the ESP32</a:t>
            </a:r>
          </a:p>
        </p:txBody>
      </p:sp>
      <p:sp>
        <p:nvSpPr>
          <p:cNvPr id="3" name="TextBox 2"/>
          <p:cNvSpPr txBox="1"/>
          <p:nvPr/>
        </p:nvSpPr>
        <p:spPr>
          <a:xfrm>
            <a:off x="10134295" y="6400800"/>
            <a:ext cx="1371600" cy="274320"/>
          </a:xfrm>
          <a:prstGeom prst="rect">
            <a:avLst/>
          </a:prstGeom>
          <a:noFill/>
        </p:spPr>
        <p:txBody>
          <a:bodyPr wrap="square" anchor="t" lIns="0" rIns="0" tIns="18288" bIns="18288">
            <a:spAutoFit/>
          </a:bodyPr>
          <a:lstStyle/>
          <a:p>
            <a:pPr algn="r"/>
            <a:r>
              <a:rPr sz="1000" b="0" i="0">
                <a:solidFill>
                  <a:srgbClr val="595959"/>
                </a:solidFill>
                <a:latin typeface="Arial"/>
              </a:rPr>
              <a:t>32</a:t>
            </a:r>
          </a:p>
        </p:txBody>
      </p:sp>
      <p:sp>
        <p:nvSpPr>
          <p:cNvPr id="4" name="TextBox 3"/>
          <p:cNvSpPr txBox="1"/>
          <p:nvPr/>
        </p:nvSpPr>
        <p:spPr>
          <a:xfrm>
            <a:off x="685800" y="457200"/>
            <a:ext cx="10820095" cy="822960"/>
          </a:xfrm>
          <a:prstGeom prst="rect">
            <a:avLst/>
          </a:prstGeom>
          <a:noFill/>
        </p:spPr>
        <p:txBody>
          <a:bodyPr wrap="square" anchor="b" lIns="0" rIns="0" tIns="18288" bIns="18288">
            <a:spAutoFit/>
          </a:bodyPr>
          <a:lstStyle/>
          <a:p>
            <a:pPr algn="l"/>
            <a:r>
              <a:rPr sz="3000" b="1" i="0">
                <a:solidFill>
                  <a:srgbClr val="1A1A1A"/>
                </a:solidFill>
                <a:latin typeface="Arial"/>
              </a:rPr>
              <a:t>Wrap-up</a:t>
            </a:r>
          </a:p>
        </p:txBody>
      </p:sp>
      <p:cxnSp>
        <p:nvCxnSpPr>
          <p:cNvPr id="5" name="Connector 4"/>
          <p:cNvCxnSpPr/>
          <p:nvPr/>
        </p:nvCxnSpPr>
        <p:spPr>
          <a:xfrm>
            <a:off x="685800" y="1298448"/>
            <a:ext cx="10820095" cy="0"/>
          </a:xfrm>
          <a:prstGeom prst="line">
            <a:avLst/>
          </a:prstGeom>
          <a:ln w="9525">
            <a:solidFill>
              <a:srgbClr val="BFBFBF"/>
            </a:solidFill>
          </a:ln>
        </p:spPr>
      </p:cxnSp>
      <p:sp>
        <p:nvSpPr>
          <p:cNvPr id="6" name="TextBox 5"/>
          <p:cNvSpPr txBox="1"/>
          <p:nvPr/>
        </p:nvSpPr>
        <p:spPr>
          <a:xfrm>
            <a:off x="685800" y="1453896"/>
            <a:ext cx="5227167" cy="348006"/>
          </a:xfrm>
          <a:prstGeom prst="rect">
            <a:avLst/>
          </a:prstGeom>
          <a:noFill/>
        </p:spPr>
        <p:txBody>
          <a:bodyPr wrap="square" anchor="t" lIns="0" rIns="0" tIns="18288" bIns="18288">
            <a:spAutoFit/>
          </a:bodyPr>
          <a:lstStyle/>
          <a:p>
            <a:r>
              <a:rPr sz="1590" b="1" i="0">
                <a:solidFill>
                  <a:srgbClr val="1A1A1A"/>
                </a:solidFill>
                <a:latin typeface="Arial"/>
              </a:rPr>
              <a:t>Show what you built</a:t>
            </a:r>
          </a:p>
        </p:txBody>
      </p:sp>
      <p:sp>
        <p:nvSpPr>
          <p:cNvPr id="7" name="TextBox 6"/>
          <p:cNvSpPr txBox="1"/>
          <p:nvPr/>
        </p:nvSpPr>
        <p:spPr>
          <a:xfrm>
            <a:off x="685800" y="1838478"/>
            <a:ext cx="5227167" cy="1108560"/>
          </a:xfrm>
          <a:prstGeom prst="rect">
            <a:avLst/>
          </a:prstGeom>
          <a:noFill/>
        </p:spPr>
        <p:txBody>
          <a:bodyPr wrap="square" anchor="t" lIns="0" rIns="0" tIns="18288" bIns="18288">
            <a:spAutoFit/>
          </a:bodyPr>
          <a:lstStyle/>
          <a:p>
            <a:pPr>
              <a:spcAft>
                <a:spcPts val="500"/>
              </a:spcAft>
            </a:pPr>
            <a:r>
              <a:rPr sz="1590" b="0" i="0">
                <a:solidFill>
                  <a:srgbClr val="595959"/>
                </a:solidFill>
                <a:latin typeface="Arial"/>
              </a:rPr>
              <a:t>–  </a:t>
            </a:r>
            <a:r>
              <a:rPr sz="1590" b="0" i="0">
                <a:solidFill>
                  <a:srgbClr val="1A1A1A"/>
                </a:solidFill>
                <a:latin typeface="Arial"/>
              </a:rPr>
              <a:t>Whose page has the most fields? Whose board list is longest?</a:t>
            </a:r>
          </a:p>
          <a:p>
            <a:pPr>
              <a:spcAft>
                <a:spcPts val="500"/>
              </a:spcAft>
            </a:pPr>
            <a:r>
              <a:rPr sz="1590" b="0" i="0">
                <a:solidFill>
                  <a:srgbClr val="595959"/>
                </a:solidFill>
                <a:latin typeface="Arial"/>
              </a:rPr>
              <a:t>–  </a:t>
            </a:r>
            <a:r>
              <a:rPr sz="1590" b="0" i="0">
                <a:solidFill>
                  <a:srgbClr val="1A1A1A"/>
                </a:solidFill>
                <a:latin typeface="Arial"/>
              </a:rPr>
              <a:t>What broke, and what fixed it? Those are the useful stories.</a:t>
            </a:r>
          </a:p>
        </p:txBody>
      </p:sp>
      <p:sp>
        <p:nvSpPr>
          <p:cNvPr id="8" name="TextBox 7"/>
          <p:cNvSpPr txBox="1"/>
          <p:nvPr/>
        </p:nvSpPr>
        <p:spPr>
          <a:xfrm>
            <a:off x="685800" y="3312798"/>
            <a:ext cx="5227167" cy="348006"/>
          </a:xfrm>
          <a:prstGeom prst="rect">
            <a:avLst/>
          </a:prstGeom>
          <a:noFill/>
        </p:spPr>
        <p:txBody>
          <a:bodyPr wrap="square" anchor="t" lIns="0" rIns="0" tIns="18288" bIns="18288">
            <a:spAutoFit/>
          </a:bodyPr>
          <a:lstStyle/>
          <a:p>
            <a:r>
              <a:rPr sz="1590" b="1" i="0">
                <a:solidFill>
                  <a:srgbClr val="1A1A1A"/>
                </a:solidFill>
                <a:latin typeface="Arial"/>
              </a:rPr>
              <a:t>What you now know</a:t>
            </a:r>
          </a:p>
        </p:txBody>
      </p:sp>
      <p:sp>
        <p:nvSpPr>
          <p:cNvPr id="9" name="TextBox 8"/>
          <p:cNvSpPr txBox="1"/>
          <p:nvPr/>
        </p:nvSpPr>
        <p:spPr>
          <a:xfrm>
            <a:off x="685800" y="3697381"/>
            <a:ext cx="5227167" cy="2519407"/>
          </a:xfrm>
          <a:prstGeom prst="rect">
            <a:avLst/>
          </a:prstGeom>
          <a:noFill/>
        </p:spPr>
        <p:txBody>
          <a:bodyPr wrap="square" anchor="t" lIns="0" rIns="0" tIns="18288" bIns="18288">
            <a:spAutoFit/>
          </a:bodyPr>
          <a:lstStyle/>
          <a:p>
            <a:pPr>
              <a:spcAft>
                <a:spcPts val="500"/>
              </a:spcAft>
            </a:pPr>
            <a:r>
              <a:rPr sz="1590" b="0" i="0">
                <a:solidFill>
                  <a:srgbClr val="595959"/>
                </a:solidFill>
                <a:latin typeface="Arial"/>
              </a:rPr>
              <a:t>–  </a:t>
            </a:r>
            <a:r>
              <a:rPr sz="1590" b="0" i="0">
                <a:solidFill>
                  <a:srgbClr val="1A1A1A"/>
                </a:solidFill>
                <a:latin typeface="Arial"/>
              </a:rPr>
              <a:t>How code gets onto the chip, and what to do when it does not</a:t>
            </a:r>
          </a:p>
          <a:p>
            <a:pPr>
              <a:spcAft>
                <a:spcPts val="500"/>
              </a:spcAft>
            </a:pPr>
            <a:r>
              <a:rPr sz="1590" b="0" i="0">
                <a:solidFill>
                  <a:srgbClr val="595959"/>
                </a:solidFill>
                <a:latin typeface="Arial"/>
              </a:rPr>
              <a:t>–  </a:t>
            </a:r>
            <a:r>
              <a:rPr sz="1590" b="0" i="0">
                <a:solidFill>
                  <a:srgbClr val="1A1A1A"/>
                </a:solidFill>
                <a:latin typeface="Arial"/>
              </a:rPr>
              <a:t>Which pins to use and which to avoid, and which USB connector</a:t>
            </a:r>
          </a:p>
          <a:p>
            <a:pPr>
              <a:spcAft>
                <a:spcPts val="500"/>
              </a:spcAft>
            </a:pPr>
            <a:r>
              <a:rPr sz="1590" b="0" i="0">
                <a:solidFill>
                  <a:srgbClr val="595959"/>
                </a:solidFill>
                <a:latin typeface="Arial"/>
              </a:rPr>
              <a:t>–  </a:t>
            </a:r>
            <a:r>
              <a:rPr sz="1590" b="0" i="0">
                <a:solidFill>
                  <a:srgbClr val="1A1A1A"/>
                </a:solidFill>
                <a:latin typeface="Arial"/>
              </a:rPr>
              <a:t>Outputs, inputs, debouncing, timing without </a:t>
            </a:r>
            <a:r>
              <a:rPr sz="1510" b="0" i="0">
                <a:solidFill>
                  <a:srgbClr val="1A1A1A"/>
                </a:solidFill>
                <a:latin typeface="Courier New"/>
              </a:rPr>
              <a:t>delay()</a:t>
            </a:r>
          </a:p>
          <a:p>
            <a:pPr>
              <a:spcAft>
                <a:spcPts val="500"/>
              </a:spcAft>
            </a:pPr>
            <a:r>
              <a:rPr sz="1590" b="0" i="0">
                <a:solidFill>
                  <a:srgbClr val="595959"/>
                </a:solidFill>
                <a:latin typeface="Arial"/>
              </a:rPr>
              <a:t>–  </a:t>
            </a:r>
            <a:r>
              <a:rPr sz="1590" b="0" i="0">
                <a:solidFill>
                  <a:srgbClr val="1A1A1A"/>
                </a:solidFill>
                <a:latin typeface="Arial"/>
              </a:rPr>
              <a:t>Wi-Fi as station and as access point</a:t>
            </a:r>
          </a:p>
          <a:p>
            <a:pPr>
              <a:spcAft>
                <a:spcPts val="500"/>
              </a:spcAft>
            </a:pPr>
            <a:r>
              <a:rPr sz="1590" b="0" i="0">
                <a:solidFill>
                  <a:srgbClr val="595959"/>
                </a:solidFill>
                <a:latin typeface="Arial"/>
              </a:rPr>
              <a:t>–  </a:t>
            </a:r>
            <a:r>
              <a:rPr sz="1590" b="0" i="0">
                <a:solidFill>
                  <a:srgbClr val="1A1A1A"/>
                </a:solidFill>
                <a:latin typeface="Arial"/>
              </a:rPr>
              <a:t>Serving a page and a JSON API from a microcontroller</a:t>
            </a:r>
          </a:p>
          <a:p>
            <a:pPr>
              <a:spcAft>
                <a:spcPts val="500"/>
              </a:spcAft>
            </a:pPr>
            <a:r>
              <a:rPr sz="1590" b="0" i="0">
                <a:solidFill>
                  <a:srgbClr val="595959"/>
                </a:solidFill>
                <a:latin typeface="Arial"/>
              </a:rPr>
              <a:t>–  </a:t>
            </a:r>
            <a:r>
              <a:rPr sz="1590" b="0" i="0">
                <a:solidFill>
                  <a:srgbClr val="1A1A1A"/>
                </a:solidFill>
                <a:latin typeface="Arial"/>
              </a:rPr>
              <a:t>Sending packets directly between boards</a:t>
            </a:r>
          </a:p>
        </p:txBody>
      </p:sp>
      <p:sp>
        <p:nvSpPr>
          <p:cNvPr id="10" name="TextBox 9"/>
          <p:cNvSpPr txBox="1"/>
          <p:nvPr/>
        </p:nvSpPr>
        <p:spPr>
          <a:xfrm>
            <a:off x="6278727" y="1453896"/>
            <a:ext cx="5227167" cy="348006"/>
          </a:xfrm>
          <a:prstGeom prst="rect">
            <a:avLst/>
          </a:prstGeom>
          <a:noFill/>
        </p:spPr>
        <p:txBody>
          <a:bodyPr wrap="square" anchor="t" lIns="0" rIns="0" tIns="18288" bIns="18288">
            <a:spAutoFit/>
          </a:bodyPr>
          <a:lstStyle/>
          <a:p>
            <a:r>
              <a:rPr sz="1590" b="1" i="0">
                <a:solidFill>
                  <a:srgbClr val="1A1A1A"/>
                </a:solidFill>
                <a:latin typeface="Arial"/>
              </a:rPr>
              <a:t>Links</a:t>
            </a:r>
          </a:p>
        </p:txBody>
      </p:sp>
      <p:sp>
        <p:nvSpPr>
          <p:cNvPr id="11" name="TextBox 10"/>
          <p:cNvSpPr txBox="1"/>
          <p:nvPr/>
        </p:nvSpPr>
        <p:spPr>
          <a:xfrm>
            <a:off x="6278727" y="1838478"/>
            <a:ext cx="5227167" cy="1456566"/>
          </a:xfrm>
          <a:prstGeom prst="rect">
            <a:avLst/>
          </a:prstGeom>
          <a:noFill/>
        </p:spPr>
        <p:txBody>
          <a:bodyPr wrap="square" anchor="t" lIns="0" rIns="0" tIns="18288" bIns="18288">
            <a:spAutoFit/>
          </a:bodyPr>
          <a:lstStyle/>
          <a:p>
            <a:pPr>
              <a:spcAft>
                <a:spcPts val="500"/>
              </a:spcAft>
            </a:pPr>
            <a:r>
              <a:rPr sz="1590" b="0" i="0">
                <a:solidFill>
                  <a:srgbClr val="595959"/>
                </a:solidFill>
                <a:latin typeface="Arial"/>
              </a:rPr>
              <a:t>–  </a:t>
            </a:r>
            <a:r>
              <a:rPr sz="1590" b="0" i="0">
                <a:solidFill>
                  <a:srgbClr val="1A1A1A"/>
                </a:solidFill>
                <a:latin typeface="Arial"/>
              </a:rPr>
              <a:t>Code, setup guide, troubleshooting, challenges: github.com/galileoisonline/esp32-workshop</a:t>
            </a:r>
          </a:p>
          <a:p>
            <a:pPr>
              <a:spcAft>
                <a:spcPts val="500"/>
              </a:spcAft>
            </a:pPr>
            <a:r>
              <a:rPr sz="1590" b="0" i="0">
                <a:solidFill>
                  <a:srgbClr val="595959"/>
                </a:solidFill>
                <a:latin typeface="Arial"/>
              </a:rPr>
              <a:t>–  </a:t>
            </a:r>
            <a:r>
              <a:rPr sz="1590" b="0" i="0">
                <a:solidFill>
                  <a:srgbClr val="1A1A1A"/>
                </a:solidFill>
                <a:latin typeface="Arial"/>
              </a:rPr>
              <a:t>HackHardware: [CLUB DISCORD/LINK]</a:t>
            </a:r>
          </a:p>
          <a:p>
            <a:pPr>
              <a:spcAft>
                <a:spcPts val="500"/>
              </a:spcAft>
            </a:pPr>
            <a:r>
              <a:rPr sz="1590" b="0" i="0">
                <a:solidFill>
                  <a:srgbClr val="595959"/>
                </a:solidFill>
                <a:latin typeface="Arial"/>
              </a:rPr>
              <a:t>–  </a:t>
            </a:r>
            <a:r>
              <a:rPr sz="1590" b="0" i="0">
                <a:solidFill>
                  <a:srgbClr val="1A1A1A"/>
                </a:solidFill>
                <a:latin typeface="Arial"/>
              </a:rPr>
              <a:t>Feedback (one minute): [FEEDBACK LINK]</a:t>
            </a:r>
          </a:p>
          <a:p>
            <a:pPr>
              <a:spcAft>
                <a:spcPts val="500"/>
              </a:spcAft>
            </a:pPr>
            <a:r>
              <a:rPr sz="1590" b="0" i="0">
                <a:solidFill>
                  <a:srgbClr val="595959"/>
                </a:solidFill>
                <a:latin typeface="Arial"/>
              </a:rPr>
              <a:t>–  </a:t>
            </a:r>
            <a:r>
              <a:rPr sz="1590" b="0" i="0">
                <a:solidFill>
                  <a:srgbClr val="1A1A1A"/>
                </a:solidFill>
                <a:latin typeface="Arial"/>
              </a:rPr>
              <a:t>Next session: [DATE / TOPIC]</a:t>
            </a:r>
          </a:p>
        </p:txBody>
      </p:sp>
      <p:sp>
        <p:nvSpPr>
          <p:cNvPr id="12" name="TextBox 11"/>
          <p:cNvSpPr txBox="1"/>
          <p:nvPr/>
        </p:nvSpPr>
        <p:spPr>
          <a:xfrm>
            <a:off x="6278727" y="3487069"/>
            <a:ext cx="5227167" cy="541521"/>
          </a:xfrm>
          <a:prstGeom prst="rect">
            <a:avLst/>
          </a:prstGeom>
          <a:noFill/>
        </p:spPr>
        <p:txBody>
          <a:bodyPr wrap="square" anchor="t" lIns="0" rIns="0" tIns="18288" bIns="18288">
            <a:spAutoFit/>
          </a:bodyPr>
          <a:lstStyle/>
          <a:p>
            <a:r>
              <a:rPr sz="1501" b="0" i="0">
                <a:solidFill>
                  <a:srgbClr val="595959"/>
                </a:solidFill>
                <a:latin typeface="Arial"/>
              </a:rPr>
              <a:t>Keep the board if we said you could. It is yours; the code is on the repo.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